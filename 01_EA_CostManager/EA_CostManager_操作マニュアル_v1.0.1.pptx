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38" d="100"/>
          <a:sy n="138"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51435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411480"/>
            <a:ext cx="1828800" cy="292608"/>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411480"/>
            <a:ext cx="1828800" cy="292608"/>
          </a:xfrm>
          <a:prstGeom prst="rect">
            <a:avLst/>
          </a:prstGeom>
          <a:noFill/>
        </p:spPr>
        <p:txBody>
          <a:bodyPr wrap="square" lIns="45720" tIns="18288" rIns="45720" bIns="18288" anchor="ctr">
            <a:spAutoFit/>
          </a:bodyPr>
          <a:lstStyle/>
          <a:p>
            <a:pPr algn="ctr">
              <a:lnSpc>
                <a:spcPct val="115000"/>
              </a:lnSpc>
            </a:pPr>
            <a:r>
              <a:rPr sz="1200" b="1">
                <a:solidFill>
                  <a:srgbClr val="1E3A8A"/>
                </a:solidFill>
                <a:latin typeface="Yu Gothic UI"/>
              </a:rPr>
              <a:t>EABASE Series</a:t>
            </a:r>
          </a:p>
        </p:txBody>
      </p:sp>
      <p:sp>
        <p:nvSpPr>
          <p:cNvPr id="5" name="TextBox 4"/>
          <p:cNvSpPr txBox="1"/>
          <p:nvPr/>
        </p:nvSpPr>
        <p:spPr>
          <a:xfrm>
            <a:off x="548640" y="1097280"/>
            <a:ext cx="8046720" cy="777240"/>
          </a:xfrm>
          <a:prstGeom prst="rect">
            <a:avLst/>
          </a:prstGeom>
          <a:noFill/>
        </p:spPr>
        <p:txBody>
          <a:bodyPr wrap="square" lIns="45720" tIns="18288" rIns="45720" bIns="18288" anchor="t">
            <a:spAutoFit/>
          </a:bodyPr>
          <a:lstStyle/>
          <a:p>
            <a:pPr algn="l">
              <a:lnSpc>
                <a:spcPct val="115000"/>
              </a:lnSpc>
            </a:pPr>
            <a:r>
              <a:rPr sz="4400" b="1">
                <a:solidFill>
                  <a:srgbClr val="FFFFFF"/>
                </a:solidFill>
                <a:latin typeface="Yu Gothic UI"/>
              </a:rPr>
              <a:t>EA_CostManager</a:t>
            </a:r>
          </a:p>
        </p:txBody>
      </p:sp>
      <p:sp>
        <p:nvSpPr>
          <p:cNvPr id="6" name="TextBox 5"/>
          <p:cNvSpPr txBox="1"/>
          <p:nvPr/>
        </p:nvSpPr>
        <p:spPr>
          <a:xfrm>
            <a:off x="548640" y="1874519"/>
            <a:ext cx="8046720" cy="502920"/>
          </a:xfrm>
          <a:prstGeom prst="rect">
            <a:avLst/>
          </a:prstGeom>
          <a:noFill/>
        </p:spPr>
        <p:txBody>
          <a:bodyPr wrap="square" lIns="45720" tIns="18288" rIns="45720" bIns="18288" anchor="t">
            <a:spAutoFit/>
          </a:bodyPr>
          <a:lstStyle/>
          <a:p>
            <a:pPr algn="l">
              <a:lnSpc>
                <a:spcPct val="115000"/>
              </a:lnSpc>
            </a:pPr>
            <a:r>
              <a:rPr sz="2600" b="1">
                <a:solidFill>
                  <a:srgbClr val="CADCFC"/>
                </a:solidFill>
                <a:latin typeface="Yu Gothic UI"/>
              </a:rPr>
              <a:t>操作マニュアル</a:t>
            </a:r>
          </a:p>
        </p:txBody>
      </p:sp>
      <p:sp>
        <p:nvSpPr>
          <p:cNvPr id="7" name="TextBox 6"/>
          <p:cNvSpPr txBox="1"/>
          <p:nvPr/>
        </p:nvSpPr>
        <p:spPr>
          <a:xfrm>
            <a:off x="548640" y="2468880"/>
            <a:ext cx="8046720" cy="365760"/>
          </a:xfrm>
          <a:prstGeom prst="rect">
            <a:avLst/>
          </a:prstGeom>
          <a:noFill/>
        </p:spPr>
        <p:txBody>
          <a:bodyPr wrap="square" lIns="45720" tIns="18288" rIns="45720" bIns="18288" anchor="t">
            <a:spAutoFit/>
          </a:bodyPr>
          <a:lstStyle/>
          <a:p>
            <a:pPr algn="l">
              <a:lnSpc>
                <a:spcPct val="115000"/>
              </a:lnSpc>
            </a:pPr>
            <a:r>
              <a:rPr sz="1800" b="1">
                <a:solidFill>
                  <a:srgbClr val="FFFFFF"/>
                </a:solidFill>
                <a:latin typeface="Yu Gothic UI"/>
              </a:rPr>
              <a:t>v1.0.1</a:t>
            </a:r>
            <a:r>
              <a:rPr sz="1800" b="0">
                <a:solidFill>
                  <a:srgbClr val="CADCFC"/>
                </a:solidFill>
                <a:latin typeface="Yu Gothic UI"/>
              </a:rPr>
              <a:t>　/　</a:t>
            </a:r>
            <a:r>
              <a:rPr sz="1400" b="0">
                <a:solidFill>
                  <a:srgbClr val="CADCFC"/>
                </a:solidFill>
                <a:latin typeface="Yu Gothic UI"/>
              </a:rPr>
              <a:t>2026年4月</a:t>
            </a:r>
          </a:p>
        </p:txBody>
      </p:sp>
      <p:sp>
        <p:nvSpPr>
          <p:cNvPr id="8" name="Rounded Rectangle 7"/>
          <p:cNvSpPr/>
          <p:nvPr/>
        </p:nvSpPr>
        <p:spPr>
          <a:xfrm>
            <a:off x="548640" y="3200400"/>
            <a:ext cx="2423160" cy="310896"/>
          </a:xfrm>
          <a:prstGeom prst="roundRect">
            <a:avLst>
              <a:gd name="adj" fmla="val 8000"/>
            </a:avLst>
          </a:prstGeom>
          <a:solidFill>
            <a:srgbClr val="3457D5"/>
          </a:solidFill>
          <a:ln w="9525">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3200400"/>
            <a:ext cx="2423160" cy="310896"/>
          </a:xfrm>
          <a:prstGeom prst="rect">
            <a:avLst/>
          </a:prstGeom>
          <a:noFill/>
        </p:spPr>
        <p:txBody>
          <a:bodyPr wrap="square" lIns="45720" tIns="18288" rIns="45720" bIns="18288" anchor="ctr">
            <a:spAutoFit/>
          </a:bodyPr>
          <a:lstStyle/>
          <a:p>
            <a:pPr algn="ctr">
              <a:lnSpc>
                <a:spcPct val="115000"/>
              </a:lnSpc>
            </a:pPr>
            <a:r>
              <a:rPr sz="1000" b="1">
                <a:solidFill>
                  <a:srgbClr val="CADCFC"/>
                </a:solidFill>
                <a:latin typeface="Yu Gothic UI"/>
              </a:rPr>
              <a:t>✓ 日報Excel取込</a:t>
            </a:r>
          </a:p>
        </p:txBody>
      </p:sp>
      <p:sp>
        <p:nvSpPr>
          <p:cNvPr id="10" name="Rounded Rectangle 9"/>
          <p:cNvSpPr/>
          <p:nvPr/>
        </p:nvSpPr>
        <p:spPr>
          <a:xfrm>
            <a:off x="3063240" y="3200400"/>
            <a:ext cx="2423160" cy="310896"/>
          </a:xfrm>
          <a:prstGeom prst="roundRect">
            <a:avLst>
              <a:gd name="adj" fmla="val 8000"/>
            </a:avLst>
          </a:prstGeom>
          <a:solidFill>
            <a:srgbClr val="3457D5"/>
          </a:solidFill>
          <a:ln w="9525">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063240" y="3200400"/>
            <a:ext cx="2423160" cy="310896"/>
          </a:xfrm>
          <a:prstGeom prst="rect">
            <a:avLst/>
          </a:prstGeom>
          <a:noFill/>
        </p:spPr>
        <p:txBody>
          <a:bodyPr wrap="square" lIns="45720" tIns="18288" rIns="45720" bIns="18288" anchor="ctr">
            <a:spAutoFit/>
          </a:bodyPr>
          <a:lstStyle/>
          <a:p>
            <a:pPr algn="ctr">
              <a:lnSpc>
                <a:spcPct val="115000"/>
              </a:lnSpc>
            </a:pPr>
            <a:r>
              <a:rPr sz="1000" b="1">
                <a:solidFill>
                  <a:srgbClr val="CADCFC"/>
                </a:solidFill>
                <a:latin typeface="Yu Gothic UI"/>
              </a:rPr>
              <a:t>✓ 原価自動集計</a:t>
            </a:r>
          </a:p>
        </p:txBody>
      </p:sp>
      <p:sp>
        <p:nvSpPr>
          <p:cNvPr id="12" name="Rounded Rectangle 11"/>
          <p:cNvSpPr/>
          <p:nvPr/>
        </p:nvSpPr>
        <p:spPr>
          <a:xfrm>
            <a:off x="5577840" y="3200400"/>
            <a:ext cx="2423160" cy="310896"/>
          </a:xfrm>
          <a:prstGeom prst="roundRect">
            <a:avLst>
              <a:gd name="adj" fmla="val 8000"/>
            </a:avLst>
          </a:prstGeom>
          <a:solidFill>
            <a:srgbClr val="3457D5"/>
          </a:solidFill>
          <a:ln w="9525">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577840" y="3200400"/>
            <a:ext cx="2423160" cy="310896"/>
          </a:xfrm>
          <a:prstGeom prst="rect">
            <a:avLst/>
          </a:prstGeom>
          <a:noFill/>
        </p:spPr>
        <p:txBody>
          <a:bodyPr wrap="square" lIns="45720" tIns="18288" rIns="45720" bIns="18288" anchor="ctr">
            <a:spAutoFit/>
          </a:bodyPr>
          <a:lstStyle/>
          <a:p>
            <a:pPr algn="ctr">
              <a:lnSpc>
                <a:spcPct val="115000"/>
              </a:lnSpc>
            </a:pPr>
            <a:r>
              <a:rPr sz="1000" b="1">
                <a:solidFill>
                  <a:srgbClr val="CADCFC"/>
                </a:solidFill>
                <a:latin typeface="Yu Gothic UI"/>
              </a:rPr>
              <a:t>✓ タブ複数選択・一括処理</a:t>
            </a:r>
          </a:p>
        </p:txBody>
      </p:sp>
      <p:sp>
        <p:nvSpPr>
          <p:cNvPr id="14" name="Rounded Rectangle 13"/>
          <p:cNvSpPr/>
          <p:nvPr/>
        </p:nvSpPr>
        <p:spPr>
          <a:xfrm>
            <a:off x="548640" y="3639312"/>
            <a:ext cx="2423160" cy="310896"/>
          </a:xfrm>
          <a:prstGeom prst="roundRect">
            <a:avLst>
              <a:gd name="adj" fmla="val 8000"/>
            </a:avLst>
          </a:prstGeom>
          <a:solidFill>
            <a:srgbClr val="3457D5"/>
          </a:solidFill>
          <a:ln w="9525">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3639312"/>
            <a:ext cx="2423160" cy="310896"/>
          </a:xfrm>
          <a:prstGeom prst="rect">
            <a:avLst/>
          </a:prstGeom>
          <a:noFill/>
        </p:spPr>
        <p:txBody>
          <a:bodyPr wrap="square" lIns="45720" tIns="18288" rIns="45720" bIns="18288" anchor="ctr">
            <a:spAutoFit/>
          </a:bodyPr>
          <a:lstStyle/>
          <a:p>
            <a:pPr algn="ctr">
              <a:lnSpc>
                <a:spcPct val="115000"/>
              </a:lnSpc>
            </a:pPr>
            <a:r>
              <a:rPr sz="1000" b="1">
                <a:solidFill>
                  <a:srgbClr val="CADCFC"/>
                </a:solidFill>
                <a:latin typeface="Yu Gothic UI"/>
              </a:rPr>
              <a:t>✓ 絞り込みタブ</a:t>
            </a:r>
          </a:p>
        </p:txBody>
      </p:sp>
      <p:sp>
        <p:nvSpPr>
          <p:cNvPr id="16" name="Rounded Rectangle 15"/>
          <p:cNvSpPr/>
          <p:nvPr/>
        </p:nvSpPr>
        <p:spPr>
          <a:xfrm>
            <a:off x="3063240" y="3639312"/>
            <a:ext cx="2423160" cy="310896"/>
          </a:xfrm>
          <a:prstGeom prst="roundRect">
            <a:avLst>
              <a:gd name="adj" fmla="val 8000"/>
            </a:avLst>
          </a:prstGeom>
          <a:solidFill>
            <a:srgbClr val="3457D5"/>
          </a:solidFill>
          <a:ln w="9525">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063240" y="3639312"/>
            <a:ext cx="2423160" cy="310896"/>
          </a:xfrm>
          <a:prstGeom prst="rect">
            <a:avLst/>
          </a:prstGeom>
          <a:noFill/>
        </p:spPr>
        <p:txBody>
          <a:bodyPr wrap="square" lIns="45720" tIns="18288" rIns="45720" bIns="18288" anchor="ctr">
            <a:spAutoFit/>
          </a:bodyPr>
          <a:lstStyle/>
          <a:p>
            <a:pPr algn="ctr">
              <a:lnSpc>
                <a:spcPct val="115000"/>
              </a:lnSpc>
            </a:pPr>
            <a:r>
              <a:rPr sz="1000" b="1">
                <a:solidFill>
                  <a:srgbClr val="CADCFC"/>
                </a:solidFill>
                <a:latin typeface="Yu Gothic UI"/>
              </a:rPr>
              <a:t>✓ 各種マスタ設定</a:t>
            </a:r>
          </a:p>
        </p:txBody>
      </p:sp>
      <p:sp>
        <p:nvSpPr>
          <p:cNvPr id="18" name="Rounded Rectangle 17"/>
          <p:cNvSpPr/>
          <p:nvPr/>
        </p:nvSpPr>
        <p:spPr>
          <a:xfrm>
            <a:off x="5577840" y="3639312"/>
            <a:ext cx="2423160" cy="310896"/>
          </a:xfrm>
          <a:prstGeom prst="roundRect">
            <a:avLst>
              <a:gd name="adj" fmla="val 8000"/>
            </a:avLst>
          </a:prstGeom>
          <a:solidFill>
            <a:srgbClr val="3457D5"/>
          </a:solidFill>
          <a:ln w="9525">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577840" y="3639312"/>
            <a:ext cx="2423160" cy="310896"/>
          </a:xfrm>
          <a:prstGeom prst="rect">
            <a:avLst/>
          </a:prstGeom>
          <a:noFill/>
        </p:spPr>
        <p:txBody>
          <a:bodyPr wrap="square" lIns="45720" tIns="18288" rIns="45720" bIns="18288" anchor="ctr">
            <a:spAutoFit/>
          </a:bodyPr>
          <a:lstStyle/>
          <a:p>
            <a:pPr algn="ctr">
              <a:lnSpc>
                <a:spcPct val="115000"/>
              </a:lnSpc>
            </a:pPr>
            <a:r>
              <a:rPr sz="1000" b="1">
                <a:solidFill>
                  <a:srgbClr val="CADCFC"/>
                </a:solidFill>
                <a:latin typeface="Yu Gothic UI"/>
              </a:rPr>
              <a:t>✓ ウィンドウ状態記憶</a:t>
            </a:r>
          </a:p>
        </p:txBody>
      </p:sp>
      <p:sp>
        <p:nvSpPr>
          <p:cNvPr id="20" name="TextBox 19"/>
          <p:cNvSpPr txBox="1"/>
          <p:nvPr/>
        </p:nvSpPr>
        <p:spPr>
          <a:xfrm>
            <a:off x="6675120" y="4754880"/>
            <a:ext cx="2286000" cy="274320"/>
          </a:xfrm>
          <a:prstGeom prst="rect">
            <a:avLst/>
          </a:prstGeom>
          <a:noFill/>
        </p:spPr>
        <p:txBody>
          <a:bodyPr wrap="square" lIns="45720" tIns="18288" rIns="45720" bIns="18288" anchor="t">
            <a:spAutoFit/>
          </a:bodyPr>
          <a:lstStyle/>
          <a:p>
            <a:pPr algn="r">
              <a:lnSpc>
                <a:spcPct val="115000"/>
              </a:lnSpc>
            </a:pPr>
            <a:r>
              <a:rPr sz="1000" b="0">
                <a:solidFill>
                  <a:srgbClr val="CADCFC"/>
                </a:solidFill>
                <a:latin typeface="Yu Gothic UI"/>
              </a:rPr>
              <a:t>Earth Analyzer 社　機密情報</a:t>
            </a:r>
          </a:p>
        </p:txBody>
      </p:sp>
      <p:sp>
        <p:nvSpPr>
          <p:cNvPr id="21" name="TextBox 20"/>
          <p:cNvSpPr txBox="1"/>
          <p:nvPr/>
        </p:nvSpPr>
        <p:spPr>
          <a:xfrm>
            <a:off x="548640" y="4160520"/>
            <a:ext cx="8046720" cy="274320"/>
          </a:xfrm>
          <a:prstGeom prst="rect">
            <a:avLst/>
          </a:prstGeom>
          <a:noFill/>
        </p:spPr>
        <p:txBody>
          <a:bodyPr wrap="square" lIns="45720" tIns="18288" rIns="45720" bIns="18288" anchor="t">
            <a:spAutoFit/>
          </a:bodyPr>
          <a:lstStyle/>
          <a:p>
            <a:pPr algn="l">
              <a:lnSpc>
                <a:spcPct val="115000"/>
              </a:lnSpc>
            </a:pPr>
            <a:r>
              <a:rPr sz="1200" b="0">
                <a:solidFill>
                  <a:srgbClr val="EEF3FD"/>
                </a:solidFill>
                <a:latin typeface="Yu Gothic UI"/>
              </a:rPr>
              <a:t>業務用 原価集計ツール — 日報から現場・月度別の原価を自動集計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65760" y="292608"/>
            <a:ext cx="8412480" cy="502920"/>
          </a:xfrm>
          <a:prstGeom prst="rect">
            <a:avLst/>
          </a:prstGeom>
          <a:noFill/>
        </p:spPr>
        <p:txBody>
          <a:bodyPr wrap="square" lIns="45720" tIns="18288" rIns="45720" bIns="18288" anchor="t">
            <a:spAutoFit/>
          </a:bodyPr>
          <a:lstStyle/>
          <a:p>
            <a:pPr algn="l">
              <a:lnSpc>
                <a:spcPct val="115000"/>
              </a:lnSpc>
            </a:pPr>
            <a:r>
              <a:rPr sz="2800" b="1">
                <a:solidFill>
                  <a:srgbClr val="3457D5"/>
                </a:solidFill>
                <a:latin typeface="Yu Gothic UI"/>
              </a:rPr>
              <a:t>目次</a:t>
            </a:r>
          </a:p>
        </p:txBody>
      </p:sp>
      <p:cxnSp>
        <p:nvCxnSpPr>
          <p:cNvPr id="3" name="Connector 2"/>
          <p:cNvCxnSpPr/>
          <p:nvPr/>
        </p:nvCxnSpPr>
        <p:spPr>
          <a:xfrm>
            <a:off x="365760" y="868680"/>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365760" y="1152144"/>
            <a:ext cx="548640" cy="384048"/>
          </a:xfrm>
          <a:prstGeom prst="roundRect">
            <a:avLst>
              <a:gd name="adj" fmla="val 18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152144"/>
            <a:ext cx="548640" cy="384048"/>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01</a:t>
            </a:r>
          </a:p>
        </p:txBody>
      </p:sp>
      <p:sp>
        <p:nvSpPr>
          <p:cNvPr id="6" name="TextBox 5"/>
          <p:cNvSpPr txBox="1"/>
          <p:nvPr/>
        </p:nvSpPr>
        <p:spPr>
          <a:xfrm>
            <a:off x="1051560" y="1097280"/>
            <a:ext cx="3383280" cy="292608"/>
          </a:xfrm>
          <a:prstGeom prst="rect">
            <a:avLst/>
          </a:prstGeom>
          <a:noFill/>
        </p:spPr>
        <p:txBody>
          <a:bodyPr wrap="square" lIns="45720" tIns="18288" rIns="45720" bIns="18288" anchor="ctr">
            <a:spAutoFit/>
          </a:bodyPr>
          <a:lstStyle/>
          <a:p>
            <a:pPr algn="l">
              <a:lnSpc>
                <a:spcPct val="115000"/>
              </a:lnSpc>
            </a:pPr>
            <a:r>
              <a:rPr sz="1300" b="1">
                <a:solidFill>
                  <a:srgbClr val="36454F"/>
                </a:solidFill>
                <a:latin typeface="Yu Gothic UI"/>
              </a:rPr>
              <a:t>起動と画面構成</a:t>
            </a:r>
          </a:p>
        </p:txBody>
      </p:sp>
      <p:sp>
        <p:nvSpPr>
          <p:cNvPr id="7" name="TextBox 6"/>
          <p:cNvSpPr txBox="1"/>
          <p:nvPr/>
        </p:nvSpPr>
        <p:spPr>
          <a:xfrm>
            <a:off x="1051560" y="1371600"/>
            <a:ext cx="3383280" cy="256032"/>
          </a:xfrm>
          <a:prstGeom prst="rect">
            <a:avLst/>
          </a:prstGeom>
          <a:noFill/>
        </p:spPr>
        <p:txBody>
          <a:bodyPr wrap="square" lIns="45720" tIns="18288" rIns="45720" bIns="18288" anchor="t">
            <a:spAutoFit/>
          </a:bodyPr>
          <a:lstStyle/>
          <a:p>
            <a:pPr algn="l">
              <a:lnSpc>
                <a:spcPct val="115000"/>
              </a:lnSpc>
            </a:pPr>
            <a:r>
              <a:rPr sz="1000" b="0">
                <a:solidFill>
                  <a:srgbClr val="7A8899"/>
                </a:solidFill>
                <a:latin typeface="Yu Gothic UI"/>
              </a:rPr>
              <a:t>サイドバー・ヘッダー・ウィンドウ</a:t>
            </a:r>
          </a:p>
        </p:txBody>
      </p:sp>
      <p:sp>
        <p:nvSpPr>
          <p:cNvPr id="8" name="Rounded Rectangle 7"/>
          <p:cNvSpPr/>
          <p:nvPr/>
        </p:nvSpPr>
        <p:spPr>
          <a:xfrm>
            <a:off x="365760" y="1755648"/>
            <a:ext cx="548640" cy="384048"/>
          </a:xfrm>
          <a:prstGeom prst="roundRect">
            <a:avLst>
              <a:gd name="adj" fmla="val 18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755648"/>
            <a:ext cx="548640" cy="384048"/>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02</a:t>
            </a:r>
          </a:p>
        </p:txBody>
      </p:sp>
      <p:sp>
        <p:nvSpPr>
          <p:cNvPr id="10" name="TextBox 9"/>
          <p:cNvSpPr txBox="1"/>
          <p:nvPr/>
        </p:nvSpPr>
        <p:spPr>
          <a:xfrm>
            <a:off x="1051560" y="1700784"/>
            <a:ext cx="3383280" cy="292608"/>
          </a:xfrm>
          <a:prstGeom prst="rect">
            <a:avLst/>
          </a:prstGeom>
          <a:noFill/>
        </p:spPr>
        <p:txBody>
          <a:bodyPr wrap="square" lIns="45720" tIns="18288" rIns="45720" bIns="18288" anchor="ctr">
            <a:spAutoFit/>
          </a:bodyPr>
          <a:lstStyle/>
          <a:p>
            <a:pPr algn="l">
              <a:lnSpc>
                <a:spcPct val="115000"/>
              </a:lnSpc>
            </a:pPr>
            <a:r>
              <a:rPr sz="1300" b="1">
                <a:solidFill>
                  <a:srgbClr val="36454F"/>
                </a:solidFill>
                <a:latin typeface="Yu Gothic UI"/>
              </a:rPr>
              <a:t>ダッシュボード</a:t>
            </a:r>
          </a:p>
        </p:txBody>
      </p:sp>
      <p:sp>
        <p:nvSpPr>
          <p:cNvPr id="11" name="TextBox 10"/>
          <p:cNvSpPr txBox="1"/>
          <p:nvPr/>
        </p:nvSpPr>
        <p:spPr>
          <a:xfrm>
            <a:off x="1051560" y="1975104"/>
            <a:ext cx="3383280" cy="256032"/>
          </a:xfrm>
          <a:prstGeom prst="rect">
            <a:avLst/>
          </a:prstGeom>
          <a:noFill/>
        </p:spPr>
        <p:txBody>
          <a:bodyPr wrap="square" lIns="45720" tIns="18288" rIns="45720" bIns="18288" anchor="t">
            <a:spAutoFit/>
          </a:bodyPr>
          <a:lstStyle/>
          <a:p>
            <a:pPr algn="l">
              <a:lnSpc>
                <a:spcPct val="115000"/>
              </a:lnSpc>
            </a:pPr>
            <a:r>
              <a:rPr sz="1000" b="0">
                <a:solidFill>
                  <a:srgbClr val="7A8899"/>
                </a:solidFill>
                <a:latin typeface="Yu Gothic UI"/>
              </a:rPr>
              <a:t>お知らせ・操作履歴・自動更新</a:t>
            </a:r>
          </a:p>
        </p:txBody>
      </p:sp>
      <p:sp>
        <p:nvSpPr>
          <p:cNvPr id="12" name="Rounded Rectangle 11"/>
          <p:cNvSpPr/>
          <p:nvPr/>
        </p:nvSpPr>
        <p:spPr>
          <a:xfrm>
            <a:off x="365760" y="2359152"/>
            <a:ext cx="548640" cy="384048"/>
          </a:xfrm>
          <a:prstGeom prst="roundRect">
            <a:avLst>
              <a:gd name="adj" fmla="val 18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2359152"/>
            <a:ext cx="548640" cy="384048"/>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03</a:t>
            </a:r>
          </a:p>
        </p:txBody>
      </p:sp>
      <p:sp>
        <p:nvSpPr>
          <p:cNvPr id="14" name="TextBox 13"/>
          <p:cNvSpPr txBox="1"/>
          <p:nvPr/>
        </p:nvSpPr>
        <p:spPr>
          <a:xfrm>
            <a:off x="1051560" y="2304288"/>
            <a:ext cx="3383280" cy="292608"/>
          </a:xfrm>
          <a:prstGeom prst="rect">
            <a:avLst/>
          </a:prstGeom>
          <a:noFill/>
        </p:spPr>
        <p:txBody>
          <a:bodyPr wrap="square" lIns="45720" tIns="18288" rIns="45720" bIns="18288" anchor="ctr">
            <a:spAutoFit/>
          </a:bodyPr>
          <a:lstStyle/>
          <a:p>
            <a:pPr algn="l">
              <a:lnSpc>
                <a:spcPct val="115000"/>
              </a:lnSpc>
            </a:pPr>
            <a:r>
              <a:rPr sz="1300" b="1">
                <a:solidFill>
                  <a:srgbClr val="36454F"/>
                </a:solidFill>
                <a:latin typeface="Yu Gothic UI"/>
              </a:rPr>
              <a:t>日報取込</a:t>
            </a:r>
          </a:p>
        </p:txBody>
      </p:sp>
      <p:sp>
        <p:nvSpPr>
          <p:cNvPr id="15" name="TextBox 14"/>
          <p:cNvSpPr txBox="1"/>
          <p:nvPr/>
        </p:nvSpPr>
        <p:spPr>
          <a:xfrm>
            <a:off x="1051560" y="2578608"/>
            <a:ext cx="3383280" cy="256032"/>
          </a:xfrm>
          <a:prstGeom prst="rect">
            <a:avLst/>
          </a:prstGeom>
          <a:noFill/>
        </p:spPr>
        <p:txBody>
          <a:bodyPr wrap="square" lIns="45720" tIns="18288" rIns="45720" bIns="18288" anchor="t">
            <a:spAutoFit/>
          </a:bodyPr>
          <a:lstStyle/>
          <a:p>
            <a:pPr algn="l">
              <a:lnSpc>
                <a:spcPct val="115000"/>
              </a:lnSpc>
            </a:pPr>
            <a:r>
              <a:rPr sz="1000" b="0">
                <a:solidFill>
                  <a:srgbClr val="7A8899"/>
                </a:solidFill>
                <a:latin typeface="Yu Gothic UI"/>
              </a:rPr>
              <a:t>Excel読込・バリデーション</a:t>
            </a:r>
          </a:p>
        </p:txBody>
      </p:sp>
      <p:sp>
        <p:nvSpPr>
          <p:cNvPr id="16" name="Rounded Rectangle 15"/>
          <p:cNvSpPr/>
          <p:nvPr/>
        </p:nvSpPr>
        <p:spPr>
          <a:xfrm>
            <a:off x="365760" y="2962656"/>
            <a:ext cx="548640" cy="384048"/>
          </a:xfrm>
          <a:prstGeom prst="roundRect">
            <a:avLst>
              <a:gd name="adj" fmla="val 18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 y="2962656"/>
            <a:ext cx="548640" cy="384048"/>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04</a:t>
            </a:r>
          </a:p>
        </p:txBody>
      </p:sp>
      <p:sp>
        <p:nvSpPr>
          <p:cNvPr id="18" name="TextBox 17"/>
          <p:cNvSpPr txBox="1"/>
          <p:nvPr/>
        </p:nvSpPr>
        <p:spPr>
          <a:xfrm>
            <a:off x="1051560" y="2907792"/>
            <a:ext cx="3383280" cy="292608"/>
          </a:xfrm>
          <a:prstGeom prst="rect">
            <a:avLst/>
          </a:prstGeom>
          <a:noFill/>
        </p:spPr>
        <p:txBody>
          <a:bodyPr wrap="square" lIns="45720" tIns="18288" rIns="45720" bIns="18288" anchor="ctr">
            <a:spAutoFit/>
          </a:bodyPr>
          <a:lstStyle/>
          <a:p>
            <a:pPr algn="l">
              <a:lnSpc>
                <a:spcPct val="115000"/>
              </a:lnSpc>
            </a:pPr>
            <a:r>
              <a:rPr sz="1300" b="1">
                <a:solidFill>
                  <a:srgbClr val="36454F"/>
                </a:solidFill>
                <a:latin typeface="Yu Gothic UI"/>
              </a:rPr>
              <a:t>原価集計の見方</a:t>
            </a:r>
          </a:p>
        </p:txBody>
      </p:sp>
      <p:sp>
        <p:nvSpPr>
          <p:cNvPr id="19" name="TextBox 18"/>
          <p:cNvSpPr txBox="1"/>
          <p:nvPr/>
        </p:nvSpPr>
        <p:spPr>
          <a:xfrm>
            <a:off x="1051560" y="3182112"/>
            <a:ext cx="3383280" cy="256032"/>
          </a:xfrm>
          <a:prstGeom prst="rect">
            <a:avLst/>
          </a:prstGeom>
          <a:noFill/>
        </p:spPr>
        <p:txBody>
          <a:bodyPr wrap="square" lIns="45720" tIns="18288" rIns="45720" bIns="18288" anchor="t">
            <a:spAutoFit/>
          </a:bodyPr>
          <a:lstStyle/>
          <a:p>
            <a:pPr algn="l">
              <a:lnSpc>
                <a:spcPct val="115000"/>
              </a:lnSpc>
            </a:pPr>
            <a:r>
              <a:rPr sz="1000" b="0">
                <a:solidFill>
                  <a:srgbClr val="7A8899"/>
                </a:solidFill>
                <a:latin typeface="Yu Gothic UI"/>
              </a:rPr>
              <a:t>集計の仕組み・年度月度折りたたみ</a:t>
            </a:r>
          </a:p>
        </p:txBody>
      </p:sp>
      <p:sp>
        <p:nvSpPr>
          <p:cNvPr id="20" name="Rounded Rectangle 19"/>
          <p:cNvSpPr/>
          <p:nvPr/>
        </p:nvSpPr>
        <p:spPr>
          <a:xfrm>
            <a:off x="365760" y="3566160"/>
            <a:ext cx="548640" cy="384048"/>
          </a:xfrm>
          <a:prstGeom prst="roundRect">
            <a:avLst>
              <a:gd name="adj" fmla="val 18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5760" y="3566160"/>
            <a:ext cx="548640" cy="384048"/>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05</a:t>
            </a:r>
          </a:p>
        </p:txBody>
      </p:sp>
      <p:sp>
        <p:nvSpPr>
          <p:cNvPr id="22" name="TextBox 21"/>
          <p:cNvSpPr txBox="1"/>
          <p:nvPr/>
        </p:nvSpPr>
        <p:spPr>
          <a:xfrm>
            <a:off x="1051560" y="3511296"/>
            <a:ext cx="3383280" cy="292608"/>
          </a:xfrm>
          <a:prstGeom prst="rect">
            <a:avLst/>
          </a:prstGeom>
          <a:noFill/>
        </p:spPr>
        <p:txBody>
          <a:bodyPr wrap="square" lIns="45720" tIns="18288" rIns="45720" bIns="18288" anchor="ctr">
            <a:spAutoFit/>
          </a:bodyPr>
          <a:lstStyle/>
          <a:p>
            <a:pPr algn="l">
              <a:lnSpc>
                <a:spcPct val="115000"/>
              </a:lnSpc>
            </a:pPr>
            <a:r>
              <a:rPr sz="1300" b="1">
                <a:solidFill>
                  <a:srgbClr val="36454F"/>
                </a:solidFill>
                <a:latin typeface="Yu Gothic UI"/>
              </a:rPr>
              <a:t>現場タブの操作</a:t>
            </a:r>
          </a:p>
        </p:txBody>
      </p:sp>
      <p:sp>
        <p:nvSpPr>
          <p:cNvPr id="23" name="TextBox 22"/>
          <p:cNvSpPr txBox="1"/>
          <p:nvPr/>
        </p:nvSpPr>
        <p:spPr>
          <a:xfrm>
            <a:off x="1051560" y="3785616"/>
            <a:ext cx="3383280" cy="256032"/>
          </a:xfrm>
          <a:prstGeom prst="rect">
            <a:avLst/>
          </a:prstGeom>
          <a:noFill/>
        </p:spPr>
        <p:txBody>
          <a:bodyPr wrap="square" lIns="45720" tIns="18288" rIns="45720" bIns="18288" anchor="t">
            <a:spAutoFit/>
          </a:bodyPr>
          <a:lstStyle/>
          <a:p>
            <a:pPr algn="l">
              <a:lnSpc>
                <a:spcPct val="115000"/>
              </a:lnSpc>
            </a:pPr>
            <a:r>
              <a:rPr sz="1000" b="0">
                <a:solidFill>
                  <a:srgbClr val="7A8899"/>
                </a:solidFill>
                <a:latin typeface="Yu Gothic UI"/>
              </a:rPr>
              <a:t>属性変更・複数選択・一括処理</a:t>
            </a:r>
          </a:p>
        </p:txBody>
      </p:sp>
      <p:sp>
        <p:nvSpPr>
          <p:cNvPr id="24" name="Rounded Rectangle 23"/>
          <p:cNvSpPr/>
          <p:nvPr/>
        </p:nvSpPr>
        <p:spPr>
          <a:xfrm>
            <a:off x="365760" y="4169664"/>
            <a:ext cx="548640" cy="384048"/>
          </a:xfrm>
          <a:prstGeom prst="roundRect">
            <a:avLst>
              <a:gd name="adj" fmla="val 18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5760" y="4169664"/>
            <a:ext cx="548640" cy="384048"/>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06</a:t>
            </a:r>
          </a:p>
        </p:txBody>
      </p:sp>
      <p:sp>
        <p:nvSpPr>
          <p:cNvPr id="26" name="TextBox 25"/>
          <p:cNvSpPr txBox="1"/>
          <p:nvPr/>
        </p:nvSpPr>
        <p:spPr>
          <a:xfrm>
            <a:off x="1051560" y="4114800"/>
            <a:ext cx="3383280" cy="292608"/>
          </a:xfrm>
          <a:prstGeom prst="rect">
            <a:avLst/>
          </a:prstGeom>
          <a:noFill/>
        </p:spPr>
        <p:txBody>
          <a:bodyPr wrap="square" lIns="45720" tIns="18288" rIns="45720" bIns="18288" anchor="ctr">
            <a:spAutoFit/>
          </a:bodyPr>
          <a:lstStyle/>
          <a:p>
            <a:pPr algn="l">
              <a:lnSpc>
                <a:spcPct val="115000"/>
              </a:lnSpc>
            </a:pPr>
            <a:r>
              <a:rPr sz="1300" b="1">
                <a:solidFill>
                  <a:srgbClr val="36454F"/>
                </a:solidFill>
                <a:latin typeface="Yu Gothic UI"/>
              </a:rPr>
              <a:t>絞り込みタブ</a:t>
            </a:r>
          </a:p>
        </p:txBody>
      </p:sp>
      <p:sp>
        <p:nvSpPr>
          <p:cNvPr id="27" name="TextBox 26"/>
          <p:cNvSpPr txBox="1"/>
          <p:nvPr/>
        </p:nvSpPr>
        <p:spPr>
          <a:xfrm>
            <a:off x="1051560" y="4389120"/>
            <a:ext cx="3383280" cy="256032"/>
          </a:xfrm>
          <a:prstGeom prst="rect">
            <a:avLst/>
          </a:prstGeom>
          <a:noFill/>
        </p:spPr>
        <p:txBody>
          <a:bodyPr wrap="square" lIns="45720" tIns="18288" rIns="45720" bIns="18288" anchor="t">
            <a:spAutoFit/>
          </a:bodyPr>
          <a:lstStyle/>
          <a:p>
            <a:pPr algn="l">
              <a:lnSpc>
                <a:spcPct val="115000"/>
              </a:lnSpc>
            </a:pPr>
            <a:r>
              <a:rPr sz="1000" b="0">
                <a:solidFill>
                  <a:srgbClr val="7A8899"/>
                </a:solidFill>
                <a:latin typeface="Yu Gothic UI"/>
              </a:rPr>
              <a:t>月度・作業内容・氏名フィルタ</a:t>
            </a:r>
          </a:p>
        </p:txBody>
      </p:sp>
      <p:sp>
        <p:nvSpPr>
          <p:cNvPr id="28" name="Rounded Rectangle 27"/>
          <p:cNvSpPr/>
          <p:nvPr/>
        </p:nvSpPr>
        <p:spPr>
          <a:xfrm>
            <a:off x="4617720" y="1152144"/>
            <a:ext cx="548640" cy="384048"/>
          </a:xfrm>
          <a:prstGeom prst="roundRect">
            <a:avLst>
              <a:gd name="adj" fmla="val 18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617720" y="1152144"/>
            <a:ext cx="548640" cy="384048"/>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07</a:t>
            </a:r>
          </a:p>
        </p:txBody>
      </p:sp>
      <p:sp>
        <p:nvSpPr>
          <p:cNvPr id="30" name="TextBox 29"/>
          <p:cNvSpPr txBox="1"/>
          <p:nvPr/>
        </p:nvSpPr>
        <p:spPr>
          <a:xfrm>
            <a:off x="5303520" y="1097280"/>
            <a:ext cx="3383280" cy="292608"/>
          </a:xfrm>
          <a:prstGeom prst="rect">
            <a:avLst/>
          </a:prstGeom>
          <a:noFill/>
        </p:spPr>
        <p:txBody>
          <a:bodyPr wrap="square" lIns="45720" tIns="18288" rIns="45720" bIns="18288" anchor="ctr">
            <a:spAutoFit/>
          </a:bodyPr>
          <a:lstStyle/>
          <a:p>
            <a:pPr algn="l">
              <a:lnSpc>
                <a:spcPct val="115000"/>
              </a:lnSpc>
            </a:pPr>
            <a:r>
              <a:rPr sz="1300" b="1">
                <a:solidFill>
                  <a:srgbClr val="36454F"/>
                </a:solidFill>
                <a:latin typeface="Yu Gothic UI"/>
              </a:rPr>
              <a:t>Excel書き出し・印刷</a:t>
            </a:r>
          </a:p>
        </p:txBody>
      </p:sp>
      <p:sp>
        <p:nvSpPr>
          <p:cNvPr id="31" name="TextBox 30"/>
          <p:cNvSpPr txBox="1"/>
          <p:nvPr/>
        </p:nvSpPr>
        <p:spPr>
          <a:xfrm>
            <a:off x="5303520" y="1371600"/>
            <a:ext cx="3383280" cy="256032"/>
          </a:xfrm>
          <a:prstGeom prst="rect">
            <a:avLst/>
          </a:prstGeom>
          <a:noFill/>
        </p:spPr>
        <p:txBody>
          <a:bodyPr wrap="square" lIns="45720" tIns="18288" rIns="45720" bIns="18288" anchor="t">
            <a:spAutoFit/>
          </a:bodyPr>
          <a:lstStyle/>
          <a:p>
            <a:pPr algn="l">
              <a:lnSpc>
                <a:spcPct val="115000"/>
              </a:lnSpc>
            </a:pPr>
            <a:r>
              <a:rPr sz="1000" b="0">
                <a:solidFill>
                  <a:srgbClr val="7A8899"/>
                </a:solidFill>
                <a:latin typeface="Yu Gothic UI"/>
              </a:rPr>
              <a:t>プレビュー・列選択</a:t>
            </a:r>
          </a:p>
        </p:txBody>
      </p:sp>
      <p:sp>
        <p:nvSpPr>
          <p:cNvPr id="32" name="Rounded Rectangle 31"/>
          <p:cNvSpPr/>
          <p:nvPr/>
        </p:nvSpPr>
        <p:spPr>
          <a:xfrm>
            <a:off x="4617720" y="1755648"/>
            <a:ext cx="548640" cy="384048"/>
          </a:xfrm>
          <a:prstGeom prst="roundRect">
            <a:avLst>
              <a:gd name="adj" fmla="val 18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617720" y="1755648"/>
            <a:ext cx="548640" cy="384048"/>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08</a:t>
            </a:r>
          </a:p>
        </p:txBody>
      </p:sp>
      <p:sp>
        <p:nvSpPr>
          <p:cNvPr id="34" name="TextBox 33"/>
          <p:cNvSpPr txBox="1"/>
          <p:nvPr/>
        </p:nvSpPr>
        <p:spPr>
          <a:xfrm>
            <a:off x="5303520" y="1700784"/>
            <a:ext cx="3383280" cy="292608"/>
          </a:xfrm>
          <a:prstGeom prst="rect">
            <a:avLst/>
          </a:prstGeom>
          <a:noFill/>
        </p:spPr>
        <p:txBody>
          <a:bodyPr wrap="square" lIns="45720" tIns="18288" rIns="45720" bIns="18288" anchor="ctr">
            <a:spAutoFit/>
          </a:bodyPr>
          <a:lstStyle/>
          <a:p>
            <a:pPr algn="l">
              <a:lnSpc>
                <a:spcPct val="115000"/>
              </a:lnSpc>
            </a:pPr>
            <a:r>
              <a:rPr sz="1300" b="1">
                <a:solidFill>
                  <a:srgbClr val="36454F"/>
                </a:solidFill>
                <a:latin typeface="Yu Gothic UI"/>
              </a:rPr>
              <a:t>ショートカットキー</a:t>
            </a:r>
          </a:p>
        </p:txBody>
      </p:sp>
      <p:sp>
        <p:nvSpPr>
          <p:cNvPr id="35" name="TextBox 34"/>
          <p:cNvSpPr txBox="1"/>
          <p:nvPr/>
        </p:nvSpPr>
        <p:spPr>
          <a:xfrm>
            <a:off x="5303520" y="1975104"/>
            <a:ext cx="3383280" cy="256032"/>
          </a:xfrm>
          <a:prstGeom prst="rect">
            <a:avLst/>
          </a:prstGeom>
          <a:noFill/>
        </p:spPr>
        <p:txBody>
          <a:bodyPr wrap="square" lIns="45720" tIns="18288" rIns="45720" bIns="18288" anchor="t">
            <a:spAutoFit/>
          </a:bodyPr>
          <a:lstStyle/>
          <a:p>
            <a:pPr algn="l">
              <a:lnSpc>
                <a:spcPct val="115000"/>
              </a:lnSpc>
            </a:pPr>
            <a:r>
              <a:rPr sz="1000" b="0">
                <a:solidFill>
                  <a:srgbClr val="7A8899"/>
                </a:solidFill>
                <a:latin typeface="Yu Gothic UI"/>
              </a:rPr>
              <a:t>Ctrl/F系一覧・複数選択操作</a:t>
            </a:r>
          </a:p>
        </p:txBody>
      </p:sp>
      <p:sp>
        <p:nvSpPr>
          <p:cNvPr id="36" name="Rounded Rectangle 35"/>
          <p:cNvSpPr/>
          <p:nvPr/>
        </p:nvSpPr>
        <p:spPr>
          <a:xfrm>
            <a:off x="4617720" y="2359152"/>
            <a:ext cx="548640" cy="384048"/>
          </a:xfrm>
          <a:prstGeom prst="roundRect">
            <a:avLst>
              <a:gd name="adj" fmla="val 18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617720" y="2359152"/>
            <a:ext cx="548640" cy="384048"/>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09</a:t>
            </a:r>
          </a:p>
        </p:txBody>
      </p:sp>
      <p:sp>
        <p:nvSpPr>
          <p:cNvPr id="38" name="TextBox 37"/>
          <p:cNvSpPr txBox="1"/>
          <p:nvPr/>
        </p:nvSpPr>
        <p:spPr>
          <a:xfrm>
            <a:off x="5303520" y="2304288"/>
            <a:ext cx="3383280" cy="292608"/>
          </a:xfrm>
          <a:prstGeom prst="rect">
            <a:avLst/>
          </a:prstGeom>
          <a:noFill/>
        </p:spPr>
        <p:txBody>
          <a:bodyPr wrap="square" lIns="45720" tIns="18288" rIns="45720" bIns="18288" anchor="ctr">
            <a:spAutoFit/>
          </a:bodyPr>
          <a:lstStyle/>
          <a:p>
            <a:pPr algn="l">
              <a:lnSpc>
                <a:spcPct val="115000"/>
              </a:lnSpc>
            </a:pPr>
            <a:r>
              <a:rPr sz="1300" b="1">
                <a:solidFill>
                  <a:srgbClr val="36454F"/>
                </a:solidFill>
                <a:latin typeface="Yu Gothic UI"/>
              </a:rPr>
              <a:t>設定・マスタ管理</a:t>
            </a:r>
          </a:p>
        </p:txBody>
      </p:sp>
      <p:sp>
        <p:nvSpPr>
          <p:cNvPr id="39" name="TextBox 38"/>
          <p:cNvSpPr txBox="1"/>
          <p:nvPr/>
        </p:nvSpPr>
        <p:spPr>
          <a:xfrm>
            <a:off x="5303520" y="2578608"/>
            <a:ext cx="3383280" cy="256032"/>
          </a:xfrm>
          <a:prstGeom prst="rect">
            <a:avLst/>
          </a:prstGeom>
          <a:noFill/>
        </p:spPr>
        <p:txBody>
          <a:bodyPr wrap="square" lIns="45720" tIns="18288" rIns="45720" bIns="18288" anchor="t">
            <a:spAutoFit/>
          </a:bodyPr>
          <a:lstStyle/>
          <a:p>
            <a:pPr algn="l">
              <a:lnSpc>
                <a:spcPct val="115000"/>
              </a:lnSpc>
            </a:pPr>
            <a:r>
              <a:rPr sz="1000" b="0">
                <a:solidFill>
                  <a:srgbClr val="7A8899"/>
                </a:solidFill>
                <a:latin typeface="Yu Gothic UI"/>
              </a:rPr>
              <a:t>人員・車両・機材・金額・DB設定</a:t>
            </a:r>
          </a:p>
        </p:txBody>
      </p:sp>
      <p:sp>
        <p:nvSpPr>
          <p:cNvPr id="40" name="Rounded Rectangle 39"/>
          <p:cNvSpPr/>
          <p:nvPr/>
        </p:nvSpPr>
        <p:spPr>
          <a:xfrm>
            <a:off x="4617720" y="2962656"/>
            <a:ext cx="548640" cy="384048"/>
          </a:xfrm>
          <a:prstGeom prst="roundRect">
            <a:avLst>
              <a:gd name="adj" fmla="val 18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617720" y="2962656"/>
            <a:ext cx="548640" cy="384048"/>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10</a:t>
            </a:r>
          </a:p>
        </p:txBody>
      </p:sp>
      <p:sp>
        <p:nvSpPr>
          <p:cNvPr id="42" name="TextBox 41"/>
          <p:cNvSpPr txBox="1"/>
          <p:nvPr/>
        </p:nvSpPr>
        <p:spPr>
          <a:xfrm>
            <a:off x="5303520" y="2907792"/>
            <a:ext cx="3383280" cy="292608"/>
          </a:xfrm>
          <a:prstGeom prst="rect">
            <a:avLst/>
          </a:prstGeom>
          <a:noFill/>
        </p:spPr>
        <p:txBody>
          <a:bodyPr wrap="square" lIns="45720" tIns="18288" rIns="45720" bIns="18288" anchor="ctr">
            <a:spAutoFit/>
          </a:bodyPr>
          <a:lstStyle/>
          <a:p>
            <a:pPr algn="l">
              <a:lnSpc>
                <a:spcPct val="115000"/>
              </a:lnSpc>
            </a:pPr>
            <a:r>
              <a:rPr sz="1300" b="1">
                <a:solidFill>
                  <a:srgbClr val="36454F"/>
                </a:solidFill>
                <a:latin typeface="Yu Gothic UI"/>
              </a:rPr>
              <a:t>日報の入力ルール</a:t>
            </a:r>
          </a:p>
        </p:txBody>
      </p:sp>
      <p:sp>
        <p:nvSpPr>
          <p:cNvPr id="43" name="TextBox 42"/>
          <p:cNvSpPr txBox="1"/>
          <p:nvPr/>
        </p:nvSpPr>
        <p:spPr>
          <a:xfrm>
            <a:off x="5303520" y="3182112"/>
            <a:ext cx="3383280" cy="256032"/>
          </a:xfrm>
          <a:prstGeom prst="rect">
            <a:avLst/>
          </a:prstGeom>
          <a:noFill/>
        </p:spPr>
        <p:txBody>
          <a:bodyPr wrap="square" lIns="45720" tIns="18288" rIns="45720" bIns="18288" anchor="t">
            <a:spAutoFit/>
          </a:bodyPr>
          <a:lstStyle/>
          <a:p>
            <a:pPr algn="l">
              <a:lnSpc>
                <a:spcPct val="115000"/>
              </a:lnSpc>
            </a:pPr>
            <a:r>
              <a:rPr sz="1000" b="0">
                <a:solidFill>
                  <a:srgbClr val="7A8899"/>
                </a:solidFill>
                <a:latin typeface="Yu Gothic UI"/>
              </a:rPr>
              <a:t>1行1作業ルール・区分コード</a:t>
            </a:r>
          </a:p>
        </p:txBody>
      </p:sp>
      <p:sp>
        <p:nvSpPr>
          <p:cNvPr id="44" name="Rounded Rectangle 43"/>
          <p:cNvSpPr/>
          <p:nvPr/>
        </p:nvSpPr>
        <p:spPr>
          <a:xfrm>
            <a:off x="4617720" y="3566160"/>
            <a:ext cx="548640" cy="384048"/>
          </a:xfrm>
          <a:prstGeom prst="roundRect">
            <a:avLst>
              <a:gd name="adj" fmla="val 18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17720" y="3566160"/>
            <a:ext cx="548640" cy="384048"/>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11</a:t>
            </a:r>
          </a:p>
        </p:txBody>
      </p:sp>
      <p:sp>
        <p:nvSpPr>
          <p:cNvPr id="46" name="TextBox 45"/>
          <p:cNvSpPr txBox="1"/>
          <p:nvPr/>
        </p:nvSpPr>
        <p:spPr>
          <a:xfrm>
            <a:off x="5303520" y="3511296"/>
            <a:ext cx="3383280" cy="292608"/>
          </a:xfrm>
          <a:prstGeom prst="rect">
            <a:avLst/>
          </a:prstGeom>
          <a:noFill/>
        </p:spPr>
        <p:txBody>
          <a:bodyPr wrap="square" lIns="45720" tIns="18288" rIns="45720" bIns="18288" anchor="ctr">
            <a:spAutoFit/>
          </a:bodyPr>
          <a:lstStyle/>
          <a:p>
            <a:pPr algn="l">
              <a:lnSpc>
                <a:spcPct val="115000"/>
              </a:lnSpc>
            </a:pPr>
            <a:r>
              <a:rPr sz="1300" b="1">
                <a:solidFill>
                  <a:srgbClr val="36454F"/>
                </a:solidFill>
                <a:latin typeface="Yu Gothic UI"/>
              </a:rPr>
              <a:t>注意事項・よくある質問</a:t>
            </a:r>
          </a:p>
        </p:txBody>
      </p:sp>
      <p:sp>
        <p:nvSpPr>
          <p:cNvPr id="47" name="TextBox 46"/>
          <p:cNvSpPr txBox="1"/>
          <p:nvPr/>
        </p:nvSpPr>
        <p:spPr>
          <a:xfrm>
            <a:off x="5303520" y="3785616"/>
            <a:ext cx="3383280" cy="256032"/>
          </a:xfrm>
          <a:prstGeom prst="rect">
            <a:avLst/>
          </a:prstGeom>
          <a:noFill/>
        </p:spPr>
        <p:txBody>
          <a:bodyPr wrap="square" lIns="45720" tIns="18288" rIns="45720" bIns="18288" anchor="t">
            <a:spAutoFit/>
          </a:bodyPr>
          <a:lstStyle/>
          <a:p>
            <a:pPr algn="l">
              <a:lnSpc>
                <a:spcPct val="115000"/>
              </a:lnSpc>
            </a:pPr>
            <a:r>
              <a:rPr sz="1000" b="0">
                <a:solidFill>
                  <a:srgbClr val="7A8899"/>
                </a:solidFill>
                <a:latin typeface="Yu Gothic UI"/>
              </a:rPr>
              <a:t>Q&amp;A・トラブル対応</a:t>
            </a:r>
          </a:p>
        </p:txBody>
      </p:sp>
      <p:sp>
        <p:nvSpPr>
          <p:cNvPr id="48" name="Rounded Rectangle 47"/>
          <p:cNvSpPr/>
          <p:nvPr/>
        </p:nvSpPr>
        <p:spPr>
          <a:xfrm>
            <a:off x="4617720" y="4169664"/>
            <a:ext cx="548640" cy="384048"/>
          </a:xfrm>
          <a:prstGeom prst="roundRect">
            <a:avLst>
              <a:gd name="adj" fmla="val 18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617720" y="4169664"/>
            <a:ext cx="548640" cy="384048"/>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12</a:t>
            </a:r>
          </a:p>
        </p:txBody>
      </p:sp>
      <p:sp>
        <p:nvSpPr>
          <p:cNvPr id="50" name="TextBox 49"/>
          <p:cNvSpPr txBox="1"/>
          <p:nvPr/>
        </p:nvSpPr>
        <p:spPr>
          <a:xfrm>
            <a:off x="5303520" y="4114800"/>
            <a:ext cx="3383280" cy="292608"/>
          </a:xfrm>
          <a:prstGeom prst="rect">
            <a:avLst/>
          </a:prstGeom>
          <a:noFill/>
        </p:spPr>
        <p:txBody>
          <a:bodyPr wrap="square" lIns="45720" tIns="18288" rIns="45720" bIns="18288" anchor="ctr">
            <a:spAutoFit/>
          </a:bodyPr>
          <a:lstStyle/>
          <a:p>
            <a:pPr algn="l">
              <a:lnSpc>
                <a:spcPct val="115000"/>
              </a:lnSpc>
            </a:pPr>
            <a:r>
              <a:rPr sz="1300" b="1">
                <a:solidFill>
                  <a:srgbClr val="36454F"/>
                </a:solidFill>
                <a:latin typeface="Yu Gothic UI"/>
              </a:rPr>
              <a:t>インストールとアップデート</a:t>
            </a:r>
          </a:p>
        </p:txBody>
      </p:sp>
      <p:sp>
        <p:nvSpPr>
          <p:cNvPr id="51" name="TextBox 50"/>
          <p:cNvSpPr txBox="1"/>
          <p:nvPr/>
        </p:nvSpPr>
        <p:spPr>
          <a:xfrm>
            <a:off x="5303520" y="4389120"/>
            <a:ext cx="3383280" cy="256032"/>
          </a:xfrm>
          <a:prstGeom prst="rect">
            <a:avLst/>
          </a:prstGeom>
          <a:noFill/>
        </p:spPr>
        <p:txBody>
          <a:bodyPr wrap="square" lIns="45720" tIns="18288" rIns="45720" bIns="18288" anchor="t">
            <a:spAutoFit/>
          </a:bodyPr>
          <a:lstStyle/>
          <a:p>
            <a:pPr algn="l">
              <a:lnSpc>
                <a:spcPct val="115000"/>
              </a:lnSpc>
            </a:pPr>
            <a:r>
              <a:rPr sz="1000" b="0">
                <a:solidFill>
                  <a:srgbClr val="7A8899"/>
                </a:solidFill>
                <a:latin typeface="Yu Gothic UI"/>
              </a:rPr>
              <a:t>Inno Setup・自動更新</a:t>
            </a:r>
          </a:p>
        </p:txBody>
      </p:sp>
      <p:sp>
        <p:nvSpPr>
          <p:cNvPr id="52" name="TextBox 51"/>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53" name="TextBox 52"/>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2 / 53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01</a:t>
            </a:r>
            <a:r>
              <a:rPr sz="2000" b="0">
                <a:solidFill>
                  <a:srgbClr val="3457D5"/>
                </a:solidFill>
                <a:latin typeface="Yu Gothic UI"/>
              </a:rPr>
              <a:t>　</a:t>
            </a:r>
            <a:r>
              <a:rPr sz="2000" b="1">
                <a:solidFill>
                  <a:srgbClr val="36454F"/>
                </a:solidFill>
                <a:latin typeface="Yu Gothic UI"/>
              </a:rPr>
              <a:t>起動と画面構成</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ソフトの起動方法を説明します。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4937760" cy="1078992"/>
          </a:xfrm>
          <a:prstGeom prst="roundRect">
            <a:avLst>
              <a:gd name="adj" fmla="val 5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1792" y="1545336"/>
            <a:ext cx="548640" cy="548640"/>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545336"/>
            <a:ext cx="548640" cy="548640"/>
          </a:xfrm>
          <a:prstGeom prst="rect">
            <a:avLst/>
          </a:prstGeom>
          <a:noFill/>
        </p:spPr>
        <p:txBody>
          <a:bodyPr wrap="square" lIns="45720" tIns="18288" rIns="45720" bIns="18288" anchor="ctr">
            <a:spAutoFit/>
          </a:bodyPr>
          <a:lstStyle/>
          <a:p>
            <a:pPr algn="ctr">
              <a:lnSpc>
                <a:spcPct val="115000"/>
              </a:lnSpc>
            </a:pPr>
            <a:r>
              <a:rPr sz="2000" b="1">
                <a:solidFill>
                  <a:srgbClr val="FFFFFF"/>
                </a:solidFill>
                <a:latin typeface="Yu Gothic UI"/>
              </a:rPr>
              <a:t>1</a:t>
            </a:r>
          </a:p>
        </p:txBody>
      </p:sp>
      <p:sp>
        <p:nvSpPr>
          <p:cNvPr id="9" name="TextBox 8"/>
          <p:cNvSpPr txBox="1"/>
          <p:nvPr/>
        </p:nvSpPr>
        <p:spPr>
          <a:xfrm>
            <a:off x="1325880" y="1444752"/>
            <a:ext cx="3931920" cy="292608"/>
          </a:xfrm>
          <a:prstGeom prst="rect">
            <a:avLst/>
          </a:prstGeom>
          <a:noFill/>
        </p:spPr>
        <p:txBody>
          <a:bodyPr wrap="square" lIns="45720" tIns="18288" rIns="45720" bIns="18288" anchor="t">
            <a:spAutoFit/>
          </a:bodyPr>
          <a:lstStyle/>
          <a:p>
            <a:pPr algn="l">
              <a:lnSpc>
                <a:spcPct val="115000"/>
              </a:lnSpc>
            </a:pPr>
            <a:r>
              <a:rPr sz="1300" b="1">
                <a:solidFill>
                  <a:srgbClr val="3457D5"/>
                </a:solidFill>
                <a:latin typeface="Yu Gothic UI"/>
              </a:rPr>
              <a:t>アイコンをダブルクリック</a:t>
            </a:r>
          </a:p>
        </p:txBody>
      </p:sp>
      <p:sp>
        <p:nvSpPr>
          <p:cNvPr id="10" name="TextBox 9"/>
          <p:cNvSpPr txBox="1"/>
          <p:nvPr/>
        </p:nvSpPr>
        <p:spPr>
          <a:xfrm>
            <a:off x="1325880" y="1783080"/>
            <a:ext cx="3931920" cy="548640"/>
          </a:xfrm>
          <a:prstGeom prst="rect">
            <a:avLst/>
          </a:prstGeom>
          <a:noFill/>
        </p:spPr>
        <p:txBody>
          <a:bodyPr wrap="square" lIns="45720" tIns="18288" rIns="45720" bIns="18288" anchor="t">
            <a:spAutoFit/>
          </a:bodyPr>
          <a:lstStyle/>
          <a:p>
            <a:pPr algn="l">
              <a:lnSpc>
                <a:spcPct val="135000"/>
              </a:lnSpc>
            </a:pPr>
            <a:r>
              <a:rPr sz="1000" b="0">
                <a:solidFill>
                  <a:srgbClr val="36454F"/>
                </a:solidFill>
                <a:latin typeface="Yu Gothic UI"/>
              </a:rPr>
              <a:t>デスクトップにある「EA_CostManager」のアイコンをダブルクリックして起動します。</a:t>
            </a:r>
          </a:p>
        </p:txBody>
      </p:sp>
      <p:sp>
        <p:nvSpPr>
          <p:cNvPr id="11" name="Down Arrow 10"/>
          <p:cNvSpPr/>
          <p:nvPr/>
        </p:nvSpPr>
        <p:spPr>
          <a:xfrm>
            <a:off x="822960" y="2322576"/>
            <a:ext cx="164592" cy="164592"/>
          </a:xfrm>
          <a:prstGeom prst="downArrow">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57200" y="2478024"/>
            <a:ext cx="4937760" cy="1078992"/>
          </a:xfrm>
          <a:prstGeom prst="roundRect">
            <a:avLst>
              <a:gd name="adj" fmla="val 5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21792" y="2743200"/>
            <a:ext cx="548640" cy="548640"/>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1792" y="2743200"/>
            <a:ext cx="548640" cy="548640"/>
          </a:xfrm>
          <a:prstGeom prst="rect">
            <a:avLst/>
          </a:prstGeom>
          <a:noFill/>
        </p:spPr>
        <p:txBody>
          <a:bodyPr wrap="square" lIns="45720" tIns="18288" rIns="45720" bIns="18288" anchor="ctr">
            <a:spAutoFit/>
          </a:bodyPr>
          <a:lstStyle/>
          <a:p>
            <a:pPr algn="ctr">
              <a:lnSpc>
                <a:spcPct val="115000"/>
              </a:lnSpc>
            </a:pPr>
            <a:r>
              <a:rPr sz="2000" b="1">
                <a:solidFill>
                  <a:srgbClr val="FFFFFF"/>
                </a:solidFill>
                <a:latin typeface="Yu Gothic UI"/>
              </a:rPr>
              <a:t>2</a:t>
            </a:r>
          </a:p>
        </p:txBody>
      </p:sp>
      <p:sp>
        <p:nvSpPr>
          <p:cNvPr id="15" name="TextBox 14"/>
          <p:cNvSpPr txBox="1"/>
          <p:nvPr/>
        </p:nvSpPr>
        <p:spPr>
          <a:xfrm>
            <a:off x="1325880" y="2642616"/>
            <a:ext cx="3931920" cy="292608"/>
          </a:xfrm>
          <a:prstGeom prst="rect">
            <a:avLst/>
          </a:prstGeom>
          <a:noFill/>
        </p:spPr>
        <p:txBody>
          <a:bodyPr wrap="square" lIns="45720" tIns="18288" rIns="45720" bIns="18288" anchor="t">
            <a:spAutoFit/>
          </a:bodyPr>
          <a:lstStyle/>
          <a:p>
            <a:pPr algn="l">
              <a:lnSpc>
                <a:spcPct val="115000"/>
              </a:lnSpc>
            </a:pPr>
            <a:r>
              <a:rPr sz="1300" b="1">
                <a:solidFill>
                  <a:srgbClr val="3457D5"/>
                </a:solidFill>
                <a:latin typeface="Yu Gothic UI"/>
              </a:rPr>
              <a:t>（初回のみ）ユーザー登録</a:t>
            </a:r>
          </a:p>
        </p:txBody>
      </p:sp>
      <p:sp>
        <p:nvSpPr>
          <p:cNvPr id="16" name="TextBox 15"/>
          <p:cNvSpPr txBox="1"/>
          <p:nvPr/>
        </p:nvSpPr>
        <p:spPr>
          <a:xfrm>
            <a:off x="1325880" y="2980944"/>
            <a:ext cx="3931920" cy="548640"/>
          </a:xfrm>
          <a:prstGeom prst="rect">
            <a:avLst/>
          </a:prstGeom>
          <a:noFill/>
        </p:spPr>
        <p:txBody>
          <a:bodyPr wrap="square" lIns="45720" tIns="18288" rIns="45720" bIns="18288" anchor="t">
            <a:spAutoFit/>
          </a:bodyPr>
          <a:lstStyle/>
          <a:p>
            <a:pPr algn="l">
              <a:lnSpc>
                <a:spcPct val="135000"/>
              </a:lnSpc>
            </a:pPr>
            <a:r>
              <a:rPr sz="1000" b="0">
                <a:solidFill>
                  <a:srgbClr val="36454F"/>
                </a:solidFill>
                <a:latin typeface="Yu Gothic UI"/>
              </a:rPr>
              <a:t>初回起動時のみ、お名前を入力するダイアログが表示されるので、氏名を入力して「登録」を押してください。2回目以降は表示されません。</a:t>
            </a:r>
          </a:p>
        </p:txBody>
      </p:sp>
      <p:sp>
        <p:nvSpPr>
          <p:cNvPr id="17" name="Down Arrow 16"/>
          <p:cNvSpPr/>
          <p:nvPr/>
        </p:nvSpPr>
        <p:spPr>
          <a:xfrm>
            <a:off x="822960" y="3520440"/>
            <a:ext cx="164592" cy="164592"/>
          </a:xfrm>
          <a:prstGeom prst="downArrow">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57200" y="3675888"/>
            <a:ext cx="4937760" cy="1078992"/>
          </a:xfrm>
          <a:prstGeom prst="roundRect">
            <a:avLst>
              <a:gd name="adj" fmla="val 5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21792" y="3941064"/>
            <a:ext cx="548640" cy="548640"/>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1792" y="3941064"/>
            <a:ext cx="548640" cy="548640"/>
          </a:xfrm>
          <a:prstGeom prst="rect">
            <a:avLst/>
          </a:prstGeom>
          <a:noFill/>
        </p:spPr>
        <p:txBody>
          <a:bodyPr wrap="square" lIns="45720" tIns="18288" rIns="45720" bIns="18288" anchor="ctr">
            <a:spAutoFit/>
          </a:bodyPr>
          <a:lstStyle/>
          <a:p>
            <a:pPr algn="ctr">
              <a:lnSpc>
                <a:spcPct val="115000"/>
              </a:lnSpc>
            </a:pPr>
            <a:r>
              <a:rPr sz="2000" b="1">
                <a:solidFill>
                  <a:srgbClr val="FFFFFF"/>
                </a:solidFill>
                <a:latin typeface="Yu Gothic UI"/>
              </a:rPr>
              <a:t>3</a:t>
            </a:r>
          </a:p>
        </p:txBody>
      </p:sp>
      <p:sp>
        <p:nvSpPr>
          <p:cNvPr id="21" name="TextBox 20"/>
          <p:cNvSpPr txBox="1"/>
          <p:nvPr/>
        </p:nvSpPr>
        <p:spPr>
          <a:xfrm>
            <a:off x="1325880" y="3840480"/>
            <a:ext cx="3931920" cy="292608"/>
          </a:xfrm>
          <a:prstGeom prst="rect">
            <a:avLst/>
          </a:prstGeom>
          <a:noFill/>
        </p:spPr>
        <p:txBody>
          <a:bodyPr wrap="square" lIns="45720" tIns="18288" rIns="45720" bIns="18288" anchor="t">
            <a:spAutoFit/>
          </a:bodyPr>
          <a:lstStyle/>
          <a:p>
            <a:pPr algn="l">
              <a:lnSpc>
                <a:spcPct val="115000"/>
              </a:lnSpc>
            </a:pPr>
            <a:r>
              <a:rPr sz="1300" b="1">
                <a:solidFill>
                  <a:srgbClr val="3457D5"/>
                </a:solidFill>
                <a:latin typeface="Yu Gothic UI"/>
              </a:rPr>
              <a:t>メイン画面が表示されます</a:t>
            </a:r>
          </a:p>
        </p:txBody>
      </p:sp>
      <p:sp>
        <p:nvSpPr>
          <p:cNvPr id="22" name="TextBox 21"/>
          <p:cNvSpPr txBox="1"/>
          <p:nvPr/>
        </p:nvSpPr>
        <p:spPr>
          <a:xfrm>
            <a:off x="1325880" y="4178808"/>
            <a:ext cx="3931920" cy="221792"/>
          </a:xfrm>
          <a:prstGeom prst="rect">
            <a:avLst/>
          </a:prstGeom>
          <a:noFill/>
        </p:spPr>
        <p:txBody>
          <a:bodyPr wrap="square" lIns="45720" tIns="18288" rIns="45720" bIns="18288" anchor="t">
            <a:spAutoFit/>
          </a:bodyPr>
          <a:lstStyle/>
          <a:p>
            <a:pPr algn="l">
              <a:lnSpc>
                <a:spcPct val="135000"/>
              </a:lnSpc>
            </a:pPr>
            <a:r>
              <a:rPr sz="1000" b="0" dirty="0" err="1">
                <a:solidFill>
                  <a:srgbClr val="36454F"/>
                </a:solidFill>
                <a:latin typeface="Yu Gothic UI"/>
              </a:rPr>
              <a:t>登録後、メイン画面が開きます</a:t>
            </a:r>
            <a:r>
              <a:rPr sz="1000" b="0" dirty="0">
                <a:solidFill>
                  <a:srgbClr val="36454F"/>
                </a:solidFill>
                <a:latin typeface="Yu Gothic UI"/>
              </a:rPr>
              <a:t>。</a:t>
            </a:r>
          </a:p>
        </p:txBody>
      </p:sp>
      <p:sp>
        <p:nvSpPr>
          <p:cNvPr id="23" name="Rounded Rectangle 22"/>
          <p:cNvSpPr/>
          <p:nvPr/>
        </p:nvSpPr>
        <p:spPr>
          <a:xfrm>
            <a:off x="5623560" y="1280160"/>
            <a:ext cx="3154680" cy="1691640"/>
          </a:xfrm>
          <a:prstGeom prst="roundRect">
            <a:avLst>
              <a:gd name="adj" fmla="val 5000"/>
            </a:avLst>
          </a:prstGeom>
          <a:solidFill>
            <a:srgbClr val="FAFBFD"/>
          </a:solidFill>
          <a:ln w="19050">
            <a:solidFill>
              <a:srgbClr val="C43D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5623560" y="3063240"/>
            <a:ext cx="3154680" cy="1691640"/>
          </a:xfrm>
          <a:prstGeom prst="roundRect">
            <a:avLst>
              <a:gd name="adj" fmla="val 5000"/>
            </a:avLst>
          </a:prstGeom>
          <a:solidFill>
            <a:srgbClr val="FAFBFD"/>
          </a:solidFill>
          <a:ln w="19050">
            <a:solidFill>
              <a:srgbClr val="C43D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30" name="TextBox 29"/>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3 / 53</a:t>
            </a:r>
          </a:p>
        </p:txBody>
      </p:sp>
      <p:pic>
        <p:nvPicPr>
          <p:cNvPr id="34" name="図 33">
            <a:extLst>
              <a:ext uri="{FF2B5EF4-FFF2-40B4-BE49-F238E27FC236}">
                <a16:creationId xmlns:a16="http://schemas.microsoft.com/office/drawing/2014/main" id="{B39AC0D0-6720-9465-23A8-ED60E2CF50CA}"/>
              </a:ext>
            </a:extLst>
          </p:cNvPr>
          <p:cNvPicPr>
            <a:picLocks noChangeAspect="1"/>
          </p:cNvPicPr>
          <p:nvPr/>
        </p:nvPicPr>
        <p:blipFill>
          <a:blip r:embed="rId2"/>
          <a:stretch>
            <a:fillRect/>
          </a:stretch>
        </p:blipFill>
        <p:spPr>
          <a:xfrm>
            <a:off x="6420126" y="1326479"/>
            <a:ext cx="1611000" cy="1594891"/>
          </a:xfrm>
          <a:prstGeom prst="rect">
            <a:avLst/>
          </a:prstGeom>
        </p:spPr>
      </p:pic>
      <p:pic>
        <p:nvPicPr>
          <p:cNvPr id="36" name="図 35">
            <a:extLst>
              <a:ext uri="{FF2B5EF4-FFF2-40B4-BE49-F238E27FC236}">
                <a16:creationId xmlns:a16="http://schemas.microsoft.com/office/drawing/2014/main" id="{6125AA1B-9055-DFA5-A338-0BC0C6C48E61}"/>
              </a:ext>
            </a:extLst>
          </p:cNvPr>
          <p:cNvPicPr>
            <a:picLocks noChangeAspect="1"/>
          </p:cNvPicPr>
          <p:nvPr/>
        </p:nvPicPr>
        <p:blipFill>
          <a:blip r:embed="rId3"/>
          <a:srcRect t="1412"/>
          <a:stretch>
            <a:fillRect/>
          </a:stretch>
        </p:blipFill>
        <p:spPr>
          <a:xfrm>
            <a:off x="6368479" y="3115884"/>
            <a:ext cx="1836353" cy="158937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01</a:t>
            </a:r>
            <a:r>
              <a:rPr sz="2000" b="0">
                <a:solidFill>
                  <a:srgbClr val="3457D5"/>
                </a:solidFill>
                <a:latin typeface="Yu Gothic UI"/>
              </a:rPr>
              <a:t>　</a:t>
            </a:r>
            <a:r>
              <a:rPr sz="2000" b="1">
                <a:solidFill>
                  <a:srgbClr val="36454F"/>
                </a:solidFill>
                <a:latin typeface="Yu Gothic UI"/>
              </a:rPr>
              <a:t>起動と画面構成</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メイン画面は「サイドバー」「ヘッダーバー」「コンテンツ領域」の3つの部品で構成されます。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4754880" cy="3108960"/>
          </a:xfrm>
          <a:prstGeom prst="roundRect">
            <a:avLst>
              <a:gd name="adj" fmla="val 3000"/>
            </a:avLst>
          </a:prstGeom>
          <a:solidFill>
            <a:srgbClr val="FFFFFF"/>
          </a:solidFill>
          <a:ln w="12700">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4754880" cy="41148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280160"/>
            <a:ext cx="4754880" cy="411480"/>
          </a:xfrm>
          <a:prstGeom prst="rect">
            <a:avLst/>
          </a:prstGeom>
          <a:noFill/>
        </p:spPr>
        <p:txBody>
          <a:bodyPr wrap="square" lIns="45720" tIns="18288" rIns="45720" bIns="18288" anchor="ctr">
            <a:spAutoFit/>
          </a:bodyPr>
          <a:lstStyle/>
          <a:p>
            <a:pPr algn="l">
              <a:lnSpc>
                <a:spcPct val="115000"/>
              </a:lnSpc>
            </a:pPr>
            <a:r>
              <a:rPr sz="1000" b="1">
                <a:solidFill>
                  <a:srgbClr val="FFFFFF"/>
                </a:solidFill>
                <a:latin typeface="Yu Gothic UI"/>
              </a:rPr>
              <a:t>  ① ヘッダーバー（ユーザー名・お知らせ・更新通知）</a:t>
            </a:r>
          </a:p>
        </p:txBody>
      </p:sp>
      <p:sp>
        <p:nvSpPr>
          <p:cNvPr id="9" name="Rectangle 8"/>
          <p:cNvSpPr/>
          <p:nvPr/>
        </p:nvSpPr>
        <p:spPr>
          <a:xfrm>
            <a:off x="457200" y="1691640"/>
            <a:ext cx="1325880" cy="269748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737360"/>
            <a:ext cx="1325880" cy="228600"/>
          </a:xfrm>
          <a:prstGeom prst="rect">
            <a:avLst/>
          </a:prstGeom>
          <a:noFill/>
        </p:spPr>
        <p:txBody>
          <a:bodyPr wrap="square" lIns="45720" tIns="18288" rIns="45720" bIns="18288" anchor="t">
            <a:spAutoFit/>
          </a:bodyPr>
          <a:lstStyle/>
          <a:p>
            <a:pPr algn="l">
              <a:lnSpc>
                <a:spcPct val="115000"/>
              </a:lnSpc>
            </a:pPr>
            <a:r>
              <a:rPr sz="900" b="1">
                <a:solidFill>
                  <a:srgbClr val="CADCFC"/>
                </a:solidFill>
                <a:latin typeface="Yu Gothic UI"/>
              </a:rPr>
              <a:t>② サイドバー</a:t>
            </a:r>
          </a:p>
        </p:txBody>
      </p:sp>
      <p:sp>
        <p:nvSpPr>
          <p:cNvPr id="11" name="Rounded Rectangle 10"/>
          <p:cNvSpPr/>
          <p:nvPr/>
        </p:nvSpPr>
        <p:spPr>
          <a:xfrm>
            <a:off x="548640" y="2057400"/>
            <a:ext cx="1143000" cy="301752"/>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2057400"/>
            <a:ext cx="1143000" cy="301752"/>
          </a:xfrm>
          <a:prstGeom prst="rect">
            <a:avLst/>
          </a:prstGeom>
          <a:noFill/>
        </p:spPr>
        <p:txBody>
          <a:bodyPr wrap="square" lIns="45720" tIns="18288" rIns="45720" bIns="18288" anchor="ctr">
            <a:spAutoFit/>
          </a:bodyPr>
          <a:lstStyle/>
          <a:p>
            <a:pPr algn="ctr">
              <a:lnSpc>
                <a:spcPct val="115000"/>
              </a:lnSpc>
            </a:pPr>
            <a:r>
              <a:rPr sz="950" b="0">
                <a:solidFill>
                  <a:srgbClr val="CADCFC"/>
                </a:solidFill>
                <a:latin typeface="Yu Gothic UI"/>
              </a:rPr>
              <a:t>ダッシュボード</a:t>
            </a:r>
          </a:p>
        </p:txBody>
      </p:sp>
      <p:sp>
        <p:nvSpPr>
          <p:cNvPr id="13" name="Rounded Rectangle 12"/>
          <p:cNvSpPr/>
          <p:nvPr/>
        </p:nvSpPr>
        <p:spPr>
          <a:xfrm>
            <a:off x="548640" y="2441448"/>
            <a:ext cx="1143000" cy="301752"/>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2441448"/>
            <a:ext cx="1143000" cy="301752"/>
          </a:xfrm>
          <a:prstGeom prst="rect">
            <a:avLst/>
          </a:prstGeom>
          <a:noFill/>
        </p:spPr>
        <p:txBody>
          <a:bodyPr wrap="square" lIns="45720" tIns="18288" rIns="45720" bIns="18288" anchor="ctr">
            <a:spAutoFit/>
          </a:bodyPr>
          <a:lstStyle/>
          <a:p>
            <a:pPr algn="ctr">
              <a:lnSpc>
                <a:spcPct val="115000"/>
              </a:lnSpc>
            </a:pPr>
            <a:r>
              <a:rPr sz="950" b="0">
                <a:solidFill>
                  <a:srgbClr val="CADCFC"/>
                </a:solidFill>
                <a:latin typeface="Yu Gothic UI"/>
              </a:rPr>
              <a:t>原価集計</a:t>
            </a:r>
          </a:p>
        </p:txBody>
      </p:sp>
      <p:sp>
        <p:nvSpPr>
          <p:cNvPr id="15" name="Rounded Rectangle 14"/>
          <p:cNvSpPr/>
          <p:nvPr/>
        </p:nvSpPr>
        <p:spPr>
          <a:xfrm>
            <a:off x="548640" y="2825496"/>
            <a:ext cx="1143000" cy="301752"/>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2825496"/>
            <a:ext cx="1143000" cy="301752"/>
          </a:xfrm>
          <a:prstGeom prst="rect">
            <a:avLst/>
          </a:prstGeom>
          <a:noFill/>
        </p:spPr>
        <p:txBody>
          <a:bodyPr wrap="square" lIns="45720" tIns="18288" rIns="45720" bIns="18288" anchor="ctr">
            <a:spAutoFit/>
          </a:bodyPr>
          <a:lstStyle/>
          <a:p>
            <a:pPr algn="ctr">
              <a:lnSpc>
                <a:spcPct val="115000"/>
              </a:lnSpc>
            </a:pPr>
            <a:r>
              <a:rPr sz="950" b="0">
                <a:solidFill>
                  <a:srgbClr val="CADCFC"/>
                </a:solidFill>
                <a:latin typeface="Yu Gothic UI"/>
              </a:rPr>
              <a:t>日報取込</a:t>
            </a:r>
          </a:p>
        </p:txBody>
      </p:sp>
      <p:sp>
        <p:nvSpPr>
          <p:cNvPr id="17" name="Rounded Rectangle 16"/>
          <p:cNvSpPr/>
          <p:nvPr/>
        </p:nvSpPr>
        <p:spPr>
          <a:xfrm>
            <a:off x="548640" y="3209544"/>
            <a:ext cx="1143000" cy="301752"/>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3209544"/>
            <a:ext cx="1143000" cy="301752"/>
          </a:xfrm>
          <a:prstGeom prst="rect">
            <a:avLst/>
          </a:prstGeom>
          <a:noFill/>
        </p:spPr>
        <p:txBody>
          <a:bodyPr wrap="square" lIns="45720" tIns="18288" rIns="45720" bIns="18288" anchor="ctr">
            <a:spAutoFit/>
          </a:bodyPr>
          <a:lstStyle/>
          <a:p>
            <a:pPr algn="ctr">
              <a:lnSpc>
                <a:spcPct val="115000"/>
              </a:lnSpc>
            </a:pPr>
            <a:r>
              <a:rPr sz="950" b="0">
                <a:solidFill>
                  <a:srgbClr val="CADCFC"/>
                </a:solidFill>
                <a:latin typeface="Yu Gothic UI"/>
              </a:rPr>
              <a:t>設定</a:t>
            </a:r>
          </a:p>
        </p:txBody>
      </p:sp>
      <p:sp>
        <p:nvSpPr>
          <p:cNvPr id="19" name="TextBox 18"/>
          <p:cNvSpPr txBox="1"/>
          <p:nvPr/>
        </p:nvSpPr>
        <p:spPr>
          <a:xfrm>
            <a:off x="548640" y="4023360"/>
            <a:ext cx="1143000" cy="274320"/>
          </a:xfrm>
          <a:prstGeom prst="rect">
            <a:avLst/>
          </a:prstGeom>
          <a:noFill/>
        </p:spPr>
        <p:txBody>
          <a:bodyPr wrap="square" lIns="45720" tIns="18288" rIns="45720" bIns="18288" anchor="ctr">
            <a:spAutoFit/>
          </a:bodyPr>
          <a:lstStyle/>
          <a:p>
            <a:pPr algn="ctr">
              <a:lnSpc>
                <a:spcPct val="115000"/>
              </a:lnSpc>
            </a:pPr>
            <a:r>
              <a:rPr sz="1000" b="1">
                <a:solidFill>
                  <a:srgbClr val="CADCFC"/>
                </a:solidFill>
                <a:latin typeface="Yu Gothic UI"/>
              </a:rPr>
              <a:t>v1.0.1</a:t>
            </a:r>
          </a:p>
        </p:txBody>
      </p:sp>
      <p:sp>
        <p:nvSpPr>
          <p:cNvPr id="20" name="Rectangle 19"/>
          <p:cNvSpPr/>
          <p:nvPr/>
        </p:nvSpPr>
        <p:spPr>
          <a:xfrm>
            <a:off x="1783080" y="1691640"/>
            <a:ext cx="3429000" cy="2697480"/>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783080" y="1691640"/>
            <a:ext cx="3429000" cy="2697480"/>
          </a:xfrm>
          <a:prstGeom prst="rect">
            <a:avLst/>
          </a:prstGeom>
          <a:noFill/>
        </p:spPr>
        <p:txBody>
          <a:bodyPr wrap="square" lIns="45720" tIns="18288" rIns="45720" bIns="18288" anchor="ctr">
            <a:spAutoFit/>
          </a:bodyPr>
          <a:lstStyle/>
          <a:p>
            <a:pPr algn="ctr">
              <a:lnSpc>
                <a:spcPct val="130000"/>
              </a:lnSpc>
            </a:pPr>
            <a:r>
              <a:rPr sz="1100" b="1">
                <a:solidFill>
                  <a:srgbClr val="1E3A8A"/>
                </a:solidFill>
                <a:latin typeface="Yu Gothic UI"/>
              </a:rPr>
              <a:t>③ コンテンツ領域</a:t>
            </a:r>
          </a:p>
          <a:p>
            <a:pPr algn="ctr">
              <a:lnSpc>
                <a:spcPct val="130000"/>
              </a:lnSpc>
            </a:pPr>
            <a:endParaRPr sz="1100" b="1">
              <a:solidFill>
                <a:srgbClr val="1E3A8A"/>
              </a:solidFill>
              <a:latin typeface="Yu Gothic UI"/>
            </a:endParaRPr>
          </a:p>
          <a:p>
            <a:pPr algn="ctr">
              <a:lnSpc>
                <a:spcPct val="130000"/>
              </a:lnSpc>
            </a:pPr>
            <a:r>
              <a:rPr sz="1100" b="1">
                <a:solidFill>
                  <a:srgbClr val="1E3A8A"/>
                </a:solidFill>
                <a:latin typeface="Yu Gothic UI"/>
              </a:rPr>
              <a:t>選択したメニューに応じて、</a:t>
            </a:r>
          </a:p>
          <a:p>
            <a:pPr algn="ctr">
              <a:lnSpc>
                <a:spcPct val="130000"/>
              </a:lnSpc>
            </a:pPr>
            <a:r>
              <a:rPr sz="1100" b="1">
                <a:solidFill>
                  <a:srgbClr val="1E3A8A"/>
                </a:solidFill>
                <a:latin typeface="Yu Gothic UI"/>
              </a:rPr>
              <a:t>各機能のページが表示されます</a:t>
            </a:r>
          </a:p>
        </p:txBody>
      </p:sp>
      <p:sp>
        <p:nvSpPr>
          <p:cNvPr id="22" name="TextBox 21"/>
          <p:cNvSpPr txBox="1"/>
          <p:nvPr/>
        </p:nvSpPr>
        <p:spPr>
          <a:xfrm>
            <a:off x="5486400" y="1280160"/>
            <a:ext cx="3291840" cy="292608"/>
          </a:xfrm>
          <a:prstGeom prst="rect">
            <a:avLst/>
          </a:prstGeom>
          <a:noFill/>
        </p:spPr>
        <p:txBody>
          <a:bodyPr wrap="square" lIns="45720" tIns="18288" rIns="45720" bIns="18288" anchor="t">
            <a:spAutoFit/>
          </a:bodyPr>
          <a:lstStyle/>
          <a:p>
            <a:pPr algn="l">
              <a:lnSpc>
                <a:spcPct val="115000"/>
              </a:lnSpc>
            </a:pPr>
            <a:r>
              <a:rPr sz="1200" b="1">
                <a:solidFill>
                  <a:srgbClr val="3457D5"/>
                </a:solidFill>
                <a:latin typeface="Yu Gothic UI"/>
              </a:rPr>
              <a:t>① ヘッダーバー</a:t>
            </a:r>
          </a:p>
        </p:txBody>
      </p:sp>
      <p:sp>
        <p:nvSpPr>
          <p:cNvPr id="23" name="TextBox 22"/>
          <p:cNvSpPr txBox="1"/>
          <p:nvPr/>
        </p:nvSpPr>
        <p:spPr>
          <a:xfrm>
            <a:off x="5486400" y="1572768"/>
            <a:ext cx="3291840" cy="777240"/>
          </a:xfrm>
          <a:prstGeom prst="rect">
            <a:avLst/>
          </a:prstGeom>
          <a:noFill/>
        </p:spPr>
        <p:txBody>
          <a:bodyPr wrap="square" lIns="45720" tIns="18288" rIns="45720" bIns="18288" anchor="t">
            <a:spAutoFit/>
          </a:bodyPr>
          <a:lstStyle/>
          <a:p>
            <a:pPr algn="l">
              <a:lnSpc>
                <a:spcPct val="130000"/>
              </a:lnSpc>
            </a:pPr>
            <a:r>
              <a:rPr sz="1050" b="0">
                <a:solidFill>
                  <a:srgbClr val="36454F"/>
                </a:solidFill>
                <a:latin typeface="Yu Gothic UI"/>
              </a:rPr>
              <a:t>画面の最上部にあり、ログイン中のユーザー名・お知らせ・アップデート通知バナーが表示されます。</a:t>
            </a:r>
          </a:p>
        </p:txBody>
      </p:sp>
      <p:sp>
        <p:nvSpPr>
          <p:cNvPr id="24" name="TextBox 23"/>
          <p:cNvSpPr txBox="1"/>
          <p:nvPr/>
        </p:nvSpPr>
        <p:spPr>
          <a:xfrm>
            <a:off x="5486400" y="2359152"/>
            <a:ext cx="3291840" cy="292608"/>
          </a:xfrm>
          <a:prstGeom prst="rect">
            <a:avLst/>
          </a:prstGeom>
          <a:noFill/>
        </p:spPr>
        <p:txBody>
          <a:bodyPr wrap="square" lIns="45720" tIns="18288" rIns="45720" bIns="18288" anchor="t">
            <a:spAutoFit/>
          </a:bodyPr>
          <a:lstStyle/>
          <a:p>
            <a:pPr algn="l">
              <a:lnSpc>
                <a:spcPct val="115000"/>
              </a:lnSpc>
            </a:pPr>
            <a:r>
              <a:rPr sz="1200" b="1">
                <a:solidFill>
                  <a:srgbClr val="3457D5"/>
                </a:solidFill>
                <a:latin typeface="Yu Gothic UI"/>
              </a:rPr>
              <a:t>② サイドバー</a:t>
            </a:r>
          </a:p>
        </p:txBody>
      </p:sp>
      <p:sp>
        <p:nvSpPr>
          <p:cNvPr id="25" name="TextBox 24"/>
          <p:cNvSpPr txBox="1"/>
          <p:nvPr/>
        </p:nvSpPr>
        <p:spPr>
          <a:xfrm>
            <a:off x="5486400" y="2651760"/>
            <a:ext cx="3291840" cy="777240"/>
          </a:xfrm>
          <a:prstGeom prst="rect">
            <a:avLst/>
          </a:prstGeom>
          <a:noFill/>
        </p:spPr>
        <p:txBody>
          <a:bodyPr wrap="square" lIns="45720" tIns="18288" rIns="45720" bIns="18288" anchor="t">
            <a:spAutoFit/>
          </a:bodyPr>
          <a:lstStyle/>
          <a:p>
            <a:pPr algn="l">
              <a:lnSpc>
                <a:spcPct val="130000"/>
              </a:lnSpc>
            </a:pPr>
            <a:r>
              <a:rPr sz="1050" b="0">
                <a:solidFill>
                  <a:srgbClr val="36454F"/>
                </a:solidFill>
                <a:latin typeface="Yu Gothic UI"/>
              </a:rPr>
              <a:t>画面左側のメニューエリアです。ボタンをクリックすると、コンテンツ領域の表示が切り替わります。</a:t>
            </a:r>
          </a:p>
          <a:p>
            <a:pPr algn="l">
              <a:lnSpc>
                <a:spcPct val="130000"/>
              </a:lnSpc>
            </a:pPr>
            <a:r>
              <a:rPr sz="1050" b="0">
                <a:solidFill>
                  <a:srgbClr val="36454F"/>
                </a:solidFill>
                <a:latin typeface="Yu Gothic UI"/>
              </a:rPr>
              <a:t>左下に現在のバージョンが自動で表示されます。</a:t>
            </a:r>
          </a:p>
        </p:txBody>
      </p:sp>
      <p:sp>
        <p:nvSpPr>
          <p:cNvPr id="26" name="TextBox 25"/>
          <p:cNvSpPr txBox="1"/>
          <p:nvPr/>
        </p:nvSpPr>
        <p:spPr>
          <a:xfrm>
            <a:off x="5486400" y="3438144"/>
            <a:ext cx="3291840" cy="292608"/>
          </a:xfrm>
          <a:prstGeom prst="rect">
            <a:avLst/>
          </a:prstGeom>
          <a:noFill/>
        </p:spPr>
        <p:txBody>
          <a:bodyPr wrap="square" lIns="45720" tIns="18288" rIns="45720" bIns="18288" anchor="t">
            <a:spAutoFit/>
          </a:bodyPr>
          <a:lstStyle/>
          <a:p>
            <a:pPr algn="l">
              <a:lnSpc>
                <a:spcPct val="115000"/>
              </a:lnSpc>
            </a:pPr>
            <a:r>
              <a:rPr sz="1200" b="1">
                <a:solidFill>
                  <a:srgbClr val="3457D5"/>
                </a:solidFill>
                <a:latin typeface="Yu Gothic UI"/>
              </a:rPr>
              <a:t>③ コンテンツ領域</a:t>
            </a:r>
          </a:p>
        </p:txBody>
      </p:sp>
      <p:sp>
        <p:nvSpPr>
          <p:cNvPr id="27" name="TextBox 26"/>
          <p:cNvSpPr txBox="1"/>
          <p:nvPr/>
        </p:nvSpPr>
        <p:spPr>
          <a:xfrm>
            <a:off x="5486400" y="3730752"/>
            <a:ext cx="3291840" cy="777240"/>
          </a:xfrm>
          <a:prstGeom prst="rect">
            <a:avLst/>
          </a:prstGeom>
          <a:noFill/>
        </p:spPr>
        <p:txBody>
          <a:bodyPr wrap="square" lIns="45720" tIns="18288" rIns="45720" bIns="18288" anchor="t">
            <a:spAutoFit/>
          </a:bodyPr>
          <a:lstStyle/>
          <a:p>
            <a:pPr algn="l">
              <a:lnSpc>
                <a:spcPct val="130000"/>
              </a:lnSpc>
            </a:pPr>
            <a:r>
              <a:rPr sz="1050" b="0">
                <a:solidFill>
                  <a:srgbClr val="36454F"/>
                </a:solidFill>
                <a:latin typeface="Yu Gothic UI"/>
              </a:rPr>
              <a:t>サイドバーで選択したメニューに応じて、各機能のページが表示される作業エリアです。</a:t>
            </a:r>
          </a:p>
        </p:txBody>
      </p:sp>
      <p:sp>
        <p:nvSpPr>
          <p:cNvPr id="28" name="TextBox 27"/>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29" name="TextBox 28"/>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4 / 53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01</a:t>
            </a:r>
            <a:r>
              <a:rPr sz="2000" b="0">
                <a:solidFill>
                  <a:srgbClr val="3457D5"/>
                </a:solidFill>
                <a:latin typeface="Yu Gothic UI"/>
              </a:rPr>
              <a:t>　</a:t>
            </a:r>
            <a:r>
              <a:rPr sz="2000" b="1">
                <a:solidFill>
                  <a:srgbClr val="36454F"/>
                </a:solidFill>
                <a:latin typeface="Yu Gothic UI"/>
              </a:rPr>
              <a:t>起動と画面構成</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サイドバーには4つのメニューがあります。クリックすると各機能の画面が開きます。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4114800" cy="160020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73152" cy="160020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99032"/>
            <a:ext cx="3749040" cy="292608"/>
          </a:xfrm>
          <a:prstGeom prst="rect">
            <a:avLst/>
          </a:prstGeom>
          <a:noFill/>
        </p:spPr>
        <p:txBody>
          <a:bodyPr wrap="square" lIns="45720" tIns="18288" rIns="45720" bIns="18288" anchor="t">
            <a:spAutoFit/>
          </a:bodyPr>
          <a:lstStyle/>
          <a:p>
            <a:pPr algn="l">
              <a:lnSpc>
                <a:spcPct val="115000"/>
              </a:lnSpc>
            </a:pPr>
            <a:r>
              <a:rPr sz="1400" b="1">
                <a:solidFill>
                  <a:srgbClr val="3457D5"/>
                </a:solidFill>
                <a:latin typeface="Yu Gothic UI"/>
              </a:rPr>
              <a:t>ダッシュボード</a:t>
            </a:r>
          </a:p>
        </p:txBody>
      </p:sp>
      <p:sp>
        <p:nvSpPr>
          <p:cNvPr id="9" name="TextBox 8"/>
          <p:cNvSpPr txBox="1"/>
          <p:nvPr/>
        </p:nvSpPr>
        <p:spPr>
          <a:xfrm>
            <a:off x="685800" y="1700784"/>
            <a:ext cx="3749040" cy="274320"/>
          </a:xfrm>
          <a:prstGeom prst="rect">
            <a:avLst/>
          </a:prstGeom>
          <a:noFill/>
        </p:spPr>
        <p:txBody>
          <a:bodyPr wrap="square" lIns="45720" tIns="18288" rIns="45720" bIns="18288" anchor="t">
            <a:spAutoFit/>
          </a:bodyPr>
          <a:lstStyle/>
          <a:p>
            <a:pPr algn="l">
              <a:lnSpc>
                <a:spcPct val="115000"/>
              </a:lnSpc>
            </a:pPr>
            <a:r>
              <a:rPr sz="1050" b="1">
                <a:solidFill>
                  <a:srgbClr val="36454F"/>
                </a:solidFill>
                <a:latin typeface="Yu Gothic UI"/>
              </a:rPr>
              <a:t>起動時に最初に表示される画面です。</a:t>
            </a:r>
          </a:p>
        </p:txBody>
      </p:sp>
      <p:sp>
        <p:nvSpPr>
          <p:cNvPr id="10" name="TextBox 9"/>
          <p:cNvSpPr txBox="1"/>
          <p:nvPr/>
        </p:nvSpPr>
        <p:spPr>
          <a:xfrm>
            <a:off x="685800" y="1993392"/>
            <a:ext cx="3749040" cy="822960"/>
          </a:xfrm>
          <a:prstGeom prst="rect">
            <a:avLst/>
          </a:prstGeom>
          <a:noFill/>
        </p:spPr>
        <p:txBody>
          <a:bodyPr wrap="square" lIns="45720" tIns="18288" rIns="45720" bIns="18288" anchor="t">
            <a:spAutoFit/>
          </a:bodyPr>
          <a:lstStyle/>
          <a:p>
            <a:pPr algn="l">
              <a:lnSpc>
                <a:spcPct val="130000"/>
              </a:lnSpc>
            </a:pPr>
            <a:r>
              <a:rPr sz="1000" b="0">
                <a:solidFill>
                  <a:srgbClr val="36454F"/>
                </a:solidFill>
                <a:latin typeface="Yu Gothic UI"/>
              </a:rPr>
              <a:t>お知らせ・操作履歴・日報読込履歴を確認できます。</a:t>
            </a:r>
          </a:p>
          <a:p>
            <a:pPr algn="l">
              <a:lnSpc>
                <a:spcPct val="130000"/>
              </a:lnSpc>
            </a:pPr>
            <a:r>
              <a:rPr sz="1000" b="0">
                <a:solidFill>
                  <a:srgbClr val="36454F"/>
                </a:solidFill>
                <a:latin typeface="Yu Gothic UI"/>
              </a:rPr>
              <a:t>60秒ごとに自動更新されます。</a:t>
            </a:r>
          </a:p>
        </p:txBody>
      </p:sp>
      <p:sp>
        <p:nvSpPr>
          <p:cNvPr id="11" name="Rounded Rectangle 10"/>
          <p:cNvSpPr/>
          <p:nvPr/>
        </p:nvSpPr>
        <p:spPr>
          <a:xfrm>
            <a:off x="4709160" y="1280160"/>
            <a:ext cx="4114800" cy="160020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709160" y="1280160"/>
            <a:ext cx="73152" cy="160020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937760" y="1399032"/>
            <a:ext cx="3749040" cy="292608"/>
          </a:xfrm>
          <a:prstGeom prst="rect">
            <a:avLst/>
          </a:prstGeom>
          <a:noFill/>
        </p:spPr>
        <p:txBody>
          <a:bodyPr wrap="square" lIns="45720" tIns="18288" rIns="45720" bIns="18288" anchor="t">
            <a:spAutoFit/>
          </a:bodyPr>
          <a:lstStyle/>
          <a:p>
            <a:pPr algn="l">
              <a:lnSpc>
                <a:spcPct val="115000"/>
              </a:lnSpc>
            </a:pPr>
            <a:r>
              <a:rPr sz="1400" b="1">
                <a:solidFill>
                  <a:srgbClr val="3457D5"/>
                </a:solidFill>
                <a:latin typeface="Yu Gothic UI"/>
              </a:rPr>
              <a:t>原価集計</a:t>
            </a:r>
          </a:p>
        </p:txBody>
      </p:sp>
      <p:sp>
        <p:nvSpPr>
          <p:cNvPr id="14" name="TextBox 13"/>
          <p:cNvSpPr txBox="1"/>
          <p:nvPr/>
        </p:nvSpPr>
        <p:spPr>
          <a:xfrm>
            <a:off x="4937760" y="1700784"/>
            <a:ext cx="3749040" cy="274320"/>
          </a:xfrm>
          <a:prstGeom prst="rect">
            <a:avLst/>
          </a:prstGeom>
          <a:noFill/>
        </p:spPr>
        <p:txBody>
          <a:bodyPr wrap="square" lIns="45720" tIns="18288" rIns="45720" bIns="18288" anchor="t">
            <a:spAutoFit/>
          </a:bodyPr>
          <a:lstStyle/>
          <a:p>
            <a:pPr algn="l">
              <a:lnSpc>
                <a:spcPct val="115000"/>
              </a:lnSpc>
            </a:pPr>
            <a:r>
              <a:rPr sz="1050" b="1">
                <a:solidFill>
                  <a:srgbClr val="36454F"/>
                </a:solidFill>
                <a:latin typeface="Yu Gothic UI"/>
              </a:rPr>
              <a:t>現場ごとの原価を確認・編集する画面です。</a:t>
            </a:r>
          </a:p>
        </p:txBody>
      </p:sp>
      <p:sp>
        <p:nvSpPr>
          <p:cNvPr id="15" name="TextBox 14"/>
          <p:cNvSpPr txBox="1"/>
          <p:nvPr/>
        </p:nvSpPr>
        <p:spPr>
          <a:xfrm>
            <a:off x="4937760" y="1993392"/>
            <a:ext cx="3749040" cy="822960"/>
          </a:xfrm>
          <a:prstGeom prst="rect">
            <a:avLst/>
          </a:prstGeom>
          <a:noFill/>
        </p:spPr>
        <p:txBody>
          <a:bodyPr wrap="square" lIns="45720" tIns="18288" rIns="45720" bIns="18288" anchor="t">
            <a:spAutoFit/>
          </a:bodyPr>
          <a:lstStyle/>
          <a:p>
            <a:pPr algn="l">
              <a:lnSpc>
                <a:spcPct val="130000"/>
              </a:lnSpc>
            </a:pPr>
            <a:r>
              <a:rPr sz="1000" b="0">
                <a:solidFill>
                  <a:srgbClr val="36454F"/>
                </a:solidFill>
                <a:latin typeface="Yu Gothic UI"/>
              </a:rPr>
              <a:t>現場タブで現場を選択すると、年度・月度ごとに集計された原価が表示されます。</a:t>
            </a:r>
          </a:p>
          <a:p>
            <a:pPr algn="l">
              <a:lnSpc>
                <a:spcPct val="130000"/>
              </a:lnSpc>
            </a:pPr>
            <a:r>
              <a:rPr sz="1000" b="0">
                <a:solidFill>
                  <a:srgbClr val="36454F"/>
                </a:solidFill>
                <a:latin typeface="Yu Gothic UI"/>
              </a:rPr>
              <a:t>絞り込みタブで条件を絞って確認できます。</a:t>
            </a:r>
          </a:p>
        </p:txBody>
      </p:sp>
      <p:sp>
        <p:nvSpPr>
          <p:cNvPr id="16" name="Rounded Rectangle 15"/>
          <p:cNvSpPr/>
          <p:nvPr/>
        </p:nvSpPr>
        <p:spPr>
          <a:xfrm>
            <a:off x="457200" y="2999232"/>
            <a:ext cx="4114800" cy="160020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2999232"/>
            <a:ext cx="73152" cy="160020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 y="3118104"/>
            <a:ext cx="3749040" cy="292608"/>
          </a:xfrm>
          <a:prstGeom prst="rect">
            <a:avLst/>
          </a:prstGeom>
          <a:noFill/>
        </p:spPr>
        <p:txBody>
          <a:bodyPr wrap="square" lIns="45720" tIns="18288" rIns="45720" bIns="18288" anchor="t">
            <a:spAutoFit/>
          </a:bodyPr>
          <a:lstStyle/>
          <a:p>
            <a:pPr algn="l">
              <a:lnSpc>
                <a:spcPct val="115000"/>
              </a:lnSpc>
            </a:pPr>
            <a:r>
              <a:rPr sz="1400" b="1">
                <a:solidFill>
                  <a:srgbClr val="3457D5"/>
                </a:solidFill>
                <a:latin typeface="Yu Gothic UI"/>
              </a:rPr>
              <a:t>日報取込</a:t>
            </a:r>
          </a:p>
        </p:txBody>
      </p:sp>
      <p:sp>
        <p:nvSpPr>
          <p:cNvPr id="19" name="TextBox 18"/>
          <p:cNvSpPr txBox="1"/>
          <p:nvPr/>
        </p:nvSpPr>
        <p:spPr>
          <a:xfrm>
            <a:off x="685800" y="3419856"/>
            <a:ext cx="3749040" cy="274320"/>
          </a:xfrm>
          <a:prstGeom prst="rect">
            <a:avLst/>
          </a:prstGeom>
          <a:noFill/>
        </p:spPr>
        <p:txBody>
          <a:bodyPr wrap="square" lIns="45720" tIns="18288" rIns="45720" bIns="18288" anchor="t">
            <a:spAutoFit/>
          </a:bodyPr>
          <a:lstStyle/>
          <a:p>
            <a:pPr algn="l">
              <a:lnSpc>
                <a:spcPct val="115000"/>
              </a:lnSpc>
            </a:pPr>
            <a:r>
              <a:rPr sz="1050" b="1">
                <a:solidFill>
                  <a:srgbClr val="36454F"/>
                </a:solidFill>
                <a:latin typeface="Yu Gothic UI"/>
              </a:rPr>
              <a:t>日報のExcelファイルを読み込む画面です。</a:t>
            </a:r>
          </a:p>
        </p:txBody>
      </p:sp>
      <p:sp>
        <p:nvSpPr>
          <p:cNvPr id="20" name="TextBox 19"/>
          <p:cNvSpPr txBox="1"/>
          <p:nvPr/>
        </p:nvSpPr>
        <p:spPr>
          <a:xfrm>
            <a:off x="685800" y="3712464"/>
            <a:ext cx="3749040" cy="822960"/>
          </a:xfrm>
          <a:prstGeom prst="rect">
            <a:avLst/>
          </a:prstGeom>
          <a:noFill/>
        </p:spPr>
        <p:txBody>
          <a:bodyPr wrap="square" lIns="45720" tIns="18288" rIns="45720" bIns="18288" anchor="t">
            <a:spAutoFit/>
          </a:bodyPr>
          <a:lstStyle/>
          <a:p>
            <a:pPr algn="l">
              <a:lnSpc>
                <a:spcPct val="130000"/>
              </a:lnSpc>
            </a:pPr>
            <a:r>
              <a:rPr sz="1000" b="0">
                <a:solidFill>
                  <a:srgbClr val="36454F"/>
                </a:solidFill>
                <a:latin typeface="Yu Gothic UI"/>
              </a:rPr>
              <a:t>ファイルを選択して取込ボタンを押すと、原価が自動で集計されてDBに保存されます。</a:t>
            </a:r>
          </a:p>
        </p:txBody>
      </p:sp>
      <p:sp>
        <p:nvSpPr>
          <p:cNvPr id="21" name="Rounded Rectangle 20"/>
          <p:cNvSpPr/>
          <p:nvPr/>
        </p:nvSpPr>
        <p:spPr>
          <a:xfrm>
            <a:off x="4709160" y="2999232"/>
            <a:ext cx="4114800" cy="160020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709160" y="2999232"/>
            <a:ext cx="73152" cy="160020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937760" y="3118104"/>
            <a:ext cx="3749040" cy="292608"/>
          </a:xfrm>
          <a:prstGeom prst="rect">
            <a:avLst/>
          </a:prstGeom>
          <a:noFill/>
        </p:spPr>
        <p:txBody>
          <a:bodyPr wrap="square" lIns="45720" tIns="18288" rIns="45720" bIns="18288" anchor="t">
            <a:spAutoFit/>
          </a:bodyPr>
          <a:lstStyle/>
          <a:p>
            <a:pPr algn="l">
              <a:lnSpc>
                <a:spcPct val="115000"/>
              </a:lnSpc>
            </a:pPr>
            <a:r>
              <a:rPr sz="1400" b="1">
                <a:solidFill>
                  <a:srgbClr val="3457D5"/>
                </a:solidFill>
                <a:latin typeface="Yu Gothic UI"/>
              </a:rPr>
              <a:t>設定</a:t>
            </a:r>
          </a:p>
        </p:txBody>
      </p:sp>
      <p:sp>
        <p:nvSpPr>
          <p:cNvPr id="24" name="TextBox 23"/>
          <p:cNvSpPr txBox="1"/>
          <p:nvPr/>
        </p:nvSpPr>
        <p:spPr>
          <a:xfrm>
            <a:off x="4937760" y="3419856"/>
            <a:ext cx="3749040" cy="274320"/>
          </a:xfrm>
          <a:prstGeom prst="rect">
            <a:avLst/>
          </a:prstGeom>
          <a:noFill/>
        </p:spPr>
        <p:txBody>
          <a:bodyPr wrap="square" lIns="45720" tIns="18288" rIns="45720" bIns="18288" anchor="t">
            <a:spAutoFit/>
          </a:bodyPr>
          <a:lstStyle/>
          <a:p>
            <a:pPr algn="l">
              <a:lnSpc>
                <a:spcPct val="115000"/>
              </a:lnSpc>
            </a:pPr>
            <a:r>
              <a:rPr sz="1050" b="1">
                <a:solidFill>
                  <a:srgbClr val="36454F"/>
                </a:solidFill>
                <a:latin typeface="Yu Gothic UI"/>
              </a:rPr>
              <a:t>各種マスタ設定・DB設定を行う画面です。</a:t>
            </a:r>
          </a:p>
        </p:txBody>
      </p:sp>
      <p:sp>
        <p:nvSpPr>
          <p:cNvPr id="25" name="TextBox 24"/>
          <p:cNvSpPr txBox="1"/>
          <p:nvPr/>
        </p:nvSpPr>
        <p:spPr>
          <a:xfrm>
            <a:off x="4937760" y="3712464"/>
            <a:ext cx="3749040" cy="822960"/>
          </a:xfrm>
          <a:prstGeom prst="rect">
            <a:avLst/>
          </a:prstGeom>
          <a:noFill/>
        </p:spPr>
        <p:txBody>
          <a:bodyPr wrap="square" lIns="45720" tIns="18288" rIns="45720" bIns="18288" anchor="t">
            <a:spAutoFit/>
          </a:bodyPr>
          <a:lstStyle/>
          <a:p>
            <a:pPr algn="l">
              <a:lnSpc>
                <a:spcPct val="130000"/>
              </a:lnSpc>
            </a:pPr>
            <a:r>
              <a:rPr sz="1000" b="0">
                <a:solidFill>
                  <a:srgbClr val="36454F"/>
                </a:solidFill>
                <a:latin typeface="Yu Gothic UI"/>
              </a:rPr>
              <a:t>人員マスタ・車両マスタ・機材マスタ・金額設定などをこの画面から管理します。</a:t>
            </a:r>
          </a:p>
        </p:txBody>
      </p:sp>
      <p:sp>
        <p:nvSpPr>
          <p:cNvPr id="26" name="TextBox 25"/>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27" name="TextBox 26"/>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5 / 53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01</a:t>
            </a:r>
            <a:r>
              <a:rPr sz="2000" b="0">
                <a:solidFill>
                  <a:srgbClr val="3457D5"/>
                </a:solidFill>
                <a:latin typeface="Yu Gothic UI"/>
              </a:rPr>
              <a:t>　</a:t>
            </a:r>
            <a:r>
              <a:rPr sz="2000" b="1">
                <a:solidFill>
                  <a:srgbClr val="36454F"/>
                </a:solidFill>
                <a:latin typeface="Yu Gothic UI"/>
              </a:rPr>
              <a:t>起動と画面構成</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ヘッダーバーには、ユーザー名・お知らせ・アップデート通知が表示されます。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1280160"/>
            <a:ext cx="8321040"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280160"/>
            <a:ext cx="1828800" cy="502920"/>
          </a:xfrm>
          <a:prstGeom prst="rect">
            <a:avLst/>
          </a:prstGeom>
          <a:noFill/>
        </p:spPr>
        <p:txBody>
          <a:bodyPr wrap="square" lIns="45720" tIns="18288" rIns="45720" bIns="18288" anchor="ctr">
            <a:spAutoFit/>
          </a:bodyPr>
          <a:lstStyle/>
          <a:p>
            <a:pPr algn="l">
              <a:lnSpc>
                <a:spcPct val="115000"/>
              </a:lnSpc>
            </a:pPr>
            <a:r>
              <a:rPr sz="1200" b="1">
                <a:solidFill>
                  <a:srgbClr val="FFFFFF"/>
                </a:solidFill>
                <a:latin typeface="Yu Gothic UI"/>
              </a:rPr>
              <a:t>EA_CostManager</a:t>
            </a:r>
          </a:p>
        </p:txBody>
      </p:sp>
      <p:sp>
        <p:nvSpPr>
          <p:cNvPr id="8" name="Rounded Rectangle 7"/>
          <p:cNvSpPr/>
          <p:nvPr/>
        </p:nvSpPr>
        <p:spPr>
          <a:xfrm>
            <a:off x="2834640" y="1371600"/>
            <a:ext cx="3840480" cy="320040"/>
          </a:xfrm>
          <a:prstGeom prst="roundRect">
            <a:avLst>
              <a:gd name="adj" fmla="val 4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834640" y="1371600"/>
            <a:ext cx="3840480" cy="320040"/>
          </a:xfrm>
          <a:prstGeom prst="rect">
            <a:avLst/>
          </a:prstGeom>
          <a:noFill/>
        </p:spPr>
        <p:txBody>
          <a:bodyPr wrap="square" lIns="45720" tIns="18288" rIns="45720" bIns="18288" anchor="ctr">
            <a:spAutoFit/>
          </a:bodyPr>
          <a:lstStyle/>
          <a:p>
            <a:pPr algn="ctr">
              <a:lnSpc>
                <a:spcPct val="115000"/>
              </a:lnSpc>
            </a:pPr>
            <a:r>
              <a:rPr sz="1000" b="1">
                <a:solidFill>
                  <a:srgbClr val="FFFFFF"/>
                </a:solidFill>
                <a:latin typeface="Yu Gothic UI"/>
              </a:rPr>
              <a:t>🔔 お知らせ：v1.0.1 を公開しました</a:t>
            </a:r>
          </a:p>
        </p:txBody>
      </p:sp>
      <p:sp>
        <p:nvSpPr>
          <p:cNvPr id="10" name="TextBox 9"/>
          <p:cNvSpPr txBox="1"/>
          <p:nvPr/>
        </p:nvSpPr>
        <p:spPr>
          <a:xfrm>
            <a:off x="6858000" y="1280160"/>
            <a:ext cx="1828800" cy="502920"/>
          </a:xfrm>
          <a:prstGeom prst="rect">
            <a:avLst/>
          </a:prstGeom>
          <a:noFill/>
        </p:spPr>
        <p:txBody>
          <a:bodyPr wrap="square" lIns="45720" tIns="18288" rIns="45720" bIns="18288" anchor="ctr">
            <a:spAutoFit/>
          </a:bodyPr>
          <a:lstStyle/>
          <a:p>
            <a:pPr algn="l">
              <a:lnSpc>
                <a:spcPct val="115000"/>
              </a:lnSpc>
            </a:pPr>
            <a:r>
              <a:rPr sz="1100" b="0">
                <a:solidFill>
                  <a:srgbClr val="CADCFC"/>
                </a:solidFill>
                <a:latin typeface="Yu Gothic UI"/>
              </a:rPr>
              <a:t>👤 仲 良智 さん</a:t>
            </a:r>
          </a:p>
        </p:txBody>
      </p:sp>
      <p:sp>
        <p:nvSpPr>
          <p:cNvPr id="11" name="Rounded Rectangle 10"/>
          <p:cNvSpPr/>
          <p:nvPr/>
        </p:nvSpPr>
        <p:spPr>
          <a:xfrm>
            <a:off x="457200" y="2057400"/>
            <a:ext cx="2423160" cy="777240"/>
          </a:xfrm>
          <a:prstGeom prst="roundRect">
            <a:avLst>
              <a:gd name="adj" fmla="val 4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2057400"/>
            <a:ext cx="2148840" cy="777240"/>
          </a:xfrm>
          <a:prstGeom prst="rect">
            <a:avLst/>
          </a:prstGeom>
          <a:noFill/>
        </p:spPr>
        <p:txBody>
          <a:bodyPr wrap="square" lIns="45720" tIns="18288" rIns="45720" bIns="18288" anchor="ctr">
            <a:spAutoFit/>
          </a:bodyPr>
          <a:lstStyle/>
          <a:p>
            <a:pPr algn="l">
              <a:lnSpc>
                <a:spcPct val="115000"/>
              </a:lnSpc>
            </a:pPr>
            <a:r>
              <a:rPr sz="1150" b="1">
                <a:solidFill>
                  <a:srgbClr val="FFFFFF"/>
                </a:solidFill>
                <a:latin typeface="Yu Gothic UI"/>
              </a:rPr>
              <a:t>左側：ソフト名表示</a:t>
            </a:r>
          </a:p>
        </p:txBody>
      </p:sp>
      <p:sp>
        <p:nvSpPr>
          <p:cNvPr id="13" name="Rounded Rectangle 12"/>
          <p:cNvSpPr/>
          <p:nvPr/>
        </p:nvSpPr>
        <p:spPr>
          <a:xfrm>
            <a:off x="2971800" y="2057400"/>
            <a:ext cx="5989320" cy="77724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154680" y="2130552"/>
            <a:ext cx="5623560" cy="640080"/>
          </a:xfrm>
          <a:prstGeom prst="rect">
            <a:avLst/>
          </a:prstGeom>
          <a:noFill/>
        </p:spPr>
        <p:txBody>
          <a:bodyPr wrap="square" lIns="45720" tIns="18288" rIns="45720" bIns="18288" anchor="ctr">
            <a:spAutoFit/>
          </a:bodyPr>
          <a:lstStyle/>
          <a:p>
            <a:pPr algn="l">
              <a:lnSpc>
                <a:spcPct val="130000"/>
              </a:lnSpc>
            </a:pPr>
            <a:r>
              <a:rPr sz="1000" b="0">
                <a:solidFill>
                  <a:srgbClr val="36454F"/>
                </a:solidFill>
                <a:latin typeface="Yu Gothic UI"/>
              </a:rPr>
              <a:t>ソフト名「EA_CostManager」が表示されます。</a:t>
            </a:r>
          </a:p>
        </p:txBody>
      </p:sp>
      <p:sp>
        <p:nvSpPr>
          <p:cNvPr id="15" name="Rounded Rectangle 14"/>
          <p:cNvSpPr/>
          <p:nvPr/>
        </p:nvSpPr>
        <p:spPr>
          <a:xfrm>
            <a:off x="457200" y="2926080"/>
            <a:ext cx="2423160" cy="777240"/>
          </a:xfrm>
          <a:prstGeom prst="roundRect">
            <a:avLst>
              <a:gd name="adj" fmla="val 4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2926080"/>
            <a:ext cx="2148840" cy="777240"/>
          </a:xfrm>
          <a:prstGeom prst="rect">
            <a:avLst/>
          </a:prstGeom>
          <a:noFill/>
        </p:spPr>
        <p:txBody>
          <a:bodyPr wrap="square" lIns="45720" tIns="18288" rIns="45720" bIns="18288" anchor="ctr">
            <a:spAutoFit/>
          </a:bodyPr>
          <a:lstStyle/>
          <a:p>
            <a:pPr algn="l">
              <a:lnSpc>
                <a:spcPct val="115000"/>
              </a:lnSpc>
            </a:pPr>
            <a:r>
              <a:rPr sz="1150" b="1">
                <a:solidFill>
                  <a:srgbClr val="FFFFFF"/>
                </a:solidFill>
                <a:latin typeface="Yu Gothic UI"/>
              </a:rPr>
              <a:t>中央：お知らせバナー</a:t>
            </a:r>
          </a:p>
        </p:txBody>
      </p:sp>
      <p:sp>
        <p:nvSpPr>
          <p:cNvPr id="17" name="Rounded Rectangle 16"/>
          <p:cNvSpPr/>
          <p:nvPr/>
        </p:nvSpPr>
        <p:spPr>
          <a:xfrm>
            <a:off x="2971800" y="2926080"/>
            <a:ext cx="5989320" cy="77724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154680" y="2999232"/>
            <a:ext cx="5623560" cy="640080"/>
          </a:xfrm>
          <a:prstGeom prst="rect">
            <a:avLst/>
          </a:prstGeom>
          <a:noFill/>
        </p:spPr>
        <p:txBody>
          <a:bodyPr wrap="square" lIns="45720" tIns="18288" rIns="45720" bIns="18288" anchor="ctr">
            <a:spAutoFit/>
          </a:bodyPr>
          <a:lstStyle/>
          <a:p>
            <a:pPr algn="l">
              <a:lnSpc>
                <a:spcPct val="130000"/>
              </a:lnSpc>
            </a:pPr>
            <a:r>
              <a:rPr sz="1000" b="0">
                <a:solidFill>
                  <a:srgbClr val="36454F"/>
                </a:solidFill>
                <a:latin typeface="Yu Gothic UI"/>
              </a:rPr>
              <a:t>管理者からのお知らせがある場合に表示されます。</a:t>
            </a:r>
          </a:p>
          <a:p>
            <a:pPr algn="l">
              <a:lnSpc>
                <a:spcPct val="130000"/>
              </a:lnSpc>
            </a:pPr>
            <a:r>
              <a:rPr sz="1000" b="0">
                <a:solidFill>
                  <a:srgbClr val="36454F"/>
                </a:solidFill>
                <a:latin typeface="Yu Gothic UI"/>
              </a:rPr>
              <a:t>新しいバージョンの公開・メンテナンス情報・運用上の注意事項などが流れます。</a:t>
            </a:r>
          </a:p>
          <a:p>
            <a:pPr algn="l">
              <a:lnSpc>
                <a:spcPct val="130000"/>
              </a:lnSpc>
            </a:pPr>
            <a:r>
              <a:rPr sz="1000" b="0">
                <a:solidFill>
                  <a:srgbClr val="36454F"/>
                </a:solidFill>
                <a:latin typeface="Yu Gothic UI"/>
              </a:rPr>
              <a:t>バナーをクリックすると詳細を確認できます。</a:t>
            </a:r>
          </a:p>
        </p:txBody>
      </p:sp>
      <p:sp>
        <p:nvSpPr>
          <p:cNvPr id="19" name="Rounded Rectangle 18"/>
          <p:cNvSpPr/>
          <p:nvPr/>
        </p:nvSpPr>
        <p:spPr>
          <a:xfrm>
            <a:off x="457200" y="3794760"/>
            <a:ext cx="2423160" cy="777240"/>
          </a:xfrm>
          <a:prstGeom prst="roundRect">
            <a:avLst>
              <a:gd name="adj" fmla="val 4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 y="3794760"/>
            <a:ext cx="2148840" cy="777240"/>
          </a:xfrm>
          <a:prstGeom prst="rect">
            <a:avLst/>
          </a:prstGeom>
          <a:noFill/>
        </p:spPr>
        <p:txBody>
          <a:bodyPr wrap="square" lIns="45720" tIns="18288" rIns="45720" bIns="18288" anchor="ctr">
            <a:spAutoFit/>
          </a:bodyPr>
          <a:lstStyle/>
          <a:p>
            <a:pPr algn="l">
              <a:lnSpc>
                <a:spcPct val="115000"/>
              </a:lnSpc>
            </a:pPr>
            <a:r>
              <a:rPr sz="1150" b="1">
                <a:solidFill>
                  <a:srgbClr val="FFFFFF"/>
                </a:solidFill>
                <a:latin typeface="Yu Gothic UI"/>
              </a:rPr>
              <a:t>右側：ユーザー名</a:t>
            </a:r>
          </a:p>
        </p:txBody>
      </p:sp>
      <p:sp>
        <p:nvSpPr>
          <p:cNvPr id="21" name="Rounded Rectangle 20"/>
          <p:cNvSpPr/>
          <p:nvPr/>
        </p:nvSpPr>
        <p:spPr>
          <a:xfrm>
            <a:off x="2971800" y="3794760"/>
            <a:ext cx="5989320" cy="77724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154680" y="3867912"/>
            <a:ext cx="5623560" cy="640080"/>
          </a:xfrm>
          <a:prstGeom prst="rect">
            <a:avLst/>
          </a:prstGeom>
          <a:noFill/>
        </p:spPr>
        <p:txBody>
          <a:bodyPr wrap="square" lIns="45720" tIns="18288" rIns="45720" bIns="18288" anchor="ctr">
            <a:spAutoFit/>
          </a:bodyPr>
          <a:lstStyle/>
          <a:p>
            <a:pPr algn="l">
              <a:lnSpc>
                <a:spcPct val="130000"/>
              </a:lnSpc>
            </a:pPr>
            <a:r>
              <a:rPr sz="1000" b="0">
                <a:solidFill>
                  <a:srgbClr val="36454F"/>
                </a:solidFill>
                <a:latin typeface="Yu Gothic UI"/>
              </a:rPr>
              <a:t>ログイン中のユーザーの氏名が表示されます。表示名はパソコンの利用者として登録された氏名です。</a:t>
            </a:r>
          </a:p>
        </p:txBody>
      </p:sp>
      <p:sp>
        <p:nvSpPr>
          <p:cNvPr id="23" name="TextBox 22"/>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24" name="TextBox 23"/>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6 / 53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02</a:t>
            </a:r>
            <a:r>
              <a:rPr sz="2000" b="0">
                <a:solidFill>
                  <a:srgbClr val="3457D5"/>
                </a:solidFill>
                <a:latin typeface="Yu Gothic UI"/>
              </a:rPr>
              <a:t>　</a:t>
            </a:r>
            <a:r>
              <a:rPr sz="2000" b="1">
                <a:solidFill>
                  <a:srgbClr val="36454F"/>
                </a:solidFill>
                <a:latin typeface="Yu Gothic UI"/>
              </a:rPr>
              <a:t>ダッシュボード</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起動時に最初に表示される画面です。3つの情報が一覧で確認できます。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4754880" cy="3200400"/>
          </a:xfrm>
          <a:prstGeom prst="roundRect">
            <a:avLst>
              <a:gd name="adj" fmla="val 3000"/>
            </a:avLst>
          </a:prstGeom>
          <a:solidFill>
            <a:srgbClr val="FFFFFF"/>
          </a:solidFill>
          <a:ln w="12700">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4754880" cy="32004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280160"/>
            <a:ext cx="4754880" cy="320040"/>
          </a:xfrm>
          <a:prstGeom prst="rect">
            <a:avLst/>
          </a:prstGeom>
          <a:noFill/>
        </p:spPr>
        <p:txBody>
          <a:bodyPr wrap="square" lIns="45720" tIns="18288" rIns="45720" bIns="18288" anchor="ctr">
            <a:spAutoFit/>
          </a:bodyPr>
          <a:lstStyle/>
          <a:p>
            <a:pPr algn="l">
              <a:lnSpc>
                <a:spcPct val="115000"/>
              </a:lnSpc>
            </a:pPr>
            <a:r>
              <a:rPr sz="1100" b="1">
                <a:solidFill>
                  <a:srgbClr val="FFFFFF"/>
                </a:solidFill>
                <a:latin typeface="Yu Gothic UI"/>
              </a:rPr>
              <a:t>  ダッシュボード</a:t>
            </a:r>
          </a:p>
        </p:txBody>
      </p:sp>
      <p:sp>
        <p:nvSpPr>
          <p:cNvPr id="9" name="Rounded Rectangle 8"/>
          <p:cNvSpPr/>
          <p:nvPr/>
        </p:nvSpPr>
        <p:spPr>
          <a:xfrm>
            <a:off x="594360" y="1691640"/>
            <a:ext cx="4480560" cy="899160"/>
          </a:xfrm>
          <a:prstGeom prst="roundRect">
            <a:avLst>
              <a:gd name="adj" fmla="val 3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94360" y="1691640"/>
            <a:ext cx="54864" cy="89916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1764792"/>
            <a:ext cx="4297680" cy="292608"/>
          </a:xfrm>
          <a:prstGeom prst="rect">
            <a:avLst/>
          </a:prstGeom>
          <a:noFill/>
        </p:spPr>
        <p:txBody>
          <a:bodyPr wrap="square" lIns="45720" tIns="18288" rIns="45720" bIns="18288" anchor="t">
            <a:spAutoFit/>
          </a:bodyPr>
          <a:lstStyle/>
          <a:p>
            <a:pPr algn="l">
              <a:lnSpc>
                <a:spcPct val="115000"/>
              </a:lnSpc>
            </a:pPr>
            <a:r>
              <a:rPr sz="1150" b="1">
                <a:solidFill>
                  <a:srgbClr val="3457D5"/>
                </a:solidFill>
                <a:latin typeface="Yu Gothic UI"/>
              </a:rPr>
              <a:t>1. お知らせ</a:t>
            </a:r>
          </a:p>
        </p:txBody>
      </p:sp>
      <p:sp>
        <p:nvSpPr>
          <p:cNvPr id="12" name="TextBox 11"/>
          <p:cNvSpPr txBox="1"/>
          <p:nvPr/>
        </p:nvSpPr>
        <p:spPr>
          <a:xfrm>
            <a:off x="731520" y="2075688"/>
            <a:ext cx="4297680" cy="365760"/>
          </a:xfrm>
          <a:prstGeom prst="rect">
            <a:avLst/>
          </a:prstGeom>
          <a:noFill/>
        </p:spPr>
        <p:txBody>
          <a:bodyPr wrap="square" lIns="45720" tIns="18288" rIns="45720" bIns="18288" anchor="t">
            <a:spAutoFit/>
          </a:bodyPr>
          <a:lstStyle/>
          <a:p>
            <a:pPr algn="l">
              <a:lnSpc>
                <a:spcPct val="115000"/>
              </a:lnSpc>
            </a:pPr>
            <a:r>
              <a:rPr sz="1000" b="0">
                <a:solidFill>
                  <a:srgbClr val="36454F"/>
                </a:solidFill>
                <a:latin typeface="Yu Gothic UI"/>
              </a:rPr>
              <a:t>管理者からのお知らせを表示</a:t>
            </a:r>
          </a:p>
        </p:txBody>
      </p:sp>
      <p:sp>
        <p:nvSpPr>
          <p:cNvPr id="13" name="Rounded Rectangle 12"/>
          <p:cNvSpPr/>
          <p:nvPr/>
        </p:nvSpPr>
        <p:spPr>
          <a:xfrm>
            <a:off x="594360" y="2636520"/>
            <a:ext cx="4480560" cy="899160"/>
          </a:xfrm>
          <a:prstGeom prst="roundRect">
            <a:avLst>
              <a:gd name="adj" fmla="val 3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94360" y="2636520"/>
            <a:ext cx="54864" cy="89916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709672"/>
            <a:ext cx="4297680" cy="292608"/>
          </a:xfrm>
          <a:prstGeom prst="rect">
            <a:avLst/>
          </a:prstGeom>
          <a:noFill/>
        </p:spPr>
        <p:txBody>
          <a:bodyPr wrap="square" lIns="45720" tIns="18288" rIns="45720" bIns="18288" anchor="t">
            <a:spAutoFit/>
          </a:bodyPr>
          <a:lstStyle/>
          <a:p>
            <a:pPr algn="l">
              <a:lnSpc>
                <a:spcPct val="115000"/>
              </a:lnSpc>
            </a:pPr>
            <a:r>
              <a:rPr sz="1150" b="1">
                <a:solidFill>
                  <a:srgbClr val="3457D5"/>
                </a:solidFill>
                <a:latin typeface="Yu Gothic UI"/>
              </a:rPr>
              <a:t>2. 操作履歴</a:t>
            </a:r>
          </a:p>
        </p:txBody>
      </p:sp>
      <p:sp>
        <p:nvSpPr>
          <p:cNvPr id="16" name="TextBox 15"/>
          <p:cNvSpPr txBox="1"/>
          <p:nvPr/>
        </p:nvSpPr>
        <p:spPr>
          <a:xfrm>
            <a:off x="731520" y="3020568"/>
            <a:ext cx="4297680" cy="365760"/>
          </a:xfrm>
          <a:prstGeom prst="rect">
            <a:avLst/>
          </a:prstGeom>
          <a:noFill/>
        </p:spPr>
        <p:txBody>
          <a:bodyPr wrap="square" lIns="45720" tIns="18288" rIns="45720" bIns="18288" anchor="t">
            <a:spAutoFit/>
          </a:bodyPr>
          <a:lstStyle/>
          <a:p>
            <a:pPr algn="l">
              <a:lnSpc>
                <a:spcPct val="115000"/>
              </a:lnSpc>
            </a:pPr>
            <a:r>
              <a:rPr sz="1000" b="0">
                <a:solidFill>
                  <a:srgbClr val="36454F"/>
                </a:solidFill>
                <a:latin typeface="Yu Gothic UI"/>
              </a:rPr>
              <a:t>全ユーザーの操作履歴を新しい順で表示</a:t>
            </a:r>
          </a:p>
        </p:txBody>
      </p:sp>
      <p:sp>
        <p:nvSpPr>
          <p:cNvPr id="17" name="Rounded Rectangle 16"/>
          <p:cNvSpPr/>
          <p:nvPr/>
        </p:nvSpPr>
        <p:spPr>
          <a:xfrm>
            <a:off x="594360" y="3581400"/>
            <a:ext cx="4480560" cy="899160"/>
          </a:xfrm>
          <a:prstGeom prst="roundRect">
            <a:avLst>
              <a:gd name="adj" fmla="val 3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94360" y="3581400"/>
            <a:ext cx="54864" cy="89916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3654552"/>
            <a:ext cx="4297680" cy="292608"/>
          </a:xfrm>
          <a:prstGeom prst="rect">
            <a:avLst/>
          </a:prstGeom>
          <a:noFill/>
        </p:spPr>
        <p:txBody>
          <a:bodyPr wrap="square" lIns="45720" tIns="18288" rIns="45720" bIns="18288" anchor="t">
            <a:spAutoFit/>
          </a:bodyPr>
          <a:lstStyle/>
          <a:p>
            <a:pPr algn="l">
              <a:lnSpc>
                <a:spcPct val="115000"/>
              </a:lnSpc>
            </a:pPr>
            <a:r>
              <a:rPr sz="1150" b="1">
                <a:solidFill>
                  <a:srgbClr val="3457D5"/>
                </a:solidFill>
                <a:latin typeface="Yu Gothic UI"/>
              </a:rPr>
              <a:t>3. 日報読込履歴</a:t>
            </a:r>
          </a:p>
        </p:txBody>
      </p:sp>
      <p:sp>
        <p:nvSpPr>
          <p:cNvPr id="20" name="TextBox 19"/>
          <p:cNvSpPr txBox="1"/>
          <p:nvPr/>
        </p:nvSpPr>
        <p:spPr>
          <a:xfrm>
            <a:off x="731520" y="3965448"/>
            <a:ext cx="4297680" cy="365760"/>
          </a:xfrm>
          <a:prstGeom prst="rect">
            <a:avLst/>
          </a:prstGeom>
          <a:noFill/>
        </p:spPr>
        <p:txBody>
          <a:bodyPr wrap="square" lIns="45720" tIns="18288" rIns="45720" bIns="18288" anchor="t">
            <a:spAutoFit/>
          </a:bodyPr>
          <a:lstStyle/>
          <a:p>
            <a:pPr algn="l">
              <a:lnSpc>
                <a:spcPct val="115000"/>
              </a:lnSpc>
            </a:pPr>
            <a:r>
              <a:rPr sz="1000" b="0">
                <a:solidFill>
                  <a:srgbClr val="36454F"/>
                </a:solidFill>
                <a:latin typeface="Yu Gothic UI"/>
              </a:rPr>
              <a:t>最近取込んだ日報ファイルを表示</a:t>
            </a:r>
          </a:p>
        </p:txBody>
      </p:sp>
      <p:sp>
        <p:nvSpPr>
          <p:cNvPr id="21" name="TextBox 20"/>
          <p:cNvSpPr txBox="1"/>
          <p:nvPr/>
        </p:nvSpPr>
        <p:spPr>
          <a:xfrm>
            <a:off x="5486400" y="1280160"/>
            <a:ext cx="3291840" cy="292608"/>
          </a:xfrm>
          <a:prstGeom prst="rect">
            <a:avLst/>
          </a:prstGeom>
          <a:noFill/>
        </p:spPr>
        <p:txBody>
          <a:bodyPr wrap="square" lIns="45720" tIns="18288" rIns="45720" bIns="18288" anchor="t">
            <a:spAutoFit/>
          </a:bodyPr>
          <a:lstStyle/>
          <a:p>
            <a:pPr algn="l">
              <a:lnSpc>
                <a:spcPct val="115000"/>
              </a:lnSpc>
            </a:pPr>
            <a:r>
              <a:rPr sz="1400" b="1">
                <a:solidFill>
                  <a:srgbClr val="3457D5"/>
                </a:solidFill>
                <a:latin typeface="Yu Gothic UI"/>
              </a:rPr>
              <a:t>ダッシュボードの3つの情報</a:t>
            </a:r>
          </a:p>
        </p:txBody>
      </p:sp>
      <p:sp>
        <p:nvSpPr>
          <p:cNvPr id="22" name="TextBox 21"/>
          <p:cNvSpPr txBox="1"/>
          <p:nvPr/>
        </p:nvSpPr>
        <p:spPr>
          <a:xfrm>
            <a:off x="5486400" y="1828800"/>
            <a:ext cx="3291840" cy="223010"/>
          </a:xfrm>
          <a:prstGeom prst="rect">
            <a:avLst/>
          </a:prstGeom>
          <a:noFill/>
        </p:spPr>
        <p:txBody>
          <a:bodyPr wrap="square" lIns="45720" tIns="18288" rIns="45720" bIns="18288" anchor="t">
            <a:spAutoFit/>
          </a:bodyPr>
          <a:lstStyle/>
          <a:p>
            <a:pPr algn="l">
              <a:lnSpc>
                <a:spcPct val="115000"/>
              </a:lnSpc>
            </a:pPr>
            <a:r>
              <a:rPr sz="1150" b="1" dirty="0">
                <a:solidFill>
                  <a:srgbClr val="3457D5"/>
                </a:solidFill>
                <a:latin typeface="Yu Gothic UI"/>
              </a:rPr>
              <a:t>📢 </a:t>
            </a:r>
            <a:r>
              <a:rPr sz="1150" b="1" dirty="0" err="1">
                <a:solidFill>
                  <a:srgbClr val="3457D5"/>
                </a:solidFill>
                <a:latin typeface="Yu Gothic UI"/>
              </a:rPr>
              <a:t>お知らせ</a:t>
            </a:r>
            <a:r>
              <a:rPr lang="en-US" sz="1150" b="1" dirty="0">
                <a:solidFill>
                  <a:srgbClr val="3457D5"/>
                </a:solidFill>
                <a:latin typeface="Yu Gothic UI"/>
              </a:rPr>
              <a:t> </a:t>
            </a:r>
            <a:r>
              <a:rPr lang="en-US" altLang="ja-JP" sz="1150" b="1" dirty="0">
                <a:solidFill>
                  <a:srgbClr val="3457D5"/>
                </a:solidFill>
                <a:latin typeface="Yu Gothic UI"/>
              </a:rPr>
              <a:t>※</a:t>
            </a:r>
            <a:r>
              <a:rPr lang="ja-JP" altLang="en-US" sz="1150" b="1" dirty="0">
                <a:solidFill>
                  <a:srgbClr val="3457D5"/>
                </a:solidFill>
                <a:latin typeface="Yu Gothic UI"/>
              </a:rPr>
              <a:t>情報がある時のみ表示</a:t>
            </a:r>
            <a:endParaRPr sz="1150" b="1" dirty="0">
              <a:solidFill>
                <a:srgbClr val="3457D5"/>
              </a:solidFill>
              <a:latin typeface="Yu Gothic UI"/>
            </a:endParaRPr>
          </a:p>
        </p:txBody>
      </p:sp>
      <p:sp>
        <p:nvSpPr>
          <p:cNvPr id="23" name="TextBox 22"/>
          <p:cNvSpPr txBox="1"/>
          <p:nvPr/>
        </p:nvSpPr>
        <p:spPr>
          <a:xfrm>
            <a:off x="5486400" y="2103120"/>
            <a:ext cx="3291840" cy="640080"/>
          </a:xfrm>
          <a:prstGeom prst="rect">
            <a:avLst/>
          </a:prstGeom>
          <a:noFill/>
        </p:spPr>
        <p:txBody>
          <a:bodyPr wrap="square" lIns="45720" tIns="18288" rIns="45720" bIns="18288" anchor="t">
            <a:spAutoFit/>
          </a:bodyPr>
          <a:lstStyle/>
          <a:p>
            <a:pPr algn="l">
              <a:lnSpc>
                <a:spcPct val="135000"/>
              </a:lnSpc>
            </a:pPr>
            <a:r>
              <a:rPr sz="1000" b="0">
                <a:solidFill>
                  <a:srgbClr val="36454F"/>
                </a:solidFill>
                <a:latin typeface="Yu Gothic UI"/>
              </a:rPr>
              <a:t>新しいバージョンの公開や運用上の重要な情報を確認できます。</a:t>
            </a:r>
          </a:p>
        </p:txBody>
      </p:sp>
      <p:sp>
        <p:nvSpPr>
          <p:cNvPr id="24" name="TextBox 23"/>
          <p:cNvSpPr txBox="1"/>
          <p:nvPr/>
        </p:nvSpPr>
        <p:spPr>
          <a:xfrm>
            <a:off x="5486400" y="2788920"/>
            <a:ext cx="3291840" cy="274320"/>
          </a:xfrm>
          <a:prstGeom prst="rect">
            <a:avLst/>
          </a:prstGeom>
          <a:noFill/>
        </p:spPr>
        <p:txBody>
          <a:bodyPr wrap="square" lIns="45720" tIns="18288" rIns="45720" bIns="18288" anchor="t">
            <a:spAutoFit/>
          </a:bodyPr>
          <a:lstStyle/>
          <a:p>
            <a:pPr algn="l">
              <a:lnSpc>
                <a:spcPct val="115000"/>
              </a:lnSpc>
            </a:pPr>
            <a:r>
              <a:rPr sz="1150" b="1">
                <a:solidFill>
                  <a:srgbClr val="3457D5"/>
                </a:solidFill>
                <a:latin typeface="Yu Gothic UI"/>
              </a:rPr>
              <a:t>📋 操作履歴</a:t>
            </a:r>
          </a:p>
        </p:txBody>
      </p:sp>
      <p:sp>
        <p:nvSpPr>
          <p:cNvPr id="25" name="TextBox 24"/>
          <p:cNvSpPr txBox="1"/>
          <p:nvPr/>
        </p:nvSpPr>
        <p:spPr>
          <a:xfrm>
            <a:off x="5486400" y="3063240"/>
            <a:ext cx="3291840" cy="640080"/>
          </a:xfrm>
          <a:prstGeom prst="rect">
            <a:avLst/>
          </a:prstGeom>
          <a:noFill/>
        </p:spPr>
        <p:txBody>
          <a:bodyPr wrap="square" lIns="45720" tIns="18288" rIns="45720" bIns="18288" anchor="t">
            <a:spAutoFit/>
          </a:bodyPr>
          <a:lstStyle/>
          <a:p>
            <a:pPr algn="l">
              <a:lnSpc>
                <a:spcPct val="135000"/>
              </a:lnSpc>
            </a:pPr>
            <a:r>
              <a:rPr sz="1000" b="0">
                <a:solidFill>
                  <a:srgbClr val="36454F"/>
                </a:solidFill>
                <a:latin typeface="Yu Gothic UI"/>
              </a:rPr>
              <a:t>誰が・いつ・何の操作をしたかを確認できます。チームでの共有作業に便利です。</a:t>
            </a:r>
          </a:p>
        </p:txBody>
      </p:sp>
      <p:sp>
        <p:nvSpPr>
          <p:cNvPr id="26" name="TextBox 25"/>
          <p:cNvSpPr txBox="1"/>
          <p:nvPr/>
        </p:nvSpPr>
        <p:spPr>
          <a:xfrm>
            <a:off x="5486400" y="3749040"/>
            <a:ext cx="3291840" cy="274320"/>
          </a:xfrm>
          <a:prstGeom prst="rect">
            <a:avLst/>
          </a:prstGeom>
          <a:noFill/>
        </p:spPr>
        <p:txBody>
          <a:bodyPr wrap="square" lIns="45720" tIns="18288" rIns="45720" bIns="18288" anchor="t">
            <a:spAutoFit/>
          </a:bodyPr>
          <a:lstStyle/>
          <a:p>
            <a:pPr algn="l">
              <a:lnSpc>
                <a:spcPct val="115000"/>
              </a:lnSpc>
            </a:pPr>
            <a:r>
              <a:rPr sz="1150" b="1">
                <a:solidFill>
                  <a:srgbClr val="3457D5"/>
                </a:solidFill>
                <a:latin typeface="Yu Gothic UI"/>
              </a:rPr>
              <a:t>📥 日報読込履歴</a:t>
            </a:r>
          </a:p>
        </p:txBody>
      </p:sp>
      <p:sp>
        <p:nvSpPr>
          <p:cNvPr id="27" name="TextBox 26"/>
          <p:cNvSpPr txBox="1"/>
          <p:nvPr/>
        </p:nvSpPr>
        <p:spPr>
          <a:xfrm>
            <a:off x="5486400" y="4023360"/>
            <a:ext cx="3291840" cy="640080"/>
          </a:xfrm>
          <a:prstGeom prst="rect">
            <a:avLst/>
          </a:prstGeom>
          <a:noFill/>
        </p:spPr>
        <p:txBody>
          <a:bodyPr wrap="square" lIns="45720" tIns="18288" rIns="45720" bIns="18288" anchor="t">
            <a:spAutoFit/>
          </a:bodyPr>
          <a:lstStyle/>
          <a:p>
            <a:pPr algn="l">
              <a:lnSpc>
                <a:spcPct val="135000"/>
              </a:lnSpc>
            </a:pPr>
            <a:r>
              <a:rPr sz="1000" b="0">
                <a:solidFill>
                  <a:srgbClr val="36454F"/>
                </a:solidFill>
                <a:latin typeface="Yu Gothic UI"/>
              </a:rPr>
              <a:t>最近取込んだ日報ファイルが表示されます。クリックすると詳細を確認できます。</a:t>
            </a:r>
          </a:p>
        </p:txBody>
      </p:sp>
      <p:sp>
        <p:nvSpPr>
          <p:cNvPr id="28" name="TextBox 27"/>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29" name="TextBox 28"/>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8 / 53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02</a:t>
            </a:r>
            <a:r>
              <a:rPr sz="2000" b="0">
                <a:solidFill>
                  <a:srgbClr val="3457D5"/>
                </a:solidFill>
                <a:latin typeface="Yu Gothic UI"/>
              </a:rPr>
              <a:t>　</a:t>
            </a:r>
            <a:r>
              <a:rPr sz="2000" b="1">
                <a:solidFill>
                  <a:srgbClr val="36454F"/>
                </a:solidFill>
                <a:latin typeface="Yu Gothic UI"/>
              </a:rPr>
              <a:t>ダッシュボード</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お知らせの確認方法を説明します。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8321040" cy="16459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8321040" cy="36576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280160"/>
            <a:ext cx="7955280" cy="365760"/>
          </a:xfrm>
          <a:prstGeom prst="rect">
            <a:avLst/>
          </a:prstGeom>
          <a:noFill/>
        </p:spPr>
        <p:txBody>
          <a:bodyPr wrap="square" lIns="45720" tIns="18288" rIns="45720" bIns="18288" anchor="ctr">
            <a:spAutoFit/>
          </a:bodyPr>
          <a:lstStyle/>
          <a:p>
            <a:pPr algn="l">
              <a:lnSpc>
                <a:spcPct val="115000"/>
              </a:lnSpc>
            </a:pPr>
            <a:r>
              <a:rPr sz="1200" b="1">
                <a:solidFill>
                  <a:srgbClr val="FFFFFF"/>
                </a:solidFill>
                <a:latin typeface="Yu Gothic UI"/>
              </a:rPr>
              <a:t>📢 お知らせ</a:t>
            </a:r>
          </a:p>
        </p:txBody>
      </p:sp>
      <p:sp>
        <p:nvSpPr>
          <p:cNvPr id="9" name="TextBox 8"/>
          <p:cNvSpPr txBox="1"/>
          <p:nvPr/>
        </p:nvSpPr>
        <p:spPr>
          <a:xfrm>
            <a:off x="640080" y="1737360"/>
            <a:ext cx="1188720" cy="292608"/>
          </a:xfrm>
          <a:prstGeom prst="rect">
            <a:avLst/>
          </a:prstGeom>
          <a:noFill/>
        </p:spPr>
        <p:txBody>
          <a:bodyPr wrap="square" lIns="45720" tIns="18288" rIns="45720" bIns="18288" anchor="ctr">
            <a:spAutoFit/>
          </a:bodyPr>
          <a:lstStyle/>
          <a:p>
            <a:pPr algn="l">
              <a:lnSpc>
                <a:spcPct val="115000"/>
              </a:lnSpc>
            </a:pPr>
            <a:r>
              <a:rPr sz="1000" b="1">
                <a:solidFill>
                  <a:srgbClr val="7A8899"/>
                </a:solidFill>
                <a:latin typeface="Yu Gothic UI"/>
              </a:rPr>
              <a:t>2026/04/30</a:t>
            </a:r>
          </a:p>
        </p:txBody>
      </p:sp>
      <p:sp>
        <p:nvSpPr>
          <p:cNvPr id="10" name="Rounded Rectangle 9"/>
          <p:cNvSpPr/>
          <p:nvPr/>
        </p:nvSpPr>
        <p:spPr>
          <a:xfrm>
            <a:off x="1828800" y="1737360"/>
            <a:ext cx="182880" cy="292608"/>
          </a:xfrm>
          <a:prstGeom prst="roundRect">
            <a:avLst>
              <a:gd name="adj" fmla="val 5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103120" y="1737360"/>
            <a:ext cx="6492240" cy="292608"/>
          </a:xfrm>
          <a:prstGeom prst="rect">
            <a:avLst/>
          </a:prstGeom>
          <a:noFill/>
        </p:spPr>
        <p:txBody>
          <a:bodyPr wrap="square" lIns="45720" tIns="18288" rIns="45720" bIns="18288" anchor="ctr">
            <a:spAutoFit/>
          </a:bodyPr>
          <a:lstStyle/>
          <a:p>
            <a:pPr algn="l">
              <a:lnSpc>
                <a:spcPct val="115000"/>
              </a:lnSpc>
            </a:pPr>
            <a:r>
              <a:rPr sz="1050" b="0">
                <a:solidFill>
                  <a:srgbClr val="36454F"/>
                </a:solidFill>
                <a:latin typeface="Yu Gothic UI"/>
              </a:rPr>
              <a:t>v1.0.1 を公開しました</a:t>
            </a:r>
          </a:p>
        </p:txBody>
      </p:sp>
      <p:sp>
        <p:nvSpPr>
          <p:cNvPr id="12" name="TextBox 11"/>
          <p:cNvSpPr txBox="1"/>
          <p:nvPr/>
        </p:nvSpPr>
        <p:spPr>
          <a:xfrm>
            <a:off x="640080" y="2103120"/>
            <a:ext cx="1188720" cy="292608"/>
          </a:xfrm>
          <a:prstGeom prst="rect">
            <a:avLst/>
          </a:prstGeom>
          <a:noFill/>
        </p:spPr>
        <p:txBody>
          <a:bodyPr wrap="square" lIns="45720" tIns="18288" rIns="45720" bIns="18288" anchor="ctr">
            <a:spAutoFit/>
          </a:bodyPr>
          <a:lstStyle/>
          <a:p>
            <a:pPr algn="l">
              <a:lnSpc>
                <a:spcPct val="115000"/>
              </a:lnSpc>
            </a:pPr>
            <a:r>
              <a:rPr sz="1000" b="1">
                <a:solidFill>
                  <a:srgbClr val="7A8899"/>
                </a:solidFill>
                <a:latin typeface="Yu Gothic UI"/>
              </a:rPr>
              <a:t>2026/04/29</a:t>
            </a:r>
          </a:p>
        </p:txBody>
      </p:sp>
      <p:sp>
        <p:nvSpPr>
          <p:cNvPr id="13" name="Rounded Rectangle 12"/>
          <p:cNvSpPr/>
          <p:nvPr/>
        </p:nvSpPr>
        <p:spPr>
          <a:xfrm>
            <a:off x="1828800" y="2103120"/>
            <a:ext cx="182880" cy="292608"/>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103120" y="2103120"/>
            <a:ext cx="6492240" cy="292608"/>
          </a:xfrm>
          <a:prstGeom prst="rect">
            <a:avLst/>
          </a:prstGeom>
          <a:noFill/>
        </p:spPr>
        <p:txBody>
          <a:bodyPr wrap="square" lIns="45720" tIns="18288" rIns="45720" bIns="18288" anchor="ctr">
            <a:spAutoFit/>
          </a:bodyPr>
          <a:lstStyle/>
          <a:p>
            <a:pPr algn="l">
              <a:lnSpc>
                <a:spcPct val="115000"/>
              </a:lnSpc>
            </a:pPr>
            <a:r>
              <a:rPr sz="1050" b="0">
                <a:solidFill>
                  <a:srgbClr val="36454F"/>
                </a:solidFill>
                <a:latin typeface="Yu Gothic UI"/>
              </a:rPr>
              <a:t>v1.0.0 正式リリース。Beta から正式版へ移行しました。</a:t>
            </a:r>
          </a:p>
        </p:txBody>
      </p:sp>
      <p:sp>
        <p:nvSpPr>
          <p:cNvPr id="15" name="TextBox 14"/>
          <p:cNvSpPr txBox="1"/>
          <p:nvPr/>
        </p:nvSpPr>
        <p:spPr>
          <a:xfrm>
            <a:off x="640080" y="2468880"/>
            <a:ext cx="1188720" cy="292608"/>
          </a:xfrm>
          <a:prstGeom prst="rect">
            <a:avLst/>
          </a:prstGeom>
          <a:noFill/>
        </p:spPr>
        <p:txBody>
          <a:bodyPr wrap="square" lIns="45720" tIns="18288" rIns="45720" bIns="18288" anchor="ctr">
            <a:spAutoFit/>
          </a:bodyPr>
          <a:lstStyle/>
          <a:p>
            <a:pPr algn="l">
              <a:lnSpc>
                <a:spcPct val="115000"/>
              </a:lnSpc>
            </a:pPr>
            <a:r>
              <a:rPr sz="1000" b="1">
                <a:solidFill>
                  <a:srgbClr val="7A8899"/>
                </a:solidFill>
                <a:latin typeface="Yu Gothic UI"/>
              </a:rPr>
              <a:t>2026/04/15</a:t>
            </a:r>
          </a:p>
        </p:txBody>
      </p:sp>
      <p:sp>
        <p:nvSpPr>
          <p:cNvPr id="16" name="Rounded Rectangle 15"/>
          <p:cNvSpPr/>
          <p:nvPr/>
        </p:nvSpPr>
        <p:spPr>
          <a:xfrm>
            <a:off x="1828800" y="2468880"/>
            <a:ext cx="182880" cy="292608"/>
          </a:xfrm>
          <a:prstGeom prst="roundRect">
            <a:avLst>
              <a:gd name="adj" fmla="val 50000"/>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03120" y="2468880"/>
            <a:ext cx="6492240" cy="292608"/>
          </a:xfrm>
          <a:prstGeom prst="rect">
            <a:avLst/>
          </a:prstGeom>
          <a:noFill/>
        </p:spPr>
        <p:txBody>
          <a:bodyPr wrap="square" lIns="45720" tIns="18288" rIns="45720" bIns="18288" anchor="ctr">
            <a:spAutoFit/>
          </a:bodyPr>
          <a:lstStyle/>
          <a:p>
            <a:pPr algn="l">
              <a:lnSpc>
                <a:spcPct val="115000"/>
              </a:lnSpc>
            </a:pPr>
            <a:r>
              <a:rPr sz="1050" b="0">
                <a:solidFill>
                  <a:srgbClr val="36454F"/>
                </a:solidFill>
                <a:latin typeface="Yu Gothic UI"/>
              </a:rPr>
              <a:t>新規機材マスタの登録方法について（社内通達）</a:t>
            </a:r>
          </a:p>
        </p:txBody>
      </p:sp>
      <p:sp>
        <p:nvSpPr>
          <p:cNvPr id="18" name="Rounded Rectangle 17"/>
          <p:cNvSpPr/>
          <p:nvPr/>
        </p:nvSpPr>
        <p:spPr>
          <a:xfrm>
            <a:off x="457200" y="3154680"/>
            <a:ext cx="2194560" cy="411480"/>
          </a:xfrm>
          <a:prstGeom prst="roundRect">
            <a:avLst>
              <a:gd name="adj" fmla="val 4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3154680"/>
            <a:ext cx="2194560" cy="411480"/>
          </a:xfrm>
          <a:prstGeom prst="rect">
            <a:avLst/>
          </a:prstGeom>
          <a:noFill/>
        </p:spPr>
        <p:txBody>
          <a:bodyPr wrap="square" lIns="45720" tIns="18288" rIns="45720" bIns="18288" anchor="ctr">
            <a:spAutoFit/>
          </a:bodyPr>
          <a:lstStyle/>
          <a:p>
            <a:pPr algn="ctr">
              <a:lnSpc>
                <a:spcPct val="115000"/>
              </a:lnSpc>
            </a:pPr>
            <a:r>
              <a:rPr sz="1100" b="1">
                <a:solidFill>
                  <a:srgbClr val="FFFFFF"/>
                </a:solidFill>
                <a:latin typeface="Yu Gothic UI"/>
              </a:rPr>
              <a:t>確認のしかた</a:t>
            </a:r>
          </a:p>
        </p:txBody>
      </p:sp>
      <p:sp>
        <p:nvSpPr>
          <p:cNvPr id="20" name="TextBox 19"/>
          <p:cNvSpPr txBox="1"/>
          <p:nvPr/>
        </p:nvSpPr>
        <p:spPr>
          <a:xfrm>
            <a:off x="2788920" y="3154680"/>
            <a:ext cx="5989320" cy="411480"/>
          </a:xfrm>
          <a:prstGeom prst="rect">
            <a:avLst/>
          </a:prstGeom>
          <a:noFill/>
        </p:spPr>
        <p:txBody>
          <a:bodyPr wrap="square" lIns="45720" tIns="18288" rIns="45720" bIns="18288" anchor="ctr">
            <a:spAutoFit/>
          </a:bodyPr>
          <a:lstStyle/>
          <a:p>
            <a:pPr algn="l">
              <a:lnSpc>
                <a:spcPct val="130000"/>
              </a:lnSpc>
            </a:pPr>
            <a:r>
              <a:rPr sz="1050" b="0">
                <a:solidFill>
                  <a:srgbClr val="36454F"/>
                </a:solidFill>
                <a:latin typeface="Yu Gothic UI"/>
              </a:rPr>
              <a:t>ダッシュボードのお知らせエリアに新しい情報が一覧で表示されます。最新のお知らせが上に並びます。</a:t>
            </a:r>
          </a:p>
        </p:txBody>
      </p:sp>
      <p:sp>
        <p:nvSpPr>
          <p:cNvPr id="21" name="Rounded Rectangle 20"/>
          <p:cNvSpPr/>
          <p:nvPr/>
        </p:nvSpPr>
        <p:spPr>
          <a:xfrm>
            <a:off x="457200" y="3657600"/>
            <a:ext cx="2194560" cy="411480"/>
          </a:xfrm>
          <a:prstGeom prst="roundRect">
            <a:avLst>
              <a:gd name="adj" fmla="val 4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3657600"/>
            <a:ext cx="2194560" cy="411480"/>
          </a:xfrm>
          <a:prstGeom prst="rect">
            <a:avLst/>
          </a:prstGeom>
          <a:noFill/>
        </p:spPr>
        <p:txBody>
          <a:bodyPr wrap="square" lIns="45720" tIns="18288" rIns="45720" bIns="18288" anchor="ctr">
            <a:spAutoFit/>
          </a:bodyPr>
          <a:lstStyle/>
          <a:p>
            <a:pPr algn="ctr">
              <a:lnSpc>
                <a:spcPct val="115000"/>
              </a:lnSpc>
            </a:pPr>
            <a:r>
              <a:rPr sz="1100" b="1">
                <a:solidFill>
                  <a:srgbClr val="FFFFFF"/>
                </a:solidFill>
                <a:latin typeface="Yu Gothic UI"/>
              </a:rPr>
              <a:t>詳細を見る</a:t>
            </a:r>
          </a:p>
        </p:txBody>
      </p:sp>
      <p:sp>
        <p:nvSpPr>
          <p:cNvPr id="23" name="TextBox 22"/>
          <p:cNvSpPr txBox="1"/>
          <p:nvPr/>
        </p:nvSpPr>
        <p:spPr>
          <a:xfrm>
            <a:off x="2788920" y="3657600"/>
            <a:ext cx="5989320" cy="411480"/>
          </a:xfrm>
          <a:prstGeom prst="rect">
            <a:avLst/>
          </a:prstGeom>
          <a:noFill/>
        </p:spPr>
        <p:txBody>
          <a:bodyPr wrap="square" lIns="45720" tIns="18288" rIns="45720" bIns="18288" anchor="ctr">
            <a:spAutoFit/>
          </a:bodyPr>
          <a:lstStyle/>
          <a:p>
            <a:pPr algn="l">
              <a:lnSpc>
                <a:spcPct val="130000"/>
              </a:lnSpc>
            </a:pPr>
            <a:r>
              <a:rPr sz="1050" b="0">
                <a:solidFill>
                  <a:srgbClr val="36454F"/>
                </a:solidFill>
                <a:latin typeface="Yu Gothic UI"/>
              </a:rPr>
              <a:t>お知らせの行をクリックすると、詳細な内容を確認できます。アップデートに関する情報や運用上の注意事項などが含まれます。</a:t>
            </a:r>
          </a:p>
        </p:txBody>
      </p:sp>
      <p:sp>
        <p:nvSpPr>
          <p:cNvPr id="24" name="Rounded Rectangle 23"/>
          <p:cNvSpPr/>
          <p:nvPr/>
        </p:nvSpPr>
        <p:spPr>
          <a:xfrm>
            <a:off x="457200" y="4160520"/>
            <a:ext cx="2194560" cy="411480"/>
          </a:xfrm>
          <a:prstGeom prst="roundRect">
            <a:avLst>
              <a:gd name="adj" fmla="val 4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4160520"/>
            <a:ext cx="2194560" cy="411480"/>
          </a:xfrm>
          <a:prstGeom prst="rect">
            <a:avLst/>
          </a:prstGeom>
          <a:noFill/>
        </p:spPr>
        <p:txBody>
          <a:bodyPr wrap="square" lIns="45720" tIns="18288" rIns="45720" bIns="18288" anchor="ctr">
            <a:spAutoFit/>
          </a:bodyPr>
          <a:lstStyle/>
          <a:p>
            <a:pPr algn="ctr">
              <a:lnSpc>
                <a:spcPct val="115000"/>
              </a:lnSpc>
            </a:pPr>
            <a:r>
              <a:rPr sz="1100" b="1">
                <a:solidFill>
                  <a:srgbClr val="FFFFFF"/>
                </a:solidFill>
                <a:latin typeface="Yu Gothic UI"/>
              </a:rPr>
              <a:t>自動更新</a:t>
            </a:r>
          </a:p>
        </p:txBody>
      </p:sp>
      <p:sp>
        <p:nvSpPr>
          <p:cNvPr id="26" name="TextBox 25"/>
          <p:cNvSpPr txBox="1"/>
          <p:nvPr/>
        </p:nvSpPr>
        <p:spPr>
          <a:xfrm>
            <a:off x="2788920" y="4160520"/>
            <a:ext cx="5989320" cy="411480"/>
          </a:xfrm>
          <a:prstGeom prst="rect">
            <a:avLst/>
          </a:prstGeom>
          <a:noFill/>
        </p:spPr>
        <p:txBody>
          <a:bodyPr wrap="square" lIns="45720" tIns="18288" rIns="45720" bIns="18288" anchor="ctr">
            <a:spAutoFit/>
          </a:bodyPr>
          <a:lstStyle/>
          <a:p>
            <a:pPr algn="l">
              <a:lnSpc>
                <a:spcPct val="130000"/>
              </a:lnSpc>
            </a:pPr>
            <a:r>
              <a:rPr sz="1050" b="0">
                <a:solidFill>
                  <a:srgbClr val="36454F"/>
                </a:solidFill>
                <a:latin typeface="Yu Gothic UI"/>
              </a:rPr>
              <a:t>ダッシュボードを開いている間、60秒ごとに自動更新されます。手動で更新したい場合は、画面右上の「🔄 更新」ボタンを押してください。</a:t>
            </a:r>
          </a:p>
        </p:txBody>
      </p:sp>
      <p:sp>
        <p:nvSpPr>
          <p:cNvPr id="27" name="TextBox 26"/>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28" name="TextBox 27"/>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9 / 53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02</a:t>
            </a:r>
            <a:r>
              <a:rPr sz="2000" b="0">
                <a:solidFill>
                  <a:srgbClr val="3457D5"/>
                </a:solidFill>
                <a:latin typeface="Yu Gothic UI"/>
              </a:rPr>
              <a:t>　</a:t>
            </a:r>
            <a:r>
              <a:rPr sz="2000" b="1">
                <a:solidFill>
                  <a:srgbClr val="36454F"/>
                </a:solidFill>
                <a:latin typeface="Yu Gothic UI"/>
              </a:rPr>
              <a:t>ダッシュボード</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操作履歴と日報読込履歴を確認できます。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4069080" cy="320040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4069080" cy="36576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280160"/>
            <a:ext cx="3794760" cy="365760"/>
          </a:xfrm>
          <a:prstGeom prst="rect">
            <a:avLst/>
          </a:prstGeom>
          <a:noFill/>
        </p:spPr>
        <p:txBody>
          <a:bodyPr wrap="square" lIns="45720" tIns="18288" rIns="45720" bIns="18288" anchor="ctr">
            <a:spAutoFit/>
          </a:bodyPr>
          <a:lstStyle/>
          <a:p>
            <a:pPr algn="l">
              <a:lnSpc>
                <a:spcPct val="115000"/>
              </a:lnSpc>
            </a:pPr>
            <a:r>
              <a:rPr sz="1200" b="1">
                <a:solidFill>
                  <a:srgbClr val="FFFFFF"/>
                </a:solidFill>
                <a:latin typeface="Yu Gothic UI"/>
              </a:rPr>
              <a:t>📋 操作履歴</a:t>
            </a:r>
          </a:p>
        </p:txBody>
      </p:sp>
      <p:sp>
        <p:nvSpPr>
          <p:cNvPr id="9" name="TextBox 8"/>
          <p:cNvSpPr txBox="1"/>
          <p:nvPr/>
        </p:nvSpPr>
        <p:spPr>
          <a:xfrm>
            <a:off x="640080" y="1737360"/>
            <a:ext cx="3703320" cy="502920"/>
          </a:xfrm>
          <a:prstGeom prst="rect">
            <a:avLst/>
          </a:prstGeom>
          <a:noFill/>
        </p:spPr>
        <p:txBody>
          <a:bodyPr wrap="square" lIns="45720" tIns="18288" rIns="45720" bIns="18288" anchor="t">
            <a:spAutoFit/>
          </a:bodyPr>
          <a:lstStyle/>
          <a:p>
            <a:pPr algn="l">
              <a:lnSpc>
                <a:spcPct val="135000"/>
              </a:lnSpc>
            </a:pPr>
            <a:r>
              <a:rPr sz="1050" b="0">
                <a:solidFill>
                  <a:srgbClr val="36454F"/>
                </a:solidFill>
                <a:latin typeface="Yu Gothic UI"/>
              </a:rPr>
              <a:t>誰が・いつ・どの現場に対して何の操作をしたかが新しい順に表示されます。</a:t>
            </a:r>
          </a:p>
        </p:txBody>
      </p:sp>
      <p:sp>
        <p:nvSpPr>
          <p:cNvPr id="10" name="Rounded Rectangle 9"/>
          <p:cNvSpPr/>
          <p:nvPr/>
        </p:nvSpPr>
        <p:spPr>
          <a:xfrm>
            <a:off x="640080" y="2331720"/>
            <a:ext cx="3703320" cy="41148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2355277"/>
            <a:ext cx="1188720" cy="190630"/>
          </a:xfrm>
          <a:prstGeom prst="rect">
            <a:avLst/>
          </a:prstGeom>
          <a:noFill/>
        </p:spPr>
        <p:txBody>
          <a:bodyPr wrap="square" lIns="45720" tIns="18288" rIns="45720" bIns="18288" anchor="ctr">
            <a:spAutoFit/>
          </a:bodyPr>
          <a:lstStyle/>
          <a:p>
            <a:pPr algn="l">
              <a:lnSpc>
                <a:spcPct val="115000"/>
              </a:lnSpc>
            </a:pPr>
            <a:r>
              <a:rPr lang="ja-JP" altLang="en-US" sz="950" b="1" dirty="0">
                <a:solidFill>
                  <a:srgbClr val="3457D5"/>
                </a:solidFill>
                <a:latin typeface="Yu Gothic UI"/>
              </a:rPr>
              <a:t>仲</a:t>
            </a:r>
            <a:r>
              <a:rPr lang="en-US" altLang="ja-JP" sz="950" b="1" dirty="0">
                <a:solidFill>
                  <a:srgbClr val="3457D5"/>
                </a:solidFill>
                <a:latin typeface="Yu Gothic UI"/>
              </a:rPr>
              <a:t> </a:t>
            </a:r>
            <a:r>
              <a:rPr lang="ja-JP" altLang="en-US" sz="950" b="1" dirty="0">
                <a:solidFill>
                  <a:srgbClr val="3457D5"/>
                </a:solidFill>
                <a:latin typeface="Yu Gothic UI"/>
              </a:rPr>
              <a:t>良智</a:t>
            </a:r>
            <a:endParaRPr sz="950" b="1" dirty="0">
              <a:solidFill>
                <a:srgbClr val="3457D5"/>
              </a:solidFill>
              <a:latin typeface="Yu Gothic UI"/>
            </a:endParaRPr>
          </a:p>
        </p:txBody>
      </p:sp>
      <p:sp>
        <p:nvSpPr>
          <p:cNvPr id="12" name="TextBox 11"/>
          <p:cNvSpPr txBox="1"/>
          <p:nvPr/>
        </p:nvSpPr>
        <p:spPr>
          <a:xfrm>
            <a:off x="1920240" y="2359152"/>
            <a:ext cx="2331720" cy="182880"/>
          </a:xfrm>
          <a:prstGeom prst="rect">
            <a:avLst/>
          </a:prstGeom>
          <a:noFill/>
        </p:spPr>
        <p:txBody>
          <a:bodyPr wrap="square" lIns="45720" tIns="18288" rIns="45720" bIns="18288" anchor="ctr">
            <a:spAutoFit/>
          </a:bodyPr>
          <a:lstStyle/>
          <a:p>
            <a:pPr algn="r">
              <a:lnSpc>
                <a:spcPct val="115000"/>
              </a:lnSpc>
            </a:pPr>
            <a:r>
              <a:rPr sz="850" b="0">
                <a:solidFill>
                  <a:srgbClr val="7A8899"/>
                </a:solidFill>
                <a:latin typeface="Yu Gothic UI"/>
              </a:rPr>
              <a:t>2026/04/30 14:32</a:t>
            </a:r>
          </a:p>
        </p:txBody>
      </p:sp>
      <p:sp>
        <p:nvSpPr>
          <p:cNvPr id="13" name="TextBox 12"/>
          <p:cNvSpPr txBox="1"/>
          <p:nvPr/>
        </p:nvSpPr>
        <p:spPr>
          <a:xfrm>
            <a:off x="731520" y="2542032"/>
            <a:ext cx="3611880" cy="182880"/>
          </a:xfrm>
          <a:prstGeom prst="rect">
            <a:avLst/>
          </a:prstGeom>
          <a:noFill/>
        </p:spPr>
        <p:txBody>
          <a:bodyPr wrap="square" lIns="45720" tIns="18288" rIns="45720" bIns="18288" anchor="ctr">
            <a:spAutoFit/>
          </a:bodyPr>
          <a:lstStyle/>
          <a:p>
            <a:pPr algn="l">
              <a:lnSpc>
                <a:spcPct val="115000"/>
              </a:lnSpc>
            </a:pPr>
            <a:r>
              <a:rPr sz="900" b="0">
                <a:solidFill>
                  <a:srgbClr val="36454F"/>
                </a:solidFill>
                <a:latin typeface="Yu Gothic UI"/>
              </a:rPr>
              <a:t>属性変更：第一土木 → 自社案件</a:t>
            </a:r>
          </a:p>
        </p:txBody>
      </p:sp>
      <p:sp>
        <p:nvSpPr>
          <p:cNvPr id="14" name="Rounded Rectangle 13"/>
          <p:cNvSpPr/>
          <p:nvPr/>
        </p:nvSpPr>
        <p:spPr>
          <a:xfrm>
            <a:off x="640080" y="2788920"/>
            <a:ext cx="3703320" cy="41148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812477"/>
            <a:ext cx="1188720" cy="190630"/>
          </a:xfrm>
          <a:prstGeom prst="rect">
            <a:avLst/>
          </a:prstGeom>
          <a:noFill/>
        </p:spPr>
        <p:txBody>
          <a:bodyPr wrap="square" lIns="45720" tIns="18288" rIns="45720" bIns="18288" anchor="ctr">
            <a:spAutoFit/>
          </a:bodyPr>
          <a:lstStyle/>
          <a:p>
            <a:pPr algn="l">
              <a:lnSpc>
                <a:spcPct val="115000"/>
              </a:lnSpc>
            </a:pPr>
            <a:r>
              <a:rPr lang="en-US" sz="950" b="1" dirty="0">
                <a:solidFill>
                  <a:srgbClr val="3457D5"/>
                </a:solidFill>
                <a:latin typeface="Yu Gothic UI"/>
              </a:rPr>
              <a:t>A</a:t>
            </a:r>
            <a:endParaRPr sz="950" b="1" dirty="0">
              <a:solidFill>
                <a:srgbClr val="3457D5"/>
              </a:solidFill>
              <a:latin typeface="Yu Gothic UI"/>
            </a:endParaRPr>
          </a:p>
        </p:txBody>
      </p:sp>
      <p:sp>
        <p:nvSpPr>
          <p:cNvPr id="16" name="TextBox 15"/>
          <p:cNvSpPr txBox="1"/>
          <p:nvPr/>
        </p:nvSpPr>
        <p:spPr>
          <a:xfrm>
            <a:off x="1920240" y="2816352"/>
            <a:ext cx="2331720" cy="182880"/>
          </a:xfrm>
          <a:prstGeom prst="rect">
            <a:avLst/>
          </a:prstGeom>
          <a:noFill/>
        </p:spPr>
        <p:txBody>
          <a:bodyPr wrap="square" lIns="45720" tIns="18288" rIns="45720" bIns="18288" anchor="ctr">
            <a:spAutoFit/>
          </a:bodyPr>
          <a:lstStyle/>
          <a:p>
            <a:pPr algn="r">
              <a:lnSpc>
                <a:spcPct val="115000"/>
              </a:lnSpc>
            </a:pPr>
            <a:r>
              <a:rPr sz="850" b="0">
                <a:solidFill>
                  <a:srgbClr val="7A8899"/>
                </a:solidFill>
                <a:latin typeface="Yu Gothic UI"/>
              </a:rPr>
              <a:t>2026/04/30 13:15</a:t>
            </a:r>
          </a:p>
        </p:txBody>
      </p:sp>
      <p:sp>
        <p:nvSpPr>
          <p:cNvPr id="17" name="TextBox 16"/>
          <p:cNvSpPr txBox="1"/>
          <p:nvPr/>
        </p:nvSpPr>
        <p:spPr>
          <a:xfrm>
            <a:off x="731520" y="2999232"/>
            <a:ext cx="3611880" cy="182880"/>
          </a:xfrm>
          <a:prstGeom prst="rect">
            <a:avLst/>
          </a:prstGeom>
          <a:noFill/>
        </p:spPr>
        <p:txBody>
          <a:bodyPr wrap="square" lIns="45720" tIns="18288" rIns="45720" bIns="18288" anchor="ctr">
            <a:spAutoFit/>
          </a:bodyPr>
          <a:lstStyle/>
          <a:p>
            <a:pPr algn="l">
              <a:lnSpc>
                <a:spcPct val="115000"/>
              </a:lnSpc>
            </a:pPr>
            <a:r>
              <a:rPr sz="900" b="0">
                <a:solidFill>
                  <a:srgbClr val="36454F"/>
                </a:solidFill>
                <a:latin typeface="Yu Gothic UI"/>
              </a:rPr>
              <a:t>日報取込：日報_2026_04.xlsx</a:t>
            </a:r>
          </a:p>
        </p:txBody>
      </p:sp>
      <p:sp>
        <p:nvSpPr>
          <p:cNvPr id="18" name="Rounded Rectangle 17"/>
          <p:cNvSpPr/>
          <p:nvPr/>
        </p:nvSpPr>
        <p:spPr>
          <a:xfrm>
            <a:off x="640080" y="3246120"/>
            <a:ext cx="3703320" cy="41148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3269677"/>
            <a:ext cx="1188720" cy="190630"/>
          </a:xfrm>
          <a:prstGeom prst="rect">
            <a:avLst/>
          </a:prstGeom>
          <a:noFill/>
        </p:spPr>
        <p:txBody>
          <a:bodyPr wrap="square" lIns="45720" tIns="18288" rIns="45720" bIns="18288" anchor="ctr">
            <a:spAutoFit/>
          </a:bodyPr>
          <a:lstStyle/>
          <a:p>
            <a:pPr algn="l">
              <a:lnSpc>
                <a:spcPct val="115000"/>
              </a:lnSpc>
            </a:pPr>
            <a:r>
              <a:rPr lang="en-US" sz="950" b="1" dirty="0">
                <a:solidFill>
                  <a:srgbClr val="3457D5"/>
                </a:solidFill>
                <a:latin typeface="Yu Gothic UI"/>
              </a:rPr>
              <a:t>B</a:t>
            </a:r>
            <a:endParaRPr sz="950" b="1" dirty="0">
              <a:solidFill>
                <a:srgbClr val="3457D5"/>
              </a:solidFill>
              <a:latin typeface="Yu Gothic UI"/>
            </a:endParaRPr>
          </a:p>
        </p:txBody>
      </p:sp>
      <p:sp>
        <p:nvSpPr>
          <p:cNvPr id="20" name="TextBox 19"/>
          <p:cNvSpPr txBox="1"/>
          <p:nvPr/>
        </p:nvSpPr>
        <p:spPr>
          <a:xfrm>
            <a:off x="1920240" y="3273552"/>
            <a:ext cx="2331720" cy="182880"/>
          </a:xfrm>
          <a:prstGeom prst="rect">
            <a:avLst/>
          </a:prstGeom>
          <a:noFill/>
        </p:spPr>
        <p:txBody>
          <a:bodyPr wrap="square" lIns="45720" tIns="18288" rIns="45720" bIns="18288" anchor="ctr">
            <a:spAutoFit/>
          </a:bodyPr>
          <a:lstStyle/>
          <a:p>
            <a:pPr algn="r">
              <a:lnSpc>
                <a:spcPct val="115000"/>
              </a:lnSpc>
            </a:pPr>
            <a:r>
              <a:rPr sz="850" b="0">
                <a:solidFill>
                  <a:srgbClr val="7A8899"/>
                </a:solidFill>
                <a:latin typeface="Yu Gothic UI"/>
              </a:rPr>
              <a:t>2026/04/30 11:08</a:t>
            </a:r>
          </a:p>
        </p:txBody>
      </p:sp>
      <p:sp>
        <p:nvSpPr>
          <p:cNvPr id="21" name="TextBox 20"/>
          <p:cNvSpPr txBox="1"/>
          <p:nvPr/>
        </p:nvSpPr>
        <p:spPr>
          <a:xfrm>
            <a:off x="731520" y="3456432"/>
            <a:ext cx="3611880" cy="182880"/>
          </a:xfrm>
          <a:prstGeom prst="rect">
            <a:avLst/>
          </a:prstGeom>
          <a:noFill/>
        </p:spPr>
        <p:txBody>
          <a:bodyPr wrap="square" lIns="45720" tIns="18288" rIns="45720" bIns="18288" anchor="ctr">
            <a:spAutoFit/>
          </a:bodyPr>
          <a:lstStyle/>
          <a:p>
            <a:pPr algn="l">
              <a:lnSpc>
                <a:spcPct val="115000"/>
              </a:lnSpc>
            </a:pPr>
            <a:r>
              <a:rPr sz="900" b="0">
                <a:solidFill>
                  <a:srgbClr val="36454F"/>
                </a:solidFill>
                <a:latin typeface="Yu Gothic UI"/>
              </a:rPr>
              <a:t>現場登録：JIPEC_橋梁調査</a:t>
            </a:r>
          </a:p>
        </p:txBody>
      </p:sp>
      <p:sp>
        <p:nvSpPr>
          <p:cNvPr id="22" name="Rounded Rectangle 21"/>
          <p:cNvSpPr/>
          <p:nvPr/>
        </p:nvSpPr>
        <p:spPr>
          <a:xfrm>
            <a:off x="640080" y="3703320"/>
            <a:ext cx="3703320" cy="41148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3726877"/>
            <a:ext cx="1188720" cy="190630"/>
          </a:xfrm>
          <a:prstGeom prst="rect">
            <a:avLst/>
          </a:prstGeom>
          <a:noFill/>
        </p:spPr>
        <p:txBody>
          <a:bodyPr wrap="square" lIns="45720" tIns="18288" rIns="45720" bIns="18288" anchor="ctr">
            <a:spAutoFit/>
          </a:bodyPr>
          <a:lstStyle/>
          <a:p>
            <a:pPr algn="l">
              <a:lnSpc>
                <a:spcPct val="115000"/>
              </a:lnSpc>
            </a:pPr>
            <a:r>
              <a:rPr lang="en-US" sz="950" b="1" dirty="0">
                <a:solidFill>
                  <a:srgbClr val="3457D5"/>
                </a:solidFill>
                <a:latin typeface="Yu Gothic UI"/>
              </a:rPr>
              <a:t>B</a:t>
            </a:r>
            <a:endParaRPr sz="950" b="1" dirty="0">
              <a:solidFill>
                <a:srgbClr val="3457D5"/>
              </a:solidFill>
              <a:latin typeface="Yu Gothic UI"/>
            </a:endParaRPr>
          </a:p>
        </p:txBody>
      </p:sp>
      <p:sp>
        <p:nvSpPr>
          <p:cNvPr id="24" name="TextBox 23"/>
          <p:cNvSpPr txBox="1"/>
          <p:nvPr/>
        </p:nvSpPr>
        <p:spPr>
          <a:xfrm>
            <a:off x="1920240" y="3730752"/>
            <a:ext cx="2331720" cy="182880"/>
          </a:xfrm>
          <a:prstGeom prst="rect">
            <a:avLst/>
          </a:prstGeom>
          <a:noFill/>
        </p:spPr>
        <p:txBody>
          <a:bodyPr wrap="square" lIns="45720" tIns="18288" rIns="45720" bIns="18288" anchor="ctr">
            <a:spAutoFit/>
          </a:bodyPr>
          <a:lstStyle/>
          <a:p>
            <a:pPr algn="r">
              <a:lnSpc>
                <a:spcPct val="115000"/>
              </a:lnSpc>
            </a:pPr>
            <a:r>
              <a:rPr sz="850" b="0">
                <a:solidFill>
                  <a:srgbClr val="7A8899"/>
                </a:solidFill>
                <a:latin typeface="Yu Gothic UI"/>
              </a:rPr>
              <a:t>2026/04/29 16:22</a:t>
            </a:r>
          </a:p>
        </p:txBody>
      </p:sp>
      <p:sp>
        <p:nvSpPr>
          <p:cNvPr id="25" name="TextBox 24"/>
          <p:cNvSpPr txBox="1"/>
          <p:nvPr/>
        </p:nvSpPr>
        <p:spPr>
          <a:xfrm>
            <a:off x="731520" y="3913632"/>
            <a:ext cx="3611880" cy="182880"/>
          </a:xfrm>
          <a:prstGeom prst="rect">
            <a:avLst/>
          </a:prstGeom>
          <a:noFill/>
        </p:spPr>
        <p:txBody>
          <a:bodyPr wrap="square" lIns="45720" tIns="18288" rIns="45720" bIns="18288" anchor="ctr">
            <a:spAutoFit/>
          </a:bodyPr>
          <a:lstStyle/>
          <a:p>
            <a:pPr algn="l">
              <a:lnSpc>
                <a:spcPct val="115000"/>
              </a:lnSpc>
            </a:pPr>
            <a:r>
              <a:rPr sz="900" b="0">
                <a:solidFill>
                  <a:srgbClr val="36454F"/>
                </a:solidFill>
                <a:latin typeface="Yu Gothic UI"/>
              </a:rPr>
              <a:t>アーカイブ：旧現場（5件）</a:t>
            </a:r>
          </a:p>
        </p:txBody>
      </p:sp>
      <p:sp>
        <p:nvSpPr>
          <p:cNvPr id="26" name="Rounded Rectangle 25"/>
          <p:cNvSpPr/>
          <p:nvPr/>
        </p:nvSpPr>
        <p:spPr>
          <a:xfrm>
            <a:off x="4709160" y="1280160"/>
            <a:ext cx="4069080" cy="320040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709160" y="1280160"/>
            <a:ext cx="4069080" cy="36576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846320" y="1280160"/>
            <a:ext cx="3794760" cy="365760"/>
          </a:xfrm>
          <a:prstGeom prst="rect">
            <a:avLst/>
          </a:prstGeom>
          <a:noFill/>
        </p:spPr>
        <p:txBody>
          <a:bodyPr wrap="square" lIns="45720" tIns="18288" rIns="45720" bIns="18288" anchor="ctr">
            <a:spAutoFit/>
          </a:bodyPr>
          <a:lstStyle/>
          <a:p>
            <a:pPr algn="l">
              <a:lnSpc>
                <a:spcPct val="115000"/>
              </a:lnSpc>
            </a:pPr>
            <a:r>
              <a:rPr sz="1200" b="1">
                <a:solidFill>
                  <a:srgbClr val="FFFFFF"/>
                </a:solidFill>
                <a:latin typeface="Yu Gothic UI"/>
              </a:rPr>
              <a:t>📥 日報読込履歴</a:t>
            </a:r>
          </a:p>
        </p:txBody>
      </p:sp>
      <p:sp>
        <p:nvSpPr>
          <p:cNvPr id="29" name="TextBox 28"/>
          <p:cNvSpPr txBox="1"/>
          <p:nvPr/>
        </p:nvSpPr>
        <p:spPr>
          <a:xfrm>
            <a:off x="4892040" y="1737360"/>
            <a:ext cx="3703320" cy="502920"/>
          </a:xfrm>
          <a:prstGeom prst="rect">
            <a:avLst/>
          </a:prstGeom>
          <a:noFill/>
        </p:spPr>
        <p:txBody>
          <a:bodyPr wrap="square" lIns="45720" tIns="18288" rIns="45720" bIns="18288" anchor="t">
            <a:spAutoFit/>
          </a:bodyPr>
          <a:lstStyle/>
          <a:p>
            <a:pPr algn="l">
              <a:lnSpc>
                <a:spcPct val="135000"/>
              </a:lnSpc>
            </a:pPr>
            <a:r>
              <a:rPr sz="1050" b="0">
                <a:solidFill>
                  <a:srgbClr val="36454F"/>
                </a:solidFill>
                <a:latin typeface="Yu Gothic UI"/>
              </a:rPr>
              <a:t>最近取込んだ日報ファイルが新しい順に表示されます。複数ファイル一括取込にも対応しています。</a:t>
            </a:r>
          </a:p>
        </p:txBody>
      </p:sp>
      <p:sp>
        <p:nvSpPr>
          <p:cNvPr id="30" name="Rounded Rectangle 29"/>
          <p:cNvSpPr/>
          <p:nvPr/>
        </p:nvSpPr>
        <p:spPr>
          <a:xfrm>
            <a:off x="4892040" y="2331720"/>
            <a:ext cx="3703320" cy="45720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983480" y="2377440"/>
            <a:ext cx="3611880" cy="190630"/>
          </a:xfrm>
          <a:prstGeom prst="rect">
            <a:avLst/>
          </a:prstGeom>
          <a:noFill/>
        </p:spPr>
        <p:txBody>
          <a:bodyPr wrap="square" lIns="45720" tIns="18288" rIns="45720" bIns="18288" anchor="t">
            <a:spAutoFit/>
          </a:bodyPr>
          <a:lstStyle/>
          <a:p>
            <a:pPr>
              <a:lnSpc>
                <a:spcPct val="115000"/>
              </a:lnSpc>
            </a:pPr>
            <a:r>
              <a:rPr lang="en-US" altLang="ja-JP" sz="950" b="1" dirty="0">
                <a:solidFill>
                  <a:srgbClr val="3457D5"/>
                </a:solidFill>
                <a:latin typeface="Yu Gothic UI"/>
              </a:rPr>
              <a:t>260421_</a:t>
            </a:r>
            <a:r>
              <a:rPr lang="ja-JP" altLang="en-US" sz="950" b="1" dirty="0">
                <a:solidFill>
                  <a:srgbClr val="3457D5"/>
                </a:solidFill>
                <a:latin typeface="Yu Gothic UI"/>
              </a:rPr>
              <a:t>日報入力</a:t>
            </a:r>
            <a:r>
              <a:rPr sz="950" b="1" dirty="0">
                <a:solidFill>
                  <a:srgbClr val="3457D5"/>
                </a:solidFill>
                <a:latin typeface="Yu Gothic UI"/>
              </a:rPr>
              <a:t>.xlsx</a:t>
            </a:r>
          </a:p>
        </p:txBody>
      </p:sp>
      <p:sp>
        <p:nvSpPr>
          <p:cNvPr id="32" name="TextBox 31"/>
          <p:cNvSpPr txBox="1"/>
          <p:nvPr/>
        </p:nvSpPr>
        <p:spPr>
          <a:xfrm>
            <a:off x="4983480" y="2578608"/>
            <a:ext cx="1828800" cy="182880"/>
          </a:xfrm>
          <a:prstGeom prst="rect">
            <a:avLst/>
          </a:prstGeom>
          <a:noFill/>
        </p:spPr>
        <p:txBody>
          <a:bodyPr wrap="square" lIns="45720" tIns="18288" rIns="45720" bIns="18288" anchor="t">
            <a:spAutoFit/>
          </a:bodyPr>
          <a:lstStyle/>
          <a:p>
            <a:pPr algn="l">
              <a:lnSpc>
                <a:spcPct val="115000"/>
              </a:lnSpc>
            </a:pPr>
            <a:r>
              <a:rPr sz="850" b="0">
                <a:solidFill>
                  <a:srgbClr val="7A8899"/>
                </a:solidFill>
                <a:latin typeface="Yu Gothic UI"/>
              </a:rPr>
              <a:t>2026/04/30 13:15</a:t>
            </a:r>
          </a:p>
        </p:txBody>
      </p:sp>
      <p:sp>
        <p:nvSpPr>
          <p:cNvPr id="33" name="TextBox 32"/>
          <p:cNvSpPr txBox="1"/>
          <p:nvPr/>
        </p:nvSpPr>
        <p:spPr>
          <a:xfrm>
            <a:off x="6903720" y="2578608"/>
            <a:ext cx="1691640" cy="182880"/>
          </a:xfrm>
          <a:prstGeom prst="rect">
            <a:avLst/>
          </a:prstGeom>
          <a:noFill/>
        </p:spPr>
        <p:txBody>
          <a:bodyPr wrap="square" lIns="45720" tIns="18288" rIns="45720" bIns="18288" anchor="t">
            <a:spAutoFit/>
          </a:bodyPr>
          <a:lstStyle/>
          <a:p>
            <a:pPr algn="r">
              <a:lnSpc>
                <a:spcPct val="115000"/>
              </a:lnSpc>
            </a:pPr>
            <a:r>
              <a:rPr sz="900" b="1">
                <a:solidFill>
                  <a:srgbClr val="E88B3A"/>
                </a:solidFill>
                <a:latin typeface="Yu Gothic UI"/>
              </a:rPr>
              <a:t>245件</a:t>
            </a:r>
          </a:p>
        </p:txBody>
      </p:sp>
      <p:sp>
        <p:nvSpPr>
          <p:cNvPr id="34" name="Rounded Rectangle 33"/>
          <p:cNvSpPr/>
          <p:nvPr/>
        </p:nvSpPr>
        <p:spPr>
          <a:xfrm>
            <a:off x="4892040" y="2834640"/>
            <a:ext cx="3703320" cy="45720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983480" y="2880360"/>
            <a:ext cx="3611880" cy="190950"/>
          </a:xfrm>
          <a:prstGeom prst="rect">
            <a:avLst/>
          </a:prstGeom>
          <a:noFill/>
        </p:spPr>
        <p:txBody>
          <a:bodyPr wrap="square" lIns="45720" tIns="18288" rIns="45720" bIns="18288" anchor="t">
            <a:spAutoFit/>
          </a:bodyPr>
          <a:lstStyle/>
          <a:p>
            <a:pPr>
              <a:lnSpc>
                <a:spcPct val="115000"/>
              </a:lnSpc>
            </a:pPr>
            <a:r>
              <a:rPr lang="en-US" altLang="zh-TW" sz="950" b="1" dirty="0">
                <a:solidFill>
                  <a:srgbClr val="3457D5"/>
                </a:solidFill>
                <a:latin typeface="Yu Gothic UI"/>
              </a:rPr>
              <a:t>250321_</a:t>
            </a:r>
            <a:r>
              <a:rPr lang="zh-TW" altLang="en-US" sz="950" b="1" dirty="0">
                <a:solidFill>
                  <a:srgbClr val="3457D5"/>
                </a:solidFill>
                <a:latin typeface="Yu Gothic UI"/>
              </a:rPr>
              <a:t>作業日報</a:t>
            </a:r>
            <a:r>
              <a:rPr lang="en-US" altLang="zh-TW" sz="950" b="1" dirty="0">
                <a:solidFill>
                  <a:srgbClr val="3457D5"/>
                </a:solidFill>
                <a:latin typeface="Yu Gothic UI"/>
              </a:rPr>
              <a:t>_</a:t>
            </a:r>
            <a:r>
              <a:rPr lang="zh-TW" altLang="en-US" sz="950" b="1" dirty="0">
                <a:solidFill>
                  <a:srgbClr val="3457D5"/>
                </a:solidFill>
                <a:latin typeface="Yu Gothic UI"/>
              </a:rPr>
              <a:t>ｱｰｽ･ｱﾅﾗｲｻﾞｰ</a:t>
            </a:r>
            <a:r>
              <a:rPr lang="en-US" altLang="zh-TW" sz="950" b="1" dirty="0">
                <a:solidFill>
                  <a:srgbClr val="3457D5"/>
                </a:solidFill>
                <a:latin typeface="Yu Gothic UI"/>
              </a:rPr>
              <a:t>DX-LAB</a:t>
            </a:r>
            <a:r>
              <a:rPr sz="950" b="1" dirty="0">
                <a:solidFill>
                  <a:srgbClr val="3457D5"/>
                </a:solidFill>
                <a:latin typeface="Yu Gothic UI"/>
              </a:rPr>
              <a:t>.xlsx</a:t>
            </a:r>
          </a:p>
        </p:txBody>
      </p:sp>
      <p:sp>
        <p:nvSpPr>
          <p:cNvPr id="36" name="TextBox 35"/>
          <p:cNvSpPr txBox="1"/>
          <p:nvPr/>
        </p:nvSpPr>
        <p:spPr>
          <a:xfrm>
            <a:off x="4983480" y="3081528"/>
            <a:ext cx="1828800" cy="182880"/>
          </a:xfrm>
          <a:prstGeom prst="rect">
            <a:avLst/>
          </a:prstGeom>
          <a:noFill/>
        </p:spPr>
        <p:txBody>
          <a:bodyPr wrap="square" lIns="45720" tIns="18288" rIns="45720" bIns="18288" anchor="t">
            <a:spAutoFit/>
          </a:bodyPr>
          <a:lstStyle/>
          <a:p>
            <a:pPr algn="l">
              <a:lnSpc>
                <a:spcPct val="115000"/>
              </a:lnSpc>
            </a:pPr>
            <a:r>
              <a:rPr sz="850" b="0">
                <a:solidFill>
                  <a:srgbClr val="7A8899"/>
                </a:solidFill>
                <a:latin typeface="Yu Gothic UI"/>
              </a:rPr>
              <a:t>2026/04/29 17:40</a:t>
            </a:r>
          </a:p>
        </p:txBody>
      </p:sp>
      <p:sp>
        <p:nvSpPr>
          <p:cNvPr id="37" name="TextBox 36"/>
          <p:cNvSpPr txBox="1"/>
          <p:nvPr/>
        </p:nvSpPr>
        <p:spPr>
          <a:xfrm>
            <a:off x="6903720" y="3081528"/>
            <a:ext cx="1691640" cy="182880"/>
          </a:xfrm>
          <a:prstGeom prst="rect">
            <a:avLst/>
          </a:prstGeom>
          <a:noFill/>
        </p:spPr>
        <p:txBody>
          <a:bodyPr wrap="square" lIns="45720" tIns="18288" rIns="45720" bIns="18288" anchor="t">
            <a:spAutoFit/>
          </a:bodyPr>
          <a:lstStyle/>
          <a:p>
            <a:pPr algn="r">
              <a:lnSpc>
                <a:spcPct val="115000"/>
              </a:lnSpc>
            </a:pPr>
            <a:r>
              <a:rPr sz="900" b="1">
                <a:solidFill>
                  <a:srgbClr val="E88B3A"/>
                </a:solidFill>
                <a:latin typeface="Yu Gothic UI"/>
              </a:rPr>
              <a:t>187件</a:t>
            </a:r>
          </a:p>
        </p:txBody>
      </p:sp>
      <p:sp>
        <p:nvSpPr>
          <p:cNvPr id="38" name="Rounded Rectangle 37"/>
          <p:cNvSpPr/>
          <p:nvPr/>
        </p:nvSpPr>
        <p:spPr>
          <a:xfrm>
            <a:off x="4892040" y="3337560"/>
            <a:ext cx="3703320" cy="45720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983480" y="3383280"/>
            <a:ext cx="3611880" cy="189347"/>
          </a:xfrm>
          <a:prstGeom prst="rect">
            <a:avLst/>
          </a:prstGeom>
          <a:noFill/>
        </p:spPr>
        <p:txBody>
          <a:bodyPr wrap="square" lIns="45720" tIns="18288" rIns="45720" bIns="18288" anchor="t">
            <a:spAutoFit/>
          </a:bodyPr>
          <a:lstStyle/>
          <a:p>
            <a:pPr>
              <a:lnSpc>
                <a:spcPct val="115000"/>
              </a:lnSpc>
            </a:pPr>
            <a:r>
              <a:rPr lang="en-US" altLang="ja-JP" sz="950" b="1" dirty="0">
                <a:solidFill>
                  <a:srgbClr val="3457D5"/>
                </a:solidFill>
                <a:latin typeface="Yu Gothic UI"/>
              </a:rPr>
              <a:t>260321_</a:t>
            </a:r>
            <a:r>
              <a:rPr lang="ja-JP" altLang="en-US" sz="950" b="1" dirty="0">
                <a:solidFill>
                  <a:srgbClr val="3457D5"/>
                </a:solidFill>
                <a:latin typeface="Yu Gothic UI"/>
              </a:rPr>
              <a:t>日報入力</a:t>
            </a:r>
            <a:r>
              <a:rPr sz="950" b="1" dirty="0">
                <a:solidFill>
                  <a:srgbClr val="3457D5"/>
                </a:solidFill>
                <a:latin typeface="Yu Gothic UI"/>
              </a:rPr>
              <a:t>.xlsm</a:t>
            </a:r>
          </a:p>
        </p:txBody>
      </p:sp>
      <p:sp>
        <p:nvSpPr>
          <p:cNvPr id="40" name="TextBox 39"/>
          <p:cNvSpPr txBox="1"/>
          <p:nvPr/>
        </p:nvSpPr>
        <p:spPr>
          <a:xfrm>
            <a:off x="4983480" y="3584448"/>
            <a:ext cx="1828800" cy="182880"/>
          </a:xfrm>
          <a:prstGeom prst="rect">
            <a:avLst/>
          </a:prstGeom>
          <a:noFill/>
        </p:spPr>
        <p:txBody>
          <a:bodyPr wrap="square" lIns="45720" tIns="18288" rIns="45720" bIns="18288" anchor="t">
            <a:spAutoFit/>
          </a:bodyPr>
          <a:lstStyle/>
          <a:p>
            <a:pPr algn="l">
              <a:lnSpc>
                <a:spcPct val="115000"/>
              </a:lnSpc>
            </a:pPr>
            <a:r>
              <a:rPr sz="850" b="0">
                <a:solidFill>
                  <a:srgbClr val="7A8899"/>
                </a:solidFill>
                <a:latin typeface="Yu Gothic UI"/>
              </a:rPr>
              <a:t>2026/04/02 09:12</a:t>
            </a:r>
          </a:p>
        </p:txBody>
      </p:sp>
      <p:sp>
        <p:nvSpPr>
          <p:cNvPr id="41" name="TextBox 40"/>
          <p:cNvSpPr txBox="1"/>
          <p:nvPr/>
        </p:nvSpPr>
        <p:spPr>
          <a:xfrm>
            <a:off x="6903720" y="3584448"/>
            <a:ext cx="1691640" cy="182880"/>
          </a:xfrm>
          <a:prstGeom prst="rect">
            <a:avLst/>
          </a:prstGeom>
          <a:noFill/>
        </p:spPr>
        <p:txBody>
          <a:bodyPr wrap="square" lIns="45720" tIns="18288" rIns="45720" bIns="18288" anchor="t">
            <a:spAutoFit/>
          </a:bodyPr>
          <a:lstStyle/>
          <a:p>
            <a:pPr algn="r">
              <a:lnSpc>
                <a:spcPct val="115000"/>
              </a:lnSpc>
            </a:pPr>
            <a:r>
              <a:rPr sz="900" b="1">
                <a:solidFill>
                  <a:srgbClr val="E88B3A"/>
                </a:solidFill>
                <a:latin typeface="Yu Gothic UI"/>
              </a:rPr>
              <a:t>892件</a:t>
            </a:r>
          </a:p>
        </p:txBody>
      </p:sp>
      <p:sp>
        <p:nvSpPr>
          <p:cNvPr id="42" name="TextBox 41"/>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43" name="TextBox 42"/>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10 / 53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02</a:t>
            </a:r>
            <a:r>
              <a:rPr sz="2000" b="0">
                <a:solidFill>
                  <a:srgbClr val="3457D5"/>
                </a:solidFill>
                <a:latin typeface="Yu Gothic UI"/>
              </a:rPr>
              <a:t>　</a:t>
            </a:r>
            <a:r>
              <a:rPr sz="2000" b="1">
                <a:solidFill>
                  <a:srgbClr val="36454F"/>
                </a:solidFill>
                <a:latin typeface="Yu Gothic UI"/>
              </a:rPr>
              <a:t>ダッシュボード</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ダッシュボードは自動で更新されます。手動で更新することもできます。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4069080" cy="320040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4069080" cy="36576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280160"/>
            <a:ext cx="4069080" cy="365760"/>
          </a:xfrm>
          <a:prstGeom prst="rect">
            <a:avLst/>
          </a:prstGeom>
          <a:noFill/>
        </p:spPr>
        <p:txBody>
          <a:bodyPr wrap="square" lIns="45720" tIns="18288" rIns="45720" bIns="18288" anchor="ctr">
            <a:spAutoFit/>
          </a:bodyPr>
          <a:lstStyle/>
          <a:p>
            <a:pPr algn="ctr">
              <a:lnSpc>
                <a:spcPct val="115000"/>
              </a:lnSpc>
            </a:pPr>
            <a:r>
              <a:rPr sz="1200" b="1">
                <a:solidFill>
                  <a:srgbClr val="FFFFFF"/>
                </a:solidFill>
                <a:latin typeface="Yu Gothic UI"/>
              </a:rPr>
              <a:t>🔁 自動更新</a:t>
            </a:r>
          </a:p>
        </p:txBody>
      </p:sp>
      <p:sp>
        <p:nvSpPr>
          <p:cNvPr id="9" name="TextBox 8"/>
          <p:cNvSpPr txBox="1"/>
          <p:nvPr/>
        </p:nvSpPr>
        <p:spPr>
          <a:xfrm>
            <a:off x="731520" y="1783080"/>
            <a:ext cx="3520440" cy="2377440"/>
          </a:xfrm>
          <a:prstGeom prst="rect">
            <a:avLst/>
          </a:prstGeom>
          <a:noFill/>
        </p:spPr>
        <p:txBody>
          <a:bodyPr wrap="square" lIns="45720" tIns="18288" rIns="45720" bIns="18288" anchor="t">
            <a:spAutoFit/>
          </a:bodyPr>
          <a:lstStyle/>
          <a:p>
            <a:pPr algn="l">
              <a:lnSpc>
                <a:spcPct val="135000"/>
              </a:lnSpc>
            </a:pPr>
            <a:r>
              <a:rPr sz="1050" b="0">
                <a:solidFill>
                  <a:srgbClr val="36454F"/>
                </a:solidFill>
                <a:latin typeface="Yu Gothic UI"/>
              </a:rPr>
              <a:t>ダッシュボードを開いている間、お知らせ・操作履歴・日報読込履歴は60秒ごとに自動で更新されます。</a:t>
            </a:r>
          </a:p>
          <a:p>
            <a:pPr algn="l">
              <a:lnSpc>
                <a:spcPct val="135000"/>
              </a:lnSpc>
            </a:pPr>
            <a:endParaRPr sz="1050" b="0">
              <a:solidFill>
                <a:srgbClr val="36454F"/>
              </a:solidFill>
              <a:latin typeface="Yu Gothic UI"/>
            </a:endParaRPr>
          </a:p>
          <a:p>
            <a:pPr algn="l">
              <a:lnSpc>
                <a:spcPct val="135000"/>
              </a:lnSpc>
            </a:pPr>
            <a:r>
              <a:rPr sz="1050" b="0">
                <a:solidFill>
                  <a:srgbClr val="36454F"/>
                </a:solidFill>
                <a:latin typeface="Yu Gothic UI"/>
              </a:rPr>
              <a:t>他の人の操作内容も自動的に画面に反映されるため、常に最新の状況を確認できます。</a:t>
            </a:r>
          </a:p>
          <a:p>
            <a:pPr algn="l">
              <a:lnSpc>
                <a:spcPct val="135000"/>
              </a:lnSpc>
            </a:pPr>
            <a:endParaRPr sz="1050" b="0">
              <a:solidFill>
                <a:srgbClr val="36454F"/>
              </a:solidFill>
              <a:latin typeface="Yu Gothic UI"/>
            </a:endParaRPr>
          </a:p>
          <a:p>
            <a:pPr algn="l">
              <a:lnSpc>
                <a:spcPct val="135000"/>
              </a:lnSpc>
            </a:pPr>
            <a:r>
              <a:rPr sz="1050" b="0">
                <a:solidFill>
                  <a:srgbClr val="36454F"/>
                </a:solidFill>
                <a:latin typeface="Yu Gothic UI"/>
              </a:rPr>
              <a:t>ダッシュボード以外の画面（原価集計・日報取込・設定）を開いている間は、自動更新は行われません。</a:t>
            </a:r>
          </a:p>
        </p:txBody>
      </p:sp>
      <p:sp>
        <p:nvSpPr>
          <p:cNvPr id="10" name="Rounded Rectangle 9"/>
          <p:cNvSpPr/>
          <p:nvPr/>
        </p:nvSpPr>
        <p:spPr>
          <a:xfrm>
            <a:off x="4709160" y="1280160"/>
            <a:ext cx="4069080" cy="320040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709160" y="1280160"/>
            <a:ext cx="4069080" cy="36576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09160" y="1280160"/>
            <a:ext cx="4069080" cy="365760"/>
          </a:xfrm>
          <a:prstGeom prst="rect">
            <a:avLst/>
          </a:prstGeom>
          <a:noFill/>
        </p:spPr>
        <p:txBody>
          <a:bodyPr wrap="square" lIns="45720" tIns="18288" rIns="45720" bIns="18288" anchor="ctr">
            <a:spAutoFit/>
          </a:bodyPr>
          <a:lstStyle/>
          <a:p>
            <a:pPr algn="ctr">
              <a:lnSpc>
                <a:spcPct val="115000"/>
              </a:lnSpc>
            </a:pPr>
            <a:r>
              <a:rPr sz="1200" b="1">
                <a:solidFill>
                  <a:srgbClr val="FFFFFF"/>
                </a:solidFill>
                <a:latin typeface="Yu Gothic UI"/>
              </a:rPr>
              <a:t>🔄 手動更新</a:t>
            </a:r>
          </a:p>
        </p:txBody>
      </p:sp>
      <p:sp>
        <p:nvSpPr>
          <p:cNvPr id="13" name="Rounded Rectangle 12"/>
          <p:cNvSpPr/>
          <p:nvPr/>
        </p:nvSpPr>
        <p:spPr>
          <a:xfrm>
            <a:off x="5989320" y="1828800"/>
            <a:ext cx="1508760" cy="411480"/>
          </a:xfrm>
          <a:prstGeom prst="roundRect">
            <a:avLst>
              <a:gd name="adj" fmla="val 2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89320" y="1828800"/>
            <a:ext cx="1508760" cy="411480"/>
          </a:xfrm>
          <a:prstGeom prst="rect">
            <a:avLst/>
          </a:prstGeom>
          <a:noFill/>
        </p:spPr>
        <p:txBody>
          <a:bodyPr wrap="square" lIns="45720" tIns="18288" rIns="45720" bIns="18288" anchor="ctr">
            <a:spAutoFit/>
          </a:bodyPr>
          <a:lstStyle/>
          <a:p>
            <a:pPr algn="ctr">
              <a:lnSpc>
                <a:spcPct val="115000"/>
              </a:lnSpc>
            </a:pPr>
            <a:r>
              <a:rPr sz="1100" b="1">
                <a:solidFill>
                  <a:srgbClr val="FFFFFF"/>
                </a:solidFill>
                <a:latin typeface="Yu Gothic UI"/>
              </a:rPr>
              <a:t>🔄 更新</a:t>
            </a:r>
          </a:p>
        </p:txBody>
      </p:sp>
      <p:sp>
        <p:nvSpPr>
          <p:cNvPr id="15" name="TextBox 14"/>
          <p:cNvSpPr txBox="1"/>
          <p:nvPr/>
        </p:nvSpPr>
        <p:spPr>
          <a:xfrm>
            <a:off x="4983480" y="2423160"/>
            <a:ext cx="3520440" cy="1828800"/>
          </a:xfrm>
          <a:prstGeom prst="rect">
            <a:avLst/>
          </a:prstGeom>
          <a:noFill/>
        </p:spPr>
        <p:txBody>
          <a:bodyPr wrap="square" lIns="45720" tIns="18288" rIns="45720" bIns="18288" anchor="t">
            <a:spAutoFit/>
          </a:bodyPr>
          <a:lstStyle/>
          <a:p>
            <a:pPr algn="l">
              <a:lnSpc>
                <a:spcPct val="135000"/>
              </a:lnSpc>
            </a:pPr>
            <a:r>
              <a:rPr sz="1050" b="0">
                <a:solidFill>
                  <a:srgbClr val="36454F"/>
                </a:solidFill>
                <a:latin typeface="Yu Gothic UI"/>
              </a:rPr>
              <a:t>画面右上にある「🔄 更新」ボタンを押すと、いつでも最新の状態に手動で更新できます。</a:t>
            </a:r>
          </a:p>
          <a:p>
            <a:pPr algn="l">
              <a:lnSpc>
                <a:spcPct val="135000"/>
              </a:lnSpc>
            </a:pPr>
            <a:endParaRPr sz="1050" b="0">
              <a:solidFill>
                <a:srgbClr val="36454F"/>
              </a:solidFill>
              <a:latin typeface="Yu Gothic UI"/>
            </a:endParaRPr>
          </a:p>
          <a:p>
            <a:pPr algn="l">
              <a:lnSpc>
                <a:spcPct val="135000"/>
              </a:lnSpc>
            </a:pPr>
            <a:r>
              <a:rPr sz="1050" b="0">
                <a:solidFill>
                  <a:srgbClr val="36454F"/>
                </a:solidFill>
                <a:latin typeface="Yu Gothic UI"/>
              </a:rPr>
              <a:t>他の人が今行っている操作をすぐに確認したいとき、自動更新を待たずに最新化したい場合に使ってください。</a:t>
            </a:r>
          </a:p>
          <a:p>
            <a:pPr algn="l">
              <a:lnSpc>
                <a:spcPct val="135000"/>
              </a:lnSpc>
            </a:pPr>
            <a:endParaRPr sz="1050" b="0">
              <a:solidFill>
                <a:srgbClr val="36454F"/>
              </a:solidFill>
              <a:latin typeface="Yu Gothic UI"/>
            </a:endParaRPr>
          </a:p>
          <a:p>
            <a:pPr algn="l">
              <a:lnSpc>
                <a:spcPct val="135000"/>
              </a:lnSpc>
            </a:pPr>
            <a:r>
              <a:rPr sz="1050" b="0">
                <a:solidFill>
                  <a:srgbClr val="36454F"/>
                </a:solidFill>
                <a:latin typeface="Yu Gothic UI"/>
              </a:rPr>
              <a:t>ショートカットキー Ctrl + R でも同じ操作ができます。</a:t>
            </a:r>
          </a:p>
        </p:txBody>
      </p:sp>
      <p:sp>
        <p:nvSpPr>
          <p:cNvPr id="16" name="TextBox 15"/>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17" name="TextBox 16"/>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11 / 53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03</a:t>
            </a:r>
            <a:r>
              <a:rPr sz="2000" b="0">
                <a:solidFill>
                  <a:srgbClr val="3457D5"/>
                </a:solidFill>
                <a:latin typeface="Yu Gothic UI"/>
              </a:rPr>
              <a:t>　</a:t>
            </a:r>
            <a:r>
              <a:rPr sz="2000" b="1">
                <a:solidFill>
                  <a:srgbClr val="36454F"/>
                </a:solidFill>
                <a:latin typeface="Yu Gothic UI"/>
              </a:rPr>
              <a:t>日報取込</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日報取込の全体の流れを4ステップで説明します。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1908810" cy="237744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190881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280160"/>
            <a:ext cx="190881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1</a:t>
            </a:r>
          </a:p>
        </p:txBody>
      </p:sp>
      <p:sp>
        <p:nvSpPr>
          <p:cNvPr id="9" name="TextBox 8"/>
          <p:cNvSpPr txBox="1"/>
          <p:nvPr/>
        </p:nvSpPr>
        <p:spPr>
          <a:xfrm>
            <a:off x="548640" y="1664208"/>
            <a:ext cx="172593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ファイル選択</a:t>
            </a:r>
          </a:p>
        </p:txBody>
      </p:sp>
      <p:sp>
        <p:nvSpPr>
          <p:cNvPr id="10" name="TextBox 9"/>
          <p:cNvSpPr txBox="1"/>
          <p:nvPr/>
        </p:nvSpPr>
        <p:spPr>
          <a:xfrm>
            <a:off x="548640" y="2057400"/>
            <a:ext cx="1725930" cy="150876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Excelの日報ファイル（.xlsx / .xlsm）を選択します。複数ファイルの一括選択も可能です。</a:t>
            </a:r>
          </a:p>
        </p:txBody>
      </p:sp>
      <p:sp>
        <p:nvSpPr>
          <p:cNvPr id="11" name="Right Arrow 10"/>
          <p:cNvSpPr/>
          <p:nvPr/>
        </p:nvSpPr>
        <p:spPr>
          <a:xfrm>
            <a:off x="2384298" y="2359152"/>
            <a:ext cx="201168" cy="219456"/>
          </a:xfrm>
          <a:prstGeom prst="rightArrow">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594610" y="1280160"/>
            <a:ext cx="1908810" cy="237744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94610" y="1280160"/>
            <a:ext cx="190881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94610" y="1280160"/>
            <a:ext cx="190881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2</a:t>
            </a:r>
          </a:p>
        </p:txBody>
      </p:sp>
      <p:sp>
        <p:nvSpPr>
          <p:cNvPr id="15" name="TextBox 14"/>
          <p:cNvSpPr txBox="1"/>
          <p:nvPr/>
        </p:nvSpPr>
        <p:spPr>
          <a:xfrm>
            <a:off x="2686050" y="1664208"/>
            <a:ext cx="172593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プレビュー確認</a:t>
            </a:r>
          </a:p>
        </p:txBody>
      </p:sp>
      <p:sp>
        <p:nvSpPr>
          <p:cNvPr id="16" name="TextBox 15"/>
          <p:cNvSpPr txBox="1"/>
          <p:nvPr/>
        </p:nvSpPr>
        <p:spPr>
          <a:xfrm>
            <a:off x="2686050" y="2057400"/>
            <a:ext cx="1725930" cy="150876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取込予定のデータが一覧で表示されます。期間の重複もここで自動チェックされます。</a:t>
            </a:r>
          </a:p>
        </p:txBody>
      </p:sp>
      <p:sp>
        <p:nvSpPr>
          <p:cNvPr id="17" name="Right Arrow 16"/>
          <p:cNvSpPr/>
          <p:nvPr/>
        </p:nvSpPr>
        <p:spPr>
          <a:xfrm>
            <a:off x="4521708" y="2359152"/>
            <a:ext cx="201168" cy="219456"/>
          </a:xfrm>
          <a:prstGeom prst="rightArrow">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732020" y="1280160"/>
            <a:ext cx="1908810" cy="237744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732020" y="1280160"/>
            <a:ext cx="190881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732020" y="1280160"/>
            <a:ext cx="190881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3</a:t>
            </a:r>
          </a:p>
        </p:txBody>
      </p:sp>
      <p:sp>
        <p:nvSpPr>
          <p:cNvPr id="21" name="TextBox 20"/>
          <p:cNvSpPr txBox="1"/>
          <p:nvPr/>
        </p:nvSpPr>
        <p:spPr>
          <a:xfrm>
            <a:off x="4823460" y="1664208"/>
            <a:ext cx="172593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取込実行</a:t>
            </a:r>
          </a:p>
        </p:txBody>
      </p:sp>
      <p:sp>
        <p:nvSpPr>
          <p:cNvPr id="22" name="TextBox 21"/>
          <p:cNvSpPr txBox="1"/>
          <p:nvPr/>
        </p:nvSpPr>
        <p:spPr>
          <a:xfrm>
            <a:off x="4823460" y="2057400"/>
            <a:ext cx="1725930" cy="150876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「取込開始」ボタンを押すと、データがDBに保存されて原価が自動集計されます。</a:t>
            </a:r>
          </a:p>
        </p:txBody>
      </p:sp>
      <p:sp>
        <p:nvSpPr>
          <p:cNvPr id="23" name="Right Arrow 22"/>
          <p:cNvSpPr/>
          <p:nvPr/>
        </p:nvSpPr>
        <p:spPr>
          <a:xfrm>
            <a:off x="6659118" y="2359152"/>
            <a:ext cx="201168" cy="219456"/>
          </a:xfrm>
          <a:prstGeom prst="rightArrow">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869430" y="1280160"/>
            <a:ext cx="1908810" cy="237744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869430" y="1280160"/>
            <a:ext cx="190881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69430" y="1280160"/>
            <a:ext cx="190881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4</a:t>
            </a:r>
          </a:p>
        </p:txBody>
      </p:sp>
      <p:sp>
        <p:nvSpPr>
          <p:cNvPr id="27" name="TextBox 26"/>
          <p:cNvSpPr txBox="1"/>
          <p:nvPr/>
        </p:nvSpPr>
        <p:spPr>
          <a:xfrm>
            <a:off x="6960870" y="1664208"/>
            <a:ext cx="172593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新規データの登録</a:t>
            </a:r>
          </a:p>
        </p:txBody>
      </p:sp>
      <p:sp>
        <p:nvSpPr>
          <p:cNvPr id="28" name="TextBox 27"/>
          <p:cNvSpPr txBox="1"/>
          <p:nvPr/>
        </p:nvSpPr>
        <p:spPr>
          <a:xfrm>
            <a:off x="6960870" y="2057400"/>
            <a:ext cx="1725930" cy="150876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日報内に新しい現場や社員が含まれていた場合は、登録ダイアログが順番に表示されます。</a:t>
            </a:r>
          </a:p>
        </p:txBody>
      </p:sp>
      <p:sp>
        <p:nvSpPr>
          <p:cNvPr id="29" name="Rounded Rectangle 28"/>
          <p:cNvSpPr/>
          <p:nvPr/>
        </p:nvSpPr>
        <p:spPr>
          <a:xfrm>
            <a:off x="457200" y="3840480"/>
            <a:ext cx="8321040" cy="77724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3931920"/>
            <a:ext cx="7955280" cy="594360"/>
          </a:xfrm>
          <a:prstGeom prst="rect">
            <a:avLst/>
          </a:prstGeom>
          <a:noFill/>
        </p:spPr>
        <p:txBody>
          <a:bodyPr wrap="square" lIns="45720" tIns="18288" rIns="45720" bIns="18288" anchor="ctr">
            <a:spAutoFit/>
          </a:bodyPr>
          <a:lstStyle/>
          <a:p>
            <a:pPr algn="l">
              <a:lnSpc>
                <a:spcPct val="135000"/>
              </a:lnSpc>
            </a:pPr>
            <a:r>
              <a:rPr sz="1300" b="0">
                <a:solidFill>
                  <a:srgbClr val="E88B3A"/>
                </a:solidFill>
                <a:latin typeface="Yu Gothic UI"/>
              </a:rPr>
              <a:t>💡  </a:t>
            </a:r>
            <a:r>
              <a:rPr sz="1100" b="1">
                <a:solidFill>
                  <a:srgbClr val="3457D5"/>
                </a:solidFill>
                <a:latin typeface="Yu Gothic UI"/>
              </a:rPr>
              <a:t>ポイント：</a:t>
            </a:r>
            <a:r>
              <a:rPr sz="1050" b="0">
                <a:solidFill>
                  <a:srgbClr val="36454F"/>
                </a:solidFill>
                <a:latin typeface="Yu Gothic UI"/>
              </a:rPr>
              <a:t>取込中はデータバリデーションが自動で行われます。区分コードが日付になっている行・時間が24時間以上の行・距離がマイナスの行などはスキップされ、エラー一覧として表示されます。</a:t>
            </a:r>
          </a:p>
        </p:txBody>
      </p:sp>
      <p:sp>
        <p:nvSpPr>
          <p:cNvPr id="31" name="TextBox 30"/>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32" name="TextBox 31"/>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12 / 53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03</a:t>
            </a:r>
            <a:r>
              <a:rPr sz="2000" b="0">
                <a:solidFill>
                  <a:srgbClr val="3457D5"/>
                </a:solidFill>
                <a:latin typeface="Yu Gothic UI"/>
              </a:rPr>
              <a:t>　</a:t>
            </a:r>
            <a:r>
              <a:rPr sz="2000" b="1">
                <a:solidFill>
                  <a:srgbClr val="36454F"/>
                </a:solidFill>
                <a:latin typeface="Yu Gothic UI"/>
              </a:rPr>
              <a:t>日報取込</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STEP 1：日報ファイルの選択方法を説明します。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4937760" cy="777240"/>
          </a:xfrm>
          <a:prstGeom prst="roundRect">
            <a:avLst>
              <a:gd name="adj" fmla="val 5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417320"/>
            <a:ext cx="502920" cy="502920"/>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417320"/>
            <a:ext cx="502920" cy="502920"/>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①</a:t>
            </a:r>
          </a:p>
        </p:txBody>
      </p:sp>
      <p:sp>
        <p:nvSpPr>
          <p:cNvPr id="9" name="TextBox 8"/>
          <p:cNvSpPr txBox="1"/>
          <p:nvPr/>
        </p:nvSpPr>
        <p:spPr>
          <a:xfrm>
            <a:off x="1234440" y="1371600"/>
            <a:ext cx="4023360" cy="274320"/>
          </a:xfrm>
          <a:prstGeom prst="rect">
            <a:avLst/>
          </a:prstGeom>
          <a:noFill/>
        </p:spPr>
        <p:txBody>
          <a:bodyPr wrap="square" lIns="45720" tIns="18288" rIns="45720" bIns="18288" anchor="t">
            <a:spAutoFit/>
          </a:bodyPr>
          <a:lstStyle/>
          <a:p>
            <a:pPr algn="l">
              <a:lnSpc>
                <a:spcPct val="115000"/>
              </a:lnSpc>
            </a:pPr>
            <a:r>
              <a:rPr sz="1150" b="1">
                <a:solidFill>
                  <a:srgbClr val="3457D5"/>
                </a:solidFill>
                <a:latin typeface="Yu Gothic UI"/>
              </a:rPr>
              <a:t>サイドバーから「日報取込」をクリック</a:t>
            </a:r>
          </a:p>
        </p:txBody>
      </p:sp>
      <p:sp>
        <p:nvSpPr>
          <p:cNvPr id="10" name="TextBox 9"/>
          <p:cNvSpPr txBox="1"/>
          <p:nvPr/>
        </p:nvSpPr>
        <p:spPr>
          <a:xfrm>
            <a:off x="1234440" y="1664208"/>
            <a:ext cx="4023360" cy="36576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サイドバーの「日報取込」メニューをクリックして、画面を開きます。</a:t>
            </a:r>
          </a:p>
        </p:txBody>
      </p:sp>
      <p:sp>
        <p:nvSpPr>
          <p:cNvPr id="11" name="Rounded Rectangle 10"/>
          <p:cNvSpPr/>
          <p:nvPr/>
        </p:nvSpPr>
        <p:spPr>
          <a:xfrm>
            <a:off x="457200" y="2130552"/>
            <a:ext cx="4937760" cy="777240"/>
          </a:xfrm>
          <a:prstGeom prst="roundRect">
            <a:avLst>
              <a:gd name="adj" fmla="val 5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94360" y="2267712"/>
            <a:ext cx="502920" cy="502920"/>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2267712"/>
            <a:ext cx="502920" cy="502920"/>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②</a:t>
            </a:r>
          </a:p>
        </p:txBody>
      </p:sp>
      <p:sp>
        <p:nvSpPr>
          <p:cNvPr id="14" name="TextBox 13"/>
          <p:cNvSpPr txBox="1"/>
          <p:nvPr/>
        </p:nvSpPr>
        <p:spPr>
          <a:xfrm>
            <a:off x="1234440" y="2221992"/>
            <a:ext cx="4023360" cy="274320"/>
          </a:xfrm>
          <a:prstGeom prst="rect">
            <a:avLst/>
          </a:prstGeom>
          <a:noFill/>
        </p:spPr>
        <p:txBody>
          <a:bodyPr wrap="square" lIns="45720" tIns="18288" rIns="45720" bIns="18288" anchor="t">
            <a:spAutoFit/>
          </a:bodyPr>
          <a:lstStyle/>
          <a:p>
            <a:pPr algn="l">
              <a:lnSpc>
                <a:spcPct val="115000"/>
              </a:lnSpc>
            </a:pPr>
            <a:r>
              <a:rPr sz="1150" b="1">
                <a:solidFill>
                  <a:srgbClr val="3457D5"/>
                </a:solidFill>
                <a:latin typeface="Yu Gothic UI"/>
              </a:rPr>
              <a:t>「ファイルを選択」ボタンを押す</a:t>
            </a:r>
          </a:p>
        </p:txBody>
      </p:sp>
      <p:sp>
        <p:nvSpPr>
          <p:cNvPr id="15" name="TextBox 14"/>
          <p:cNvSpPr txBox="1"/>
          <p:nvPr/>
        </p:nvSpPr>
        <p:spPr>
          <a:xfrm>
            <a:off x="1234440" y="2514600"/>
            <a:ext cx="4023360" cy="36576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画面中央にある「ファイルを選択」ボタンをクリックします。</a:t>
            </a:r>
          </a:p>
        </p:txBody>
      </p:sp>
      <p:sp>
        <p:nvSpPr>
          <p:cNvPr id="16" name="Rounded Rectangle 15"/>
          <p:cNvSpPr/>
          <p:nvPr/>
        </p:nvSpPr>
        <p:spPr>
          <a:xfrm>
            <a:off x="457200" y="2980944"/>
            <a:ext cx="4937760" cy="777240"/>
          </a:xfrm>
          <a:prstGeom prst="roundRect">
            <a:avLst>
              <a:gd name="adj" fmla="val 5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94360" y="3118104"/>
            <a:ext cx="502920" cy="502920"/>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3118104"/>
            <a:ext cx="502920" cy="502920"/>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③</a:t>
            </a:r>
          </a:p>
        </p:txBody>
      </p:sp>
      <p:sp>
        <p:nvSpPr>
          <p:cNvPr id="19" name="TextBox 18"/>
          <p:cNvSpPr txBox="1"/>
          <p:nvPr/>
        </p:nvSpPr>
        <p:spPr>
          <a:xfrm>
            <a:off x="1234440" y="3072384"/>
            <a:ext cx="4023360" cy="274320"/>
          </a:xfrm>
          <a:prstGeom prst="rect">
            <a:avLst/>
          </a:prstGeom>
          <a:noFill/>
        </p:spPr>
        <p:txBody>
          <a:bodyPr wrap="square" lIns="45720" tIns="18288" rIns="45720" bIns="18288" anchor="t">
            <a:spAutoFit/>
          </a:bodyPr>
          <a:lstStyle/>
          <a:p>
            <a:pPr algn="l">
              <a:lnSpc>
                <a:spcPct val="115000"/>
              </a:lnSpc>
            </a:pPr>
            <a:r>
              <a:rPr sz="1150" b="1">
                <a:solidFill>
                  <a:srgbClr val="3457D5"/>
                </a:solidFill>
                <a:latin typeface="Yu Gothic UI"/>
              </a:rPr>
              <a:t>Excelファイルを選択</a:t>
            </a:r>
          </a:p>
        </p:txBody>
      </p:sp>
      <p:sp>
        <p:nvSpPr>
          <p:cNvPr id="20" name="TextBox 19"/>
          <p:cNvSpPr txBox="1"/>
          <p:nvPr/>
        </p:nvSpPr>
        <p:spPr>
          <a:xfrm>
            <a:off x="1234440" y="3364992"/>
            <a:ext cx="4023360" cy="36576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ダイアログから日報のExcelファイル（.xlsx / .xlsm）を選択して「開く」を押します。</a:t>
            </a:r>
          </a:p>
        </p:txBody>
      </p:sp>
      <p:sp>
        <p:nvSpPr>
          <p:cNvPr id="21" name="Rounded Rectangle 20"/>
          <p:cNvSpPr/>
          <p:nvPr/>
        </p:nvSpPr>
        <p:spPr>
          <a:xfrm>
            <a:off x="457200" y="3831336"/>
            <a:ext cx="4937760" cy="777240"/>
          </a:xfrm>
          <a:prstGeom prst="roundRect">
            <a:avLst>
              <a:gd name="adj" fmla="val 5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94360" y="3968496"/>
            <a:ext cx="502920" cy="502920"/>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3968496"/>
            <a:ext cx="502920" cy="502920"/>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④</a:t>
            </a:r>
          </a:p>
        </p:txBody>
      </p:sp>
      <p:sp>
        <p:nvSpPr>
          <p:cNvPr id="24" name="TextBox 23"/>
          <p:cNvSpPr txBox="1"/>
          <p:nvPr/>
        </p:nvSpPr>
        <p:spPr>
          <a:xfrm>
            <a:off x="1234440" y="3922776"/>
            <a:ext cx="4023360" cy="274320"/>
          </a:xfrm>
          <a:prstGeom prst="rect">
            <a:avLst/>
          </a:prstGeom>
          <a:noFill/>
        </p:spPr>
        <p:txBody>
          <a:bodyPr wrap="square" lIns="45720" tIns="18288" rIns="45720" bIns="18288" anchor="t">
            <a:spAutoFit/>
          </a:bodyPr>
          <a:lstStyle/>
          <a:p>
            <a:pPr algn="l">
              <a:lnSpc>
                <a:spcPct val="115000"/>
              </a:lnSpc>
            </a:pPr>
            <a:r>
              <a:rPr sz="1150" b="1">
                <a:solidFill>
                  <a:srgbClr val="3457D5"/>
                </a:solidFill>
                <a:latin typeface="Yu Gothic UI"/>
              </a:rPr>
              <a:t>（任意）複数ファイルを一括選択</a:t>
            </a:r>
          </a:p>
        </p:txBody>
      </p:sp>
      <p:sp>
        <p:nvSpPr>
          <p:cNvPr id="25" name="TextBox 24"/>
          <p:cNvSpPr txBox="1"/>
          <p:nvPr/>
        </p:nvSpPr>
        <p:spPr>
          <a:xfrm>
            <a:off x="1234440" y="4215384"/>
            <a:ext cx="4023360" cy="36576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Ctrl + クリック・Shift + クリックで複数ファイルを一度に取込めます。</a:t>
            </a:r>
          </a:p>
        </p:txBody>
      </p:sp>
      <p:sp>
        <p:nvSpPr>
          <p:cNvPr id="26" name="Rounded Rectangle 25"/>
          <p:cNvSpPr/>
          <p:nvPr/>
        </p:nvSpPr>
        <p:spPr>
          <a:xfrm>
            <a:off x="5623560" y="1280160"/>
            <a:ext cx="3154680" cy="1627632"/>
          </a:xfrm>
          <a:prstGeom prst="roundRect">
            <a:avLst>
              <a:gd name="adj" fmla="val 5000"/>
            </a:avLst>
          </a:prstGeom>
          <a:solidFill>
            <a:srgbClr val="FAFBFD"/>
          </a:solidFill>
          <a:ln w="19050">
            <a:solidFill>
              <a:srgbClr val="C43D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5623560" y="2990088"/>
            <a:ext cx="3154680" cy="1627632"/>
          </a:xfrm>
          <a:prstGeom prst="roundRect">
            <a:avLst>
              <a:gd name="adj" fmla="val 5000"/>
            </a:avLst>
          </a:prstGeom>
          <a:solidFill>
            <a:srgbClr val="FAFBFD"/>
          </a:solidFill>
          <a:ln w="19050">
            <a:solidFill>
              <a:srgbClr val="C43D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5486400" y="2890612"/>
            <a:ext cx="1323109" cy="292608"/>
          </a:xfrm>
          <a:prstGeom prst="roundRect">
            <a:avLst>
              <a:gd name="adj" fmla="val 40000"/>
            </a:avLst>
          </a:prstGeom>
          <a:solidFill>
            <a:srgbClr val="C43D4A"/>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l"/>
            <a:r>
              <a:rPr sz="1000" b="1" dirty="0" err="1">
                <a:solidFill>
                  <a:srgbClr val="FFFFFF"/>
                </a:solidFill>
                <a:latin typeface="Yu Gothic UI"/>
              </a:rPr>
              <a:t>ファイル選択ダイアログ</a:t>
            </a:r>
            <a:endParaRPr sz="1000" b="1" dirty="0">
              <a:solidFill>
                <a:srgbClr val="FFFFFF"/>
              </a:solidFill>
              <a:latin typeface="Yu Gothic UI"/>
            </a:endParaRPr>
          </a:p>
        </p:txBody>
      </p:sp>
      <p:sp>
        <p:nvSpPr>
          <p:cNvPr id="32" name="TextBox 31"/>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33" name="TextBox 32"/>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13 / 53</a:t>
            </a:r>
          </a:p>
        </p:txBody>
      </p:sp>
      <p:pic>
        <p:nvPicPr>
          <p:cNvPr id="37" name="図 36">
            <a:extLst>
              <a:ext uri="{FF2B5EF4-FFF2-40B4-BE49-F238E27FC236}">
                <a16:creationId xmlns:a16="http://schemas.microsoft.com/office/drawing/2014/main" id="{8120355A-0791-C53F-0F42-E885FF1D0793}"/>
              </a:ext>
            </a:extLst>
          </p:cNvPr>
          <p:cNvPicPr>
            <a:picLocks noChangeAspect="1"/>
          </p:cNvPicPr>
          <p:nvPr/>
        </p:nvPicPr>
        <p:blipFill>
          <a:blip r:embed="rId2"/>
          <a:stretch>
            <a:fillRect/>
          </a:stretch>
        </p:blipFill>
        <p:spPr>
          <a:xfrm>
            <a:off x="5985161" y="1460785"/>
            <a:ext cx="2509615" cy="1389090"/>
          </a:xfrm>
          <a:prstGeom prst="rect">
            <a:avLst/>
          </a:prstGeom>
        </p:spPr>
      </p:pic>
      <p:sp>
        <p:nvSpPr>
          <p:cNvPr id="27" name="Rounded Rectangle 26"/>
          <p:cNvSpPr/>
          <p:nvPr/>
        </p:nvSpPr>
        <p:spPr>
          <a:xfrm>
            <a:off x="5486400" y="1151036"/>
            <a:ext cx="945794" cy="292608"/>
          </a:xfrm>
          <a:prstGeom prst="roundRect">
            <a:avLst>
              <a:gd name="adj" fmla="val 40000"/>
            </a:avLst>
          </a:prstGeom>
          <a:solidFill>
            <a:srgbClr val="C43D4A"/>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l"/>
            <a:r>
              <a:rPr sz="1000" b="1" dirty="0" err="1">
                <a:solidFill>
                  <a:srgbClr val="FFFFFF"/>
                </a:solidFill>
                <a:latin typeface="Yu Gothic UI"/>
              </a:rPr>
              <a:t>日報取込画面</a:t>
            </a:r>
            <a:endParaRPr sz="1000" b="1" dirty="0">
              <a:solidFill>
                <a:srgbClr val="FFFFFF"/>
              </a:solidFill>
              <a:latin typeface="Yu Gothic UI"/>
            </a:endParaRPr>
          </a:p>
        </p:txBody>
      </p:sp>
      <p:pic>
        <p:nvPicPr>
          <p:cNvPr id="41" name="図 40">
            <a:extLst>
              <a:ext uri="{FF2B5EF4-FFF2-40B4-BE49-F238E27FC236}">
                <a16:creationId xmlns:a16="http://schemas.microsoft.com/office/drawing/2014/main" id="{66341776-5DB2-7E7B-1049-8F63F3133009}"/>
              </a:ext>
            </a:extLst>
          </p:cNvPr>
          <p:cNvPicPr>
            <a:picLocks noChangeAspect="1"/>
          </p:cNvPicPr>
          <p:nvPr/>
        </p:nvPicPr>
        <p:blipFill>
          <a:blip r:embed="rId3"/>
          <a:stretch>
            <a:fillRect/>
          </a:stretch>
        </p:blipFill>
        <p:spPr>
          <a:xfrm>
            <a:off x="6104766" y="3222151"/>
            <a:ext cx="2332648" cy="131572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03</a:t>
            </a:r>
            <a:r>
              <a:rPr sz="2000" b="0">
                <a:solidFill>
                  <a:srgbClr val="3457D5"/>
                </a:solidFill>
                <a:latin typeface="Yu Gothic UI"/>
              </a:rPr>
              <a:t>　</a:t>
            </a:r>
            <a:r>
              <a:rPr sz="2000" b="1">
                <a:solidFill>
                  <a:srgbClr val="36454F"/>
                </a:solidFill>
                <a:latin typeface="Yu Gothic UI"/>
              </a:rPr>
              <a:t>日報取込</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STEP 2：プレビュー画面で取込予定データを確認します。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4572000" cy="3200400"/>
          </a:xfrm>
          <a:prstGeom prst="roundRect">
            <a:avLst>
              <a:gd name="adj" fmla="val 5000"/>
            </a:avLst>
          </a:prstGeom>
          <a:solidFill>
            <a:srgbClr val="FAFBFD"/>
          </a:solidFill>
          <a:ln w="19050">
            <a:solidFill>
              <a:srgbClr val="C43D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02336" y="1192875"/>
            <a:ext cx="969264" cy="292608"/>
          </a:xfrm>
          <a:prstGeom prst="roundRect">
            <a:avLst>
              <a:gd name="adj" fmla="val 40000"/>
            </a:avLst>
          </a:prstGeom>
          <a:solidFill>
            <a:srgbClr val="C43D4A"/>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l"/>
            <a:r>
              <a:rPr sz="1000" b="1" dirty="0" err="1">
                <a:solidFill>
                  <a:srgbClr val="FFFFFF"/>
                </a:solidFill>
                <a:latin typeface="Yu Gothic UI"/>
              </a:rPr>
              <a:t>プレビュー画面</a:t>
            </a:r>
            <a:endParaRPr sz="1000" b="1" dirty="0">
              <a:solidFill>
                <a:srgbClr val="FFFFFF"/>
              </a:solidFill>
              <a:latin typeface="Yu Gothic UI"/>
            </a:endParaRPr>
          </a:p>
        </p:txBody>
      </p:sp>
      <p:sp>
        <p:nvSpPr>
          <p:cNvPr id="9" name="TextBox 8"/>
          <p:cNvSpPr txBox="1"/>
          <p:nvPr/>
        </p:nvSpPr>
        <p:spPr>
          <a:xfrm>
            <a:off x="5212080" y="1280160"/>
            <a:ext cx="3566160" cy="292608"/>
          </a:xfrm>
          <a:prstGeom prst="rect">
            <a:avLst/>
          </a:prstGeom>
          <a:noFill/>
        </p:spPr>
        <p:txBody>
          <a:bodyPr wrap="square" lIns="45720" tIns="18288" rIns="45720" bIns="18288" anchor="t">
            <a:spAutoFit/>
          </a:bodyPr>
          <a:lstStyle/>
          <a:p>
            <a:pPr algn="l">
              <a:lnSpc>
                <a:spcPct val="115000"/>
              </a:lnSpc>
            </a:pPr>
            <a:r>
              <a:rPr sz="1400" b="1">
                <a:solidFill>
                  <a:srgbClr val="3457D5"/>
                </a:solidFill>
                <a:latin typeface="Yu Gothic UI"/>
              </a:rPr>
              <a:t>プレビュー画面でできること</a:t>
            </a:r>
          </a:p>
        </p:txBody>
      </p:sp>
      <p:sp>
        <p:nvSpPr>
          <p:cNvPr id="10" name="TextBox 9"/>
          <p:cNvSpPr txBox="1"/>
          <p:nvPr/>
        </p:nvSpPr>
        <p:spPr>
          <a:xfrm>
            <a:off x="5212080" y="1783080"/>
            <a:ext cx="3566160" cy="274320"/>
          </a:xfrm>
          <a:prstGeom prst="rect">
            <a:avLst/>
          </a:prstGeom>
          <a:noFill/>
        </p:spPr>
        <p:txBody>
          <a:bodyPr wrap="square" lIns="45720" tIns="18288" rIns="45720" bIns="18288" anchor="t">
            <a:spAutoFit/>
          </a:bodyPr>
          <a:lstStyle/>
          <a:p>
            <a:pPr algn="l">
              <a:lnSpc>
                <a:spcPct val="115000"/>
              </a:lnSpc>
            </a:pPr>
            <a:r>
              <a:rPr sz="1150" b="1">
                <a:solidFill>
                  <a:srgbClr val="3457D5"/>
                </a:solidFill>
                <a:latin typeface="Yu Gothic UI"/>
              </a:rPr>
              <a:t>📋 取込予定データの一覧</a:t>
            </a:r>
          </a:p>
        </p:txBody>
      </p:sp>
      <p:sp>
        <p:nvSpPr>
          <p:cNvPr id="11" name="TextBox 10"/>
          <p:cNvSpPr txBox="1"/>
          <p:nvPr/>
        </p:nvSpPr>
        <p:spPr>
          <a:xfrm>
            <a:off x="5212080" y="2075688"/>
            <a:ext cx="3566160" cy="640080"/>
          </a:xfrm>
          <a:prstGeom prst="rect">
            <a:avLst/>
          </a:prstGeom>
          <a:noFill/>
        </p:spPr>
        <p:txBody>
          <a:bodyPr wrap="square" lIns="45720" tIns="18288" rIns="45720" bIns="18288" anchor="t">
            <a:spAutoFit/>
          </a:bodyPr>
          <a:lstStyle/>
          <a:p>
            <a:pPr algn="l">
              <a:lnSpc>
                <a:spcPct val="135000"/>
              </a:lnSpc>
            </a:pPr>
            <a:r>
              <a:rPr sz="1000" b="0">
                <a:solidFill>
                  <a:srgbClr val="36454F"/>
                </a:solidFill>
                <a:latin typeface="Yu Gothic UI"/>
              </a:rPr>
              <a:t>選択したExcelファイルの内容が一覧で表示されます。日付・氏名・現場・作業内容などが確認できます。</a:t>
            </a:r>
          </a:p>
        </p:txBody>
      </p:sp>
      <p:sp>
        <p:nvSpPr>
          <p:cNvPr id="12" name="TextBox 11"/>
          <p:cNvSpPr txBox="1"/>
          <p:nvPr/>
        </p:nvSpPr>
        <p:spPr>
          <a:xfrm>
            <a:off x="5212080" y="2743200"/>
            <a:ext cx="3566160" cy="274320"/>
          </a:xfrm>
          <a:prstGeom prst="rect">
            <a:avLst/>
          </a:prstGeom>
          <a:noFill/>
        </p:spPr>
        <p:txBody>
          <a:bodyPr wrap="square" lIns="45720" tIns="18288" rIns="45720" bIns="18288" anchor="t">
            <a:spAutoFit/>
          </a:bodyPr>
          <a:lstStyle/>
          <a:p>
            <a:pPr algn="l">
              <a:lnSpc>
                <a:spcPct val="115000"/>
              </a:lnSpc>
            </a:pPr>
            <a:r>
              <a:rPr sz="1150" b="1">
                <a:solidFill>
                  <a:srgbClr val="3457D5"/>
                </a:solidFill>
                <a:latin typeface="Yu Gothic UI"/>
              </a:rPr>
              <a:t>⚠️ 期間重複チェック</a:t>
            </a:r>
          </a:p>
        </p:txBody>
      </p:sp>
      <p:sp>
        <p:nvSpPr>
          <p:cNvPr id="13" name="TextBox 12"/>
          <p:cNvSpPr txBox="1"/>
          <p:nvPr/>
        </p:nvSpPr>
        <p:spPr>
          <a:xfrm>
            <a:off x="5212080" y="3035808"/>
            <a:ext cx="3566160" cy="640080"/>
          </a:xfrm>
          <a:prstGeom prst="rect">
            <a:avLst/>
          </a:prstGeom>
          <a:noFill/>
        </p:spPr>
        <p:txBody>
          <a:bodyPr wrap="square" lIns="45720" tIns="18288" rIns="45720" bIns="18288" anchor="t">
            <a:spAutoFit/>
          </a:bodyPr>
          <a:lstStyle/>
          <a:p>
            <a:pPr algn="l">
              <a:lnSpc>
                <a:spcPct val="135000"/>
              </a:lnSpc>
            </a:pPr>
            <a:r>
              <a:rPr sz="1000" b="0">
                <a:solidFill>
                  <a:srgbClr val="36454F"/>
                </a:solidFill>
                <a:latin typeface="Yu Gothic UI"/>
              </a:rPr>
              <a:t>既にDBに登録されている期間と重複する日報がある場合、自動的に検出されて警告表示されます。</a:t>
            </a:r>
          </a:p>
        </p:txBody>
      </p:sp>
      <p:sp>
        <p:nvSpPr>
          <p:cNvPr id="14" name="TextBox 13"/>
          <p:cNvSpPr txBox="1"/>
          <p:nvPr/>
        </p:nvSpPr>
        <p:spPr>
          <a:xfrm>
            <a:off x="5212080" y="3703320"/>
            <a:ext cx="3566160" cy="274320"/>
          </a:xfrm>
          <a:prstGeom prst="rect">
            <a:avLst/>
          </a:prstGeom>
          <a:noFill/>
        </p:spPr>
        <p:txBody>
          <a:bodyPr wrap="square" lIns="45720" tIns="18288" rIns="45720" bIns="18288" anchor="t">
            <a:spAutoFit/>
          </a:bodyPr>
          <a:lstStyle/>
          <a:p>
            <a:pPr algn="l">
              <a:lnSpc>
                <a:spcPct val="115000"/>
              </a:lnSpc>
            </a:pPr>
            <a:r>
              <a:rPr sz="1150" b="1">
                <a:solidFill>
                  <a:srgbClr val="3457D5"/>
                </a:solidFill>
                <a:latin typeface="Yu Gothic UI"/>
              </a:rPr>
              <a:t>✅ 内容を確認して取込開始</a:t>
            </a:r>
          </a:p>
        </p:txBody>
      </p:sp>
      <p:sp>
        <p:nvSpPr>
          <p:cNvPr id="15" name="TextBox 14"/>
          <p:cNvSpPr txBox="1"/>
          <p:nvPr/>
        </p:nvSpPr>
        <p:spPr>
          <a:xfrm>
            <a:off x="5212080" y="3995928"/>
            <a:ext cx="3566160" cy="640080"/>
          </a:xfrm>
          <a:prstGeom prst="rect">
            <a:avLst/>
          </a:prstGeom>
          <a:noFill/>
        </p:spPr>
        <p:txBody>
          <a:bodyPr wrap="square" lIns="45720" tIns="18288" rIns="45720" bIns="18288" anchor="t">
            <a:spAutoFit/>
          </a:bodyPr>
          <a:lstStyle/>
          <a:p>
            <a:pPr algn="l">
              <a:lnSpc>
                <a:spcPct val="135000"/>
              </a:lnSpc>
            </a:pPr>
            <a:r>
              <a:rPr sz="1000" b="0">
                <a:solidFill>
                  <a:srgbClr val="36454F"/>
                </a:solidFill>
                <a:latin typeface="Yu Gothic UI"/>
              </a:rPr>
              <a:t>問題なければ「取込開始」ボタンを押して、次のステップに進みます。</a:t>
            </a:r>
          </a:p>
        </p:txBody>
      </p:sp>
      <p:sp>
        <p:nvSpPr>
          <p:cNvPr id="16" name="TextBox 15"/>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17" name="TextBox 16"/>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14 / 53</a:t>
            </a:r>
          </a:p>
        </p:txBody>
      </p:sp>
      <p:pic>
        <p:nvPicPr>
          <p:cNvPr id="18" name="図 17">
            <a:extLst>
              <a:ext uri="{FF2B5EF4-FFF2-40B4-BE49-F238E27FC236}">
                <a16:creationId xmlns:a16="http://schemas.microsoft.com/office/drawing/2014/main" id="{3249D5F2-A341-3D7A-C808-BAB5BC2DFB11}"/>
              </a:ext>
            </a:extLst>
          </p:cNvPr>
          <p:cNvPicPr>
            <a:picLocks noChangeAspect="1"/>
          </p:cNvPicPr>
          <p:nvPr/>
        </p:nvPicPr>
        <p:blipFill>
          <a:blip r:embed="rId2"/>
          <a:stretch>
            <a:fillRect/>
          </a:stretch>
        </p:blipFill>
        <p:spPr>
          <a:xfrm>
            <a:off x="548639" y="1697524"/>
            <a:ext cx="4419017" cy="24588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03</a:t>
            </a:r>
            <a:r>
              <a:rPr sz="2000" b="0">
                <a:solidFill>
                  <a:srgbClr val="3457D5"/>
                </a:solidFill>
                <a:latin typeface="Yu Gothic UI"/>
              </a:rPr>
              <a:t>　</a:t>
            </a:r>
            <a:r>
              <a:rPr sz="2000" b="1">
                <a:solidFill>
                  <a:srgbClr val="36454F"/>
                </a:solidFill>
                <a:latin typeface="Yu Gothic UI"/>
              </a:rPr>
              <a:t>日報取込</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STEP 3：取込実行時にデータの妥当性が自動的にチェックされます。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1280160"/>
            <a:ext cx="8321040" cy="36576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280160"/>
            <a:ext cx="2011679" cy="365760"/>
          </a:xfrm>
          <a:prstGeom prst="rect">
            <a:avLst/>
          </a:prstGeom>
          <a:noFill/>
        </p:spPr>
        <p:txBody>
          <a:bodyPr wrap="square" lIns="45720" tIns="18288" rIns="45720" bIns="18288" anchor="ctr">
            <a:spAutoFit/>
          </a:bodyPr>
          <a:lstStyle/>
          <a:p>
            <a:pPr algn="l">
              <a:lnSpc>
                <a:spcPct val="115000"/>
              </a:lnSpc>
            </a:pPr>
            <a:r>
              <a:rPr sz="1100" b="1">
                <a:solidFill>
                  <a:srgbClr val="FFFFFF"/>
                </a:solidFill>
                <a:latin typeface="Yu Gothic UI"/>
              </a:rPr>
              <a:t>チェック項目</a:t>
            </a:r>
          </a:p>
        </p:txBody>
      </p:sp>
      <p:sp>
        <p:nvSpPr>
          <p:cNvPr id="8" name="TextBox 7"/>
          <p:cNvSpPr txBox="1"/>
          <p:nvPr/>
        </p:nvSpPr>
        <p:spPr>
          <a:xfrm>
            <a:off x="2743200" y="1280160"/>
            <a:ext cx="3474720" cy="365760"/>
          </a:xfrm>
          <a:prstGeom prst="rect">
            <a:avLst/>
          </a:prstGeom>
          <a:noFill/>
        </p:spPr>
        <p:txBody>
          <a:bodyPr wrap="square" lIns="45720" tIns="18288" rIns="45720" bIns="18288" anchor="ctr">
            <a:spAutoFit/>
          </a:bodyPr>
          <a:lstStyle/>
          <a:p>
            <a:pPr algn="l">
              <a:lnSpc>
                <a:spcPct val="115000"/>
              </a:lnSpc>
            </a:pPr>
            <a:r>
              <a:rPr sz="1100" b="1">
                <a:solidFill>
                  <a:srgbClr val="FFFFFF"/>
                </a:solidFill>
                <a:latin typeface="Yu Gothic UI"/>
              </a:rPr>
              <a:t>条件</a:t>
            </a:r>
          </a:p>
        </p:txBody>
      </p:sp>
      <p:sp>
        <p:nvSpPr>
          <p:cNvPr id="9" name="TextBox 8"/>
          <p:cNvSpPr txBox="1"/>
          <p:nvPr/>
        </p:nvSpPr>
        <p:spPr>
          <a:xfrm>
            <a:off x="6400800" y="1280160"/>
            <a:ext cx="2286000" cy="365760"/>
          </a:xfrm>
          <a:prstGeom prst="rect">
            <a:avLst/>
          </a:prstGeom>
          <a:noFill/>
        </p:spPr>
        <p:txBody>
          <a:bodyPr wrap="square" lIns="45720" tIns="18288" rIns="45720" bIns="18288" anchor="ctr">
            <a:spAutoFit/>
          </a:bodyPr>
          <a:lstStyle/>
          <a:p>
            <a:pPr algn="l">
              <a:lnSpc>
                <a:spcPct val="115000"/>
              </a:lnSpc>
            </a:pPr>
            <a:r>
              <a:rPr sz="1100" b="1">
                <a:solidFill>
                  <a:srgbClr val="FFFFFF"/>
                </a:solidFill>
                <a:latin typeface="Yu Gothic UI"/>
              </a:rPr>
              <a:t>動作</a:t>
            </a:r>
          </a:p>
        </p:txBody>
      </p:sp>
      <p:sp>
        <p:nvSpPr>
          <p:cNvPr id="10" name="Rectangle 9"/>
          <p:cNvSpPr/>
          <p:nvPr/>
        </p:nvSpPr>
        <p:spPr>
          <a:xfrm>
            <a:off x="457200" y="1645920"/>
            <a:ext cx="83210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1645920"/>
            <a:ext cx="2011679" cy="384048"/>
          </a:xfrm>
          <a:prstGeom prst="rect">
            <a:avLst/>
          </a:prstGeom>
          <a:noFill/>
        </p:spPr>
        <p:txBody>
          <a:bodyPr wrap="square" lIns="45720" tIns="18288" rIns="45720" bIns="18288" anchor="ctr">
            <a:spAutoFit/>
          </a:bodyPr>
          <a:lstStyle/>
          <a:p>
            <a:pPr algn="l">
              <a:lnSpc>
                <a:spcPct val="115000"/>
              </a:lnSpc>
            </a:pPr>
            <a:r>
              <a:rPr sz="1000" b="0">
                <a:solidFill>
                  <a:srgbClr val="36454F"/>
                </a:solidFill>
                <a:latin typeface="Yu Gothic UI"/>
              </a:rPr>
              <a:t>区分コード</a:t>
            </a:r>
          </a:p>
        </p:txBody>
      </p:sp>
      <p:sp>
        <p:nvSpPr>
          <p:cNvPr id="12" name="TextBox 11"/>
          <p:cNvSpPr txBox="1"/>
          <p:nvPr/>
        </p:nvSpPr>
        <p:spPr>
          <a:xfrm>
            <a:off x="2743200" y="1645920"/>
            <a:ext cx="3474720" cy="384048"/>
          </a:xfrm>
          <a:prstGeom prst="rect">
            <a:avLst/>
          </a:prstGeom>
          <a:noFill/>
        </p:spPr>
        <p:txBody>
          <a:bodyPr wrap="square" lIns="45720" tIns="18288" rIns="45720" bIns="18288" anchor="ctr">
            <a:spAutoFit/>
          </a:bodyPr>
          <a:lstStyle/>
          <a:p>
            <a:pPr algn="l">
              <a:lnSpc>
                <a:spcPct val="115000"/>
              </a:lnSpc>
            </a:pPr>
            <a:r>
              <a:rPr sz="1000" b="0">
                <a:solidFill>
                  <a:srgbClr val="36454F"/>
                </a:solidFill>
                <a:latin typeface="Yu Gothic UI"/>
              </a:rPr>
              <a:t>「/」または「-」を含む（日付形式の誤入力）</a:t>
            </a:r>
          </a:p>
        </p:txBody>
      </p:sp>
      <p:sp>
        <p:nvSpPr>
          <p:cNvPr id="13" name="TextBox 12"/>
          <p:cNvSpPr txBox="1"/>
          <p:nvPr/>
        </p:nvSpPr>
        <p:spPr>
          <a:xfrm>
            <a:off x="6400800" y="1645920"/>
            <a:ext cx="2286000" cy="384048"/>
          </a:xfrm>
          <a:prstGeom prst="rect">
            <a:avLst/>
          </a:prstGeom>
          <a:noFill/>
        </p:spPr>
        <p:txBody>
          <a:bodyPr wrap="square" lIns="45720" tIns="18288" rIns="45720" bIns="18288" anchor="ctr">
            <a:spAutoFit/>
          </a:bodyPr>
          <a:lstStyle/>
          <a:p>
            <a:pPr algn="l">
              <a:lnSpc>
                <a:spcPct val="115000"/>
              </a:lnSpc>
            </a:pPr>
            <a:r>
              <a:rPr sz="1000" b="0">
                <a:solidFill>
                  <a:srgbClr val="36454F"/>
                </a:solidFill>
                <a:latin typeface="Yu Gothic UI"/>
              </a:rPr>
              <a:t>該当行をスキップ</a:t>
            </a:r>
          </a:p>
        </p:txBody>
      </p:sp>
      <p:sp>
        <p:nvSpPr>
          <p:cNvPr id="14" name="Rectangle 13"/>
          <p:cNvSpPr/>
          <p:nvPr/>
        </p:nvSpPr>
        <p:spPr>
          <a:xfrm>
            <a:off x="457200" y="2029968"/>
            <a:ext cx="8321040" cy="38404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2029968"/>
            <a:ext cx="2011679" cy="384048"/>
          </a:xfrm>
          <a:prstGeom prst="rect">
            <a:avLst/>
          </a:prstGeom>
          <a:noFill/>
        </p:spPr>
        <p:txBody>
          <a:bodyPr wrap="square" lIns="45720" tIns="18288" rIns="45720" bIns="18288" anchor="ctr">
            <a:spAutoFit/>
          </a:bodyPr>
          <a:lstStyle/>
          <a:p>
            <a:pPr algn="l">
              <a:lnSpc>
                <a:spcPct val="115000"/>
              </a:lnSpc>
            </a:pPr>
            <a:r>
              <a:rPr sz="1000" b="0">
                <a:solidFill>
                  <a:srgbClr val="36454F"/>
                </a:solidFill>
                <a:latin typeface="Yu Gothic UI"/>
              </a:rPr>
              <a:t>時間</a:t>
            </a:r>
          </a:p>
        </p:txBody>
      </p:sp>
      <p:sp>
        <p:nvSpPr>
          <p:cNvPr id="16" name="TextBox 15"/>
          <p:cNvSpPr txBox="1"/>
          <p:nvPr/>
        </p:nvSpPr>
        <p:spPr>
          <a:xfrm>
            <a:off x="2743200" y="2029968"/>
            <a:ext cx="3474720" cy="384048"/>
          </a:xfrm>
          <a:prstGeom prst="rect">
            <a:avLst/>
          </a:prstGeom>
          <a:noFill/>
        </p:spPr>
        <p:txBody>
          <a:bodyPr wrap="square" lIns="45720" tIns="18288" rIns="45720" bIns="18288" anchor="ctr">
            <a:spAutoFit/>
          </a:bodyPr>
          <a:lstStyle/>
          <a:p>
            <a:pPr algn="l">
              <a:lnSpc>
                <a:spcPct val="115000"/>
              </a:lnSpc>
            </a:pPr>
            <a:r>
              <a:rPr sz="1000" b="0">
                <a:solidFill>
                  <a:srgbClr val="36454F"/>
                </a:solidFill>
                <a:latin typeface="Yu Gothic UI"/>
              </a:rPr>
              <a:t>24時間以上の値が入っている</a:t>
            </a:r>
          </a:p>
        </p:txBody>
      </p:sp>
      <p:sp>
        <p:nvSpPr>
          <p:cNvPr id="17" name="TextBox 16"/>
          <p:cNvSpPr txBox="1"/>
          <p:nvPr/>
        </p:nvSpPr>
        <p:spPr>
          <a:xfrm>
            <a:off x="6400800" y="2029968"/>
            <a:ext cx="2286000" cy="384048"/>
          </a:xfrm>
          <a:prstGeom prst="rect">
            <a:avLst/>
          </a:prstGeom>
          <a:noFill/>
        </p:spPr>
        <p:txBody>
          <a:bodyPr wrap="square" lIns="45720" tIns="18288" rIns="45720" bIns="18288" anchor="ctr">
            <a:spAutoFit/>
          </a:bodyPr>
          <a:lstStyle/>
          <a:p>
            <a:pPr algn="l">
              <a:lnSpc>
                <a:spcPct val="115000"/>
              </a:lnSpc>
            </a:pPr>
            <a:r>
              <a:rPr sz="1000" b="0">
                <a:solidFill>
                  <a:srgbClr val="36454F"/>
                </a:solidFill>
                <a:latin typeface="Yu Gothic UI"/>
              </a:rPr>
              <a:t>該当行をスキップ</a:t>
            </a:r>
          </a:p>
        </p:txBody>
      </p:sp>
      <p:sp>
        <p:nvSpPr>
          <p:cNvPr id="18" name="Rectangle 17"/>
          <p:cNvSpPr/>
          <p:nvPr/>
        </p:nvSpPr>
        <p:spPr>
          <a:xfrm>
            <a:off x="457200" y="2414016"/>
            <a:ext cx="83210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2414016"/>
            <a:ext cx="2011679" cy="384048"/>
          </a:xfrm>
          <a:prstGeom prst="rect">
            <a:avLst/>
          </a:prstGeom>
          <a:noFill/>
        </p:spPr>
        <p:txBody>
          <a:bodyPr wrap="square" lIns="45720" tIns="18288" rIns="45720" bIns="18288" anchor="ctr">
            <a:spAutoFit/>
          </a:bodyPr>
          <a:lstStyle/>
          <a:p>
            <a:pPr algn="l">
              <a:lnSpc>
                <a:spcPct val="115000"/>
              </a:lnSpc>
            </a:pPr>
            <a:r>
              <a:rPr sz="1000" b="0">
                <a:solidFill>
                  <a:srgbClr val="36454F"/>
                </a:solidFill>
                <a:latin typeface="Yu Gothic UI"/>
              </a:rPr>
              <a:t>時間</a:t>
            </a:r>
          </a:p>
        </p:txBody>
      </p:sp>
      <p:sp>
        <p:nvSpPr>
          <p:cNvPr id="20" name="TextBox 19"/>
          <p:cNvSpPr txBox="1"/>
          <p:nvPr/>
        </p:nvSpPr>
        <p:spPr>
          <a:xfrm>
            <a:off x="2743200" y="2414016"/>
            <a:ext cx="3474720" cy="384048"/>
          </a:xfrm>
          <a:prstGeom prst="rect">
            <a:avLst/>
          </a:prstGeom>
          <a:noFill/>
        </p:spPr>
        <p:txBody>
          <a:bodyPr wrap="square" lIns="45720" tIns="18288" rIns="45720" bIns="18288" anchor="ctr">
            <a:spAutoFit/>
          </a:bodyPr>
          <a:lstStyle/>
          <a:p>
            <a:pPr algn="l">
              <a:lnSpc>
                <a:spcPct val="115000"/>
              </a:lnSpc>
            </a:pPr>
            <a:r>
              <a:rPr sz="1000" b="0">
                <a:solidFill>
                  <a:srgbClr val="36454F"/>
                </a:solidFill>
                <a:latin typeface="Yu Gothic UI"/>
              </a:rPr>
              <a:t>マイナス値が入っている</a:t>
            </a:r>
          </a:p>
        </p:txBody>
      </p:sp>
      <p:sp>
        <p:nvSpPr>
          <p:cNvPr id="21" name="TextBox 20"/>
          <p:cNvSpPr txBox="1"/>
          <p:nvPr/>
        </p:nvSpPr>
        <p:spPr>
          <a:xfrm>
            <a:off x="6400800" y="2414016"/>
            <a:ext cx="2286000" cy="384048"/>
          </a:xfrm>
          <a:prstGeom prst="rect">
            <a:avLst/>
          </a:prstGeom>
          <a:noFill/>
        </p:spPr>
        <p:txBody>
          <a:bodyPr wrap="square" lIns="45720" tIns="18288" rIns="45720" bIns="18288" anchor="ctr">
            <a:spAutoFit/>
          </a:bodyPr>
          <a:lstStyle/>
          <a:p>
            <a:pPr algn="l">
              <a:lnSpc>
                <a:spcPct val="115000"/>
              </a:lnSpc>
            </a:pPr>
            <a:r>
              <a:rPr sz="1000" b="0">
                <a:solidFill>
                  <a:srgbClr val="36454F"/>
                </a:solidFill>
                <a:latin typeface="Yu Gothic UI"/>
              </a:rPr>
              <a:t>該当行をスキップ</a:t>
            </a:r>
          </a:p>
        </p:txBody>
      </p:sp>
      <p:sp>
        <p:nvSpPr>
          <p:cNvPr id="22" name="Rectangle 21"/>
          <p:cNvSpPr/>
          <p:nvPr/>
        </p:nvSpPr>
        <p:spPr>
          <a:xfrm>
            <a:off x="457200" y="2798064"/>
            <a:ext cx="8321040" cy="38404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8640" y="2798064"/>
            <a:ext cx="2011679" cy="384048"/>
          </a:xfrm>
          <a:prstGeom prst="rect">
            <a:avLst/>
          </a:prstGeom>
          <a:noFill/>
        </p:spPr>
        <p:txBody>
          <a:bodyPr wrap="square" lIns="45720" tIns="18288" rIns="45720" bIns="18288" anchor="ctr">
            <a:spAutoFit/>
          </a:bodyPr>
          <a:lstStyle/>
          <a:p>
            <a:pPr algn="l">
              <a:lnSpc>
                <a:spcPct val="115000"/>
              </a:lnSpc>
            </a:pPr>
            <a:r>
              <a:rPr sz="1000" b="0">
                <a:solidFill>
                  <a:srgbClr val="36454F"/>
                </a:solidFill>
                <a:latin typeface="Yu Gothic UI"/>
              </a:rPr>
              <a:t>距離</a:t>
            </a:r>
          </a:p>
        </p:txBody>
      </p:sp>
      <p:sp>
        <p:nvSpPr>
          <p:cNvPr id="24" name="TextBox 23"/>
          <p:cNvSpPr txBox="1"/>
          <p:nvPr/>
        </p:nvSpPr>
        <p:spPr>
          <a:xfrm>
            <a:off x="2743200" y="2798064"/>
            <a:ext cx="3474720" cy="384048"/>
          </a:xfrm>
          <a:prstGeom prst="rect">
            <a:avLst/>
          </a:prstGeom>
          <a:noFill/>
        </p:spPr>
        <p:txBody>
          <a:bodyPr wrap="square" lIns="45720" tIns="18288" rIns="45720" bIns="18288" anchor="ctr">
            <a:spAutoFit/>
          </a:bodyPr>
          <a:lstStyle/>
          <a:p>
            <a:pPr algn="l">
              <a:lnSpc>
                <a:spcPct val="115000"/>
              </a:lnSpc>
            </a:pPr>
            <a:r>
              <a:rPr sz="1000" b="0">
                <a:solidFill>
                  <a:srgbClr val="36454F"/>
                </a:solidFill>
                <a:latin typeface="Yu Gothic UI"/>
              </a:rPr>
              <a:t>マイナス値が入っている</a:t>
            </a:r>
          </a:p>
        </p:txBody>
      </p:sp>
      <p:sp>
        <p:nvSpPr>
          <p:cNvPr id="25" name="TextBox 24"/>
          <p:cNvSpPr txBox="1"/>
          <p:nvPr/>
        </p:nvSpPr>
        <p:spPr>
          <a:xfrm>
            <a:off x="6400800" y="2798064"/>
            <a:ext cx="2286000" cy="384048"/>
          </a:xfrm>
          <a:prstGeom prst="rect">
            <a:avLst/>
          </a:prstGeom>
          <a:noFill/>
        </p:spPr>
        <p:txBody>
          <a:bodyPr wrap="square" lIns="45720" tIns="18288" rIns="45720" bIns="18288" anchor="ctr">
            <a:spAutoFit/>
          </a:bodyPr>
          <a:lstStyle/>
          <a:p>
            <a:pPr algn="l">
              <a:lnSpc>
                <a:spcPct val="115000"/>
              </a:lnSpc>
            </a:pPr>
            <a:r>
              <a:rPr sz="1000" b="0">
                <a:solidFill>
                  <a:srgbClr val="36454F"/>
                </a:solidFill>
                <a:latin typeface="Yu Gothic UI"/>
              </a:rPr>
              <a:t>該当行をスキップ</a:t>
            </a:r>
          </a:p>
        </p:txBody>
      </p:sp>
      <p:sp>
        <p:nvSpPr>
          <p:cNvPr id="26" name="Rectangle 25"/>
          <p:cNvSpPr/>
          <p:nvPr/>
        </p:nvSpPr>
        <p:spPr>
          <a:xfrm>
            <a:off x="457200" y="3182112"/>
            <a:ext cx="83210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48640" y="3182112"/>
            <a:ext cx="2011679" cy="384048"/>
          </a:xfrm>
          <a:prstGeom prst="rect">
            <a:avLst/>
          </a:prstGeom>
          <a:noFill/>
        </p:spPr>
        <p:txBody>
          <a:bodyPr wrap="square" lIns="45720" tIns="18288" rIns="45720" bIns="18288" anchor="ctr">
            <a:spAutoFit/>
          </a:bodyPr>
          <a:lstStyle/>
          <a:p>
            <a:pPr algn="l">
              <a:lnSpc>
                <a:spcPct val="115000"/>
              </a:lnSpc>
            </a:pPr>
            <a:r>
              <a:rPr sz="1000" b="0">
                <a:solidFill>
                  <a:srgbClr val="36454F"/>
                </a:solidFill>
                <a:latin typeface="Yu Gothic UI"/>
              </a:rPr>
              <a:t>氏名</a:t>
            </a:r>
          </a:p>
        </p:txBody>
      </p:sp>
      <p:sp>
        <p:nvSpPr>
          <p:cNvPr id="28" name="TextBox 27"/>
          <p:cNvSpPr txBox="1"/>
          <p:nvPr/>
        </p:nvSpPr>
        <p:spPr>
          <a:xfrm>
            <a:off x="2743200" y="3182112"/>
            <a:ext cx="3474720" cy="384048"/>
          </a:xfrm>
          <a:prstGeom prst="rect">
            <a:avLst/>
          </a:prstGeom>
          <a:noFill/>
        </p:spPr>
        <p:txBody>
          <a:bodyPr wrap="square" lIns="45720" tIns="18288" rIns="45720" bIns="18288" anchor="ctr">
            <a:spAutoFit/>
          </a:bodyPr>
          <a:lstStyle/>
          <a:p>
            <a:pPr algn="l">
              <a:lnSpc>
                <a:spcPct val="115000"/>
              </a:lnSpc>
            </a:pPr>
            <a:r>
              <a:rPr sz="1000" b="0">
                <a:solidFill>
                  <a:srgbClr val="36454F"/>
                </a:solidFill>
                <a:latin typeface="Yu Gothic UI"/>
              </a:rPr>
              <a:t>氏名が空欄になっている</a:t>
            </a:r>
          </a:p>
        </p:txBody>
      </p:sp>
      <p:sp>
        <p:nvSpPr>
          <p:cNvPr id="29" name="TextBox 28"/>
          <p:cNvSpPr txBox="1"/>
          <p:nvPr/>
        </p:nvSpPr>
        <p:spPr>
          <a:xfrm>
            <a:off x="6400800" y="3182112"/>
            <a:ext cx="2286000" cy="384048"/>
          </a:xfrm>
          <a:prstGeom prst="rect">
            <a:avLst/>
          </a:prstGeom>
          <a:noFill/>
        </p:spPr>
        <p:txBody>
          <a:bodyPr wrap="square" lIns="45720" tIns="18288" rIns="45720" bIns="18288" anchor="ctr">
            <a:spAutoFit/>
          </a:bodyPr>
          <a:lstStyle/>
          <a:p>
            <a:pPr algn="l">
              <a:lnSpc>
                <a:spcPct val="115000"/>
              </a:lnSpc>
            </a:pPr>
            <a:r>
              <a:rPr sz="1000" b="0">
                <a:solidFill>
                  <a:srgbClr val="36454F"/>
                </a:solidFill>
                <a:latin typeface="Yu Gothic UI"/>
              </a:rPr>
              <a:t>該当行をスキップ</a:t>
            </a:r>
          </a:p>
        </p:txBody>
      </p:sp>
      <p:sp>
        <p:nvSpPr>
          <p:cNvPr id="30" name="Rectangle 29"/>
          <p:cNvSpPr/>
          <p:nvPr/>
        </p:nvSpPr>
        <p:spPr>
          <a:xfrm>
            <a:off x="457200" y="1280160"/>
            <a:ext cx="8321040" cy="2286000"/>
          </a:xfrm>
          <a:prstGeom prst="rect">
            <a:avLst/>
          </a:prstGeom>
          <a:noFill/>
          <a:ln w="6350">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457200" y="4023360"/>
            <a:ext cx="8321040" cy="77724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 y="4161430"/>
            <a:ext cx="7955280" cy="501099"/>
          </a:xfrm>
          <a:prstGeom prst="rect">
            <a:avLst/>
          </a:prstGeom>
          <a:noFill/>
        </p:spPr>
        <p:txBody>
          <a:bodyPr wrap="square" lIns="45720" tIns="18288" rIns="45720" bIns="18288" anchor="ctr">
            <a:spAutoFit/>
          </a:bodyPr>
          <a:lstStyle/>
          <a:p>
            <a:pPr algn="l">
              <a:lnSpc>
                <a:spcPct val="135000"/>
              </a:lnSpc>
            </a:pPr>
            <a:r>
              <a:rPr sz="1300" b="0" dirty="0">
                <a:solidFill>
                  <a:srgbClr val="E88B3A"/>
                </a:solidFill>
                <a:latin typeface="Yu Gothic UI"/>
              </a:rPr>
              <a:t>💡  </a:t>
            </a:r>
            <a:r>
              <a:rPr sz="1100" b="1" dirty="0">
                <a:solidFill>
                  <a:srgbClr val="3457D5"/>
                </a:solidFill>
                <a:latin typeface="Yu Gothic UI"/>
              </a:rPr>
              <a:t>補足：</a:t>
            </a:r>
            <a:r>
              <a:rPr sz="1050" b="0" dirty="0">
                <a:solidFill>
                  <a:srgbClr val="36454F"/>
                </a:solidFill>
                <a:latin typeface="Yu Gothic UI"/>
              </a:rPr>
              <a:t>スキップされた行はメッセージボックスで一覧表示されるので、内容を確認して元のExcelファイルを修正後、再度取込んでください。</a:t>
            </a:r>
            <a:endParaRPr lang="en-US" sz="1050" b="0" dirty="0">
              <a:solidFill>
                <a:srgbClr val="36454F"/>
              </a:solidFill>
              <a:latin typeface="Yu Gothic UI"/>
            </a:endParaRPr>
          </a:p>
          <a:p>
            <a:pPr algn="l">
              <a:lnSpc>
                <a:spcPct val="135000"/>
              </a:lnSpc>
            </a:pPr>
            <a:r>
              <a:rPr lang="ja-JP" altLang="en-US" sz="1050" b="0" dirty="0">
                <a:solidFill>
                  <a:srgbClr val="36454F"/>
                </a:solidFill>
                <a:latin typeface="Yu Gothic UI"/>
              </a:rPr>
              <a:t>　</a:t>
            </a:r>
            <a:r>
              <a:rPr lang="en-US" altLang="ja-JP" sz="1050" b="0" dirty="0">
                <a:solidFill>
                  <a:srgbClr val="36454F"/>
                </a:solidFill>
                <a:latin typeface="Yu Gothic UI"/>
              </a:rPr>
              <a:t>	        </a:t>
            </a:r>
            <a:r>
              <a:rPr sz="1050" b="0" dirty="0" err="1">
                <a:solidFill>
                  <a:srgbClr val="36454F"/>
                </a:solidFill>
                <a:latin typeface="Yu Gothic UI"/>
              </a:rPr>
              <a:t>スキップされなかった他の行は通常通り取込まれます</a:t>
            </a:r>
            <a:r>
              <a:rPr sz="1050" b="0" dirty="0">
                <a:solidFill>
                  <a:srgbClr val="36454F"/>
                </a:solidFill>
                <a:latin typeface="Yu Gothic UI"/>
              </a:rPr>
              <a:t>。</a:t>
            </a:r>
          </a:p>
        </p:txBody>
      </p:sp>
      <p:sp>
        <p:nvSpPr>
          <p:cNvPr id="33" name="TextBox 32"/>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34" name="TextBox 33"/>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15 / 53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03</a:t>
            </a:r>
            <a:r>
              <a:rPr sz="2000" b="0">
                <a:solidFill>
                  <a:srgbClr val="3457D5"/>
                </a:solidFill>
                <a:latin typeface="Yu Gothic UI"/>
              </a:rPr>
              <a:t>　</a:t>
            </a:r>
            <a:r>
              <a:rPr sz="2000" b="1">
                <a:solidFill>
                  <a:srgbClr val="36454F"/>
                </a:solidFill>
                <a:latin typeface="Yu Gothic UI"/>
              </a:rPr>
              <a:t>日報取込</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STEP 4-A：日報内に新しい社員が含まれていると、取込後に通知されます。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4572000" cy="3200400"/>
          </a:xfrm>
          <a:prstGeom prst="roundRect">
            <a:avLst>
              <a:gd name="adj" fmla="val 5000"/>
            </a:avLst>
          </a:prstGeom>
          <a:solidFill>
            <a:srgbClr val="FAFBFD"/>
          </a:solidFill>
          <a:ln w="19050">
            <a:solidFill>
              <a:srgbClr val="C43D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65760" y="1234163"/>
            <a:ext cx="1522615" cy="292608"/>
          </a:xfrm>
          <a:prstGeom prst="roundRect">
            <a:avLst>
              <a:gd name="adj" fmla="val 40000"/>
            </a:avLst>
          </a:prstGeom>
          <a:solidFill>
            <a:srgbClr val="C43D4A"/>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l"/>
            <a:r>
              <a:rPr sz="1000" b="1" dirty="0" err="1">
                <a:solidFill>
                  <a:srgbClr val="FFFFFF"/>
                </a:solidFill>
                <a:latin typeface="Yu Gothic UI"/>
              </a:rPr>
              <a:t>新規社員通知ダイアログ</a:t>
            </a:r>
            <a:endParaRPr sz="1000" b="1" dirty="0">
              <a:solidFill>
                <a:srgbClr val="FFFFFF"/>
              </a:solidFill>
              <a:latin typeface="Yu Gothic UI"/>
            </a:endParaRPr>
          </a:p>
        </p:txBody>
      </p:sp>
      <p:sp>
        <p:nvSpPr>
          <p:cNvPr id="9" name="TextBox 8"/>
          <p:cNvSpPr txBox="1"/>
          <p:nvPr/>
        </p:nvSpPr>
        <p:spPr>
          <a:xfrm>
            <a:off x="5212080" y="1280160"/>
            <a:ext cx="3566160" cy="292608"/>
          </a:xfrm>
          <a:prstGeom prst="rect">
            <a:avLst/>
          </a:prstGeom>
          <a:noFill/>
        </p:spPr>
        <p:txBody>
          <a:bodyPr wrap="square" lIns="45720" tIns="18288" rIns="45720" bIns="18288" anchor="t">
            <a:spAutoFit/>
          </a:bodyPr>
          <a:lstStyle/>
          <a:p>
            <a:pPr algn="l">
              <a:lnSpc>
                <a:spcPct val="115000"/>
              </a:lnSpc>
            </a:pPr>
            <a:r>
              <a:rPr sz="1400" b="1">
                <a:solidFill>
                  <a:srgbClr val="3457D5"/>
                </a:solidFill>
                <a:latin typeface="Yu Gothic UI"/>
              </a:rPr>
              <a:t>新規社員の通知について</a:t>
            </a:r>
          </a:p>
        </p:txBody>
      </p:sp>
      <p:sp>
        <p:nvSpPr>
          <p:cNvPr id="10" name="TextBox 9"/>
          <p:cNvSpPr txBox="1"/>
          <p:nvPr/>
        </p:nvSpPr>
        <p:spPr>
          <a:xfrm>
            <a:off x="5212080" y="1783080"/>
            <a:ext cx="3566160" cy="274320"/>
          </a:xfrm>
          <a:prstGeom prst="rect">
            <a:avLst/>
          </a:prstGeom>
          <a:noFill/>
        </p:spPr>
        <p:txBody>
          <a:bodyPr wrap="square" lIns="45720" tIns="18288" rIns="45720" bIns="18288" anchor="t">
            <a:spAutoFit/>
          </a:bodyPr>
          <a:lstStyle/>
          <a:p>
            <a:pPr algn="l">
              <a:lnSpc>
                <a:spcPct val="115000"/>
              </a:lnSpc>
            </a:pPr>
            <a:r>
              <a:rPr sz="1150" b="1">
                <a:solidFill>
                  <a:srgbClr val="3457D5"/>
                </a:solidFill>
                <a:latin typeface="Yu Gothic UI"/>
              </a:rPr>
              <a:t>自動的に登録</a:t>
            </a:r>
          </a:p>
        </p:txBody>
      </p:sp>
      <p:sp>
        <p:nvSpPr>
          <p:cNvPr id="11" name="TextBox 10"/>
          <p:cNvSpPr txBox="1"/>
          <p:nvPr/>
        </p:nvSpPr>
        <p:spPr>
          <a:xfrm>
            <a:off x="5212080" y="2075688"/>
            <a:ext cx="3566160" cy="640080"/>
          </a:xfrm>
          <a:prstGeom prst="rect">
            <a:avLst/>
          </a:prstGeom>
          <a:noFill/>
        </p:spPr>
        <p:txBody>
          <a:bodyPr wrap="square" lIns="45720" tIns="18288" rIns="45720" bIns="18288" anchor="t">
            <a:spAutoFit/>
          </a:bodyPr>
          <a:lstStyle/>
          <a:p>
            <a:pPr algn="l">
              <a:lnSpc>
                <a:spcPct val="135000"/>
              </a:lnSpc>
            </a:pPr>
            <a:r>
              <a:rPr sz="1000" b="0">
                <a:solidFill>
                  <a:srgbClr val="36454F"/>
                </a:solidFill>
                <a:latin typeface="Yu Gothic UI"/>
              </a:rPr>
              <a:t>日報内に存在しない新しい氏名があった場合、人員マスタに自動的に登録されます。</a:t>
            </a:r>
          </a:p>
        </p:txBody>
      </p:sp>
      <p:sp>
        <p:nvSpPr>
          <p:cNvPr id="12" name="TextBox 11"/>
          <p:cNvSpPr txBox="1"/>
          <p:nvPr/>
        </p:nvSpPr>
        <p:spPr>
          <a:xfrm>
            <a:off x="5212080" y="2743200"/>
            <a:ext cx="3566160" cy="274320"/>
          </a:xfrm>
          <a:prstGeom prst="rect">
            <a:avLst/>
          </a:prstGeom>
          <a:noFill/>
        </p:spPr>
        <p:txBody>
          <a:bodyPr wrap="square" lIns="45720" tIns="18288" rIns="45720" bIns="18288" anchor="t">
            <a:spAutoFit/>
          </a:bodyPr>
          <a:lstStyle/>
          <a:p>
            <a:pPr algn="l">
              <a:lnSpc>
                <a:spcPct val="115000"/>
              </a:lnSpc>
            </a:pPr>
            <a:r>
              <a:rPr sz="1150" b="1">
                <a:solidFill>
                  <a:srgbClr val="3457D5"/>
                </a:solidFill>
                <a:latin typeface="Yu Gothic UI"/>
              </a:rPr>
              <a:t>一覧で通知</a:t>
            </a:r>
          </a:p>
        </p:txBody>
      </p:sp>
      <p:sp>
        <p:nvSpPr>
          <p:cNvPr id="13" name="TextBox 12"/>
          <p:cNvSpPr txBox="1"/>
          <p:nvPr/>
        </p:nvSpPr>
        <p:spPr>
          <a:xfrm>
            <a:off x="5212080" y="3035808"/>
            <a:ext cx="3566160" cy="640080"/>
          </a:xfrm>
          <a:prstGeom prst="rect">
            <a:avLst/>
          </a:prstGeom>
          <a:noFill/>
        </p:spPr>
        <p:txBody>
          <a:bodyPr wrap="square" lIns="45720" tIns="18288" rIns="45720" bIns="18288" anchor="t">
            <a:spAutoFit/>
          </a:bodyPr>
          <a:lstStyle/>
          <a:p>
            <a:pPr algn="l">
              <a:lnSpc>
                <a:spcPct val="135000"/>
              </a:lnSpc>
            </a:pPr>
            <a:r>
              <a:rPr sz="1000" b="0">
                <a:solidFill>
                  <a:srgbClr val="36454F"/>
                </a:solidFill>
                <a:latin typeface="Yu Gothic UI"/>
              </a:rPr>
              <a:t>取込完了後、新規登録された社員の氏名がメッセージボックスで一覧表示されます。</a:t>
            </a:r>
          </a:p>
        </p:txBody>
      </p:sp>
      <p:sp>
        <p:nvSpPr>
          <p:cNvPr id="14" name="TextBox 13"/>
          <p:cNvSpPr txBox="1"/>
          <p:nvPr/>
        </p:nvSpPr>
        <p:spPr>
          <a:xfrm>
            <a:off x="5212080" y="3703320"/>
            <a:ext cx="3566160" cy="274320"/>
          </a:xfrm>
          <a:prstGeom prst="rect">
            <a:avLst/>
          </a:prstGeom>
          <a:noFill/>
        </p:spPr>
        <p:txBody>
          <a:bodyPr wrap="square" lIns="45720" tIns="18288" rIns="45720" bIns="18288" anchor="t">
            <a:spAutoFit/>
          </a:bodyPr>
          <a:lstStyle/>
          <a:p>
            <a:pPr algn="l">
              <a:lnSpc>
                <a:spcPct val="115000"/>
              </a:lnSpc>
            </a:pPr>
            <a:r>
              <a:rPr sz="1150" b="1">
                <a:solidFill>
                  <a:srgbClr val="3457D5"/>
                </a:solidFill>
                <a:latin typeface="Yu Gothic UI"/>
              </a:rPr>
              <a:t>初期設定</a:t>
            </a:r>
          </a:p>
        </p:txBody>
      </p:sp>
      <p:sp>
        <p:nvSpPr>
          <p:cNvPr id="15" name="TextBox 14"/>
          <p:cNvSpPr txBox="1"/>
          <p:nvPr/>
        </p:nvSpPr>
        <p:spPr>
          <a:xfrm>
            <a:off x="5212080" y="3995928"/>
            <a:ext cx="3566160" cy="640080"/>
          </a:xfrm>
          <a:prstGeom prst="rect">
            <a:avLst/>
          </a:prstGeom>
          <a:noFill/>
        </p:spPr>
        <p:txBody>
          <a:bodyPr wrap="square" lIns="45720" tIns="18288" rIns="45720" bIns="18288" anchor="t">
            <a:spAutoFit/>
          </a:bodyPr>
          <a:lstStyle/>
          <a:p>
            <a:pPr algn="l">
              <a:lnSpc>
                <a:spcPct val="135000"/>
              </a:lnSpc>
            </a:pPr>
            <a:r>
              <a:rPr sz="1000" b="0">
                <a:solidFill>
                  <a:srgbClr val="36454F"/>
                </a:solidFill>
                <a:latin typeface="Yu Gothic UI"/>
              </a:rPr>
              <a:t>職種は「技師」、単価は34800円が初期値として設定されます。後で「設定 → 人員マスタ」から変更できます。</a:t>
            </a:r>
          </a:p>
        </p:txBody>
      </p:sp>
      <p:sp>
        <p:nvSpPr>
          <p:cNvPr id="16" name="TextBox 15"/>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17" name="TextBox 16"/>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16 / 53</a:t>
            </a:r>
          </a:p>
        </p:txBody>
      </p:sp>
      <p:pic>
        <p:nvPicPr>
          <p:cNvPr id="19" name="図 18">
            <a:extLst>
              <a:ext uri="{FF2B5EF4-FFF2-40B4-BE49-F238E27FC236}">
                <a16:creationId xmlns:a16="http://schemas.microsoft.com/office/drawing/2014/main" id="{EB9C15ED-80F1-B835-B5DA-85070F5149B9}"/>
              </a:ext>
            </a:extLst>
          </p:cNvPr>
          <p:cNvPicPr>
            <a:picLocks noChangeAspect="1"/>
          </p:cNvPicPr>
          <p:nvPr/>
        </p:nvPicPr>
        <p:blipFill>
          <a:blip r:embed="rId2"/>
          <a:stretch>
            <a:fillRect/>
          </a:stretch>
        </p:blipFill>
        <p:spPr>
          <a:xfrm>
            <a:off x="909307" y="1653791"/>
            <a:ext cx="3667785" cy="269974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03</a:t>
            </a:r>
            <a:r>
              <a:rPr sz="2000" b="0">
                <a:solidFill>
                  <a:srgbClr val="3457D5"/>
                </a:solidFill>
                <a:latin typeface="Yu Gothic UI"/>
              </a:rPr>
              <a:t>　</a:t>
            </a:r>
            <a:r>
              <a:rPr sz="2000" b="1">
                <a:solidFill>
                  <a:srgbClr val="36454F"/>
                </a:solidFill>
                <a:latin typeface="Yu Gothic UI"/>
              </a:rPr>
              <a:t>日報取込</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STEP 4-B：日報内に新しい現場が含まれていると、登録ダイアログが開きます。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4937760" cy="777240"/>
          </a:xfrm>
          <a:prstGeom prst="roundRect">
            <a:avLst>
              <a:gd name="adj" fmla="val 5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1792" y="1399032"/>
            <a:ext cx="502920" cy="502920"/>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399032"/>
            <a:ext cx="502920" cy="502920"/>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①</a:t>
            </a:r>
          </a:p>
        </p:txBody>
      </p:sp>
      <p:sp>
        <p:nvSpPr>
          <p:cNvPr id="9" name="TextBox 8"/>
          <p:cNvSpPr txBox="1"/>
          <p:nvPr/>
        </p:nvSpPr>
        <p:spPr>
          <a:xfrm>
            <a:off x="1234440" y="1353312"/>
            <a:ext cx="4023360" cy="274320"/>
          </a:xfrm>
          <a:prstGeom prst="rect">
            <a:avLst/>
          </a:prstGeom>
          <a:noFill/>
        </p:spPr>
        <p:txBody>
          <a:bodyPr wrap="square" lIns="45720" tIns="18288" rIns="45720" bIns="18288" anchor="t">
            <a:spAutoFit/>
          </a:bodyPr>
          <a:lstStyle/>
          <a:p>
            <a:pPr algn="l">
              <a:lnSpc>
                <a:spcPct val="115000"/>
              </a:lnSpc>
            </a:pPr>
            <a:r>
              <a:rPr sz="1150" b="1">
                <a:solidFill>
                  <a:srgbClr val="3457D5"/>
                </a:solidFill>
                <a:latin typeface="Yu Gothic UI"/>
              </a:rPr>
              <a:t>新規現場が自動検出されます</a:t>
            </a:r>
          </a:p>
        </p:txBody>
      </p:sp>
      <p:sp>
        <p:nvSpPr>
          <p:cNvPr id="10" name="TextBox 9"/>
          <p:cNvSpPr txBox="1"/>
          <p:nvPr/>
        </p:nvSpPr>
        <p:spPr>
          <a:xfrm>
            <a:off x="1234440" y="1645920"/>
            <a:ext cx="4023360" cy="384048"/>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日報内の新しい現場（区分コード）が見つかると、登録ダイアログが自動で開きます。</a:t>
            </a:r>
          </a:p>
        </p:txBody>
      </p:sp>
      <p:sp>
        <p:nvSpPr>
          <p:cNvPr id="11" name="Rounded Rectangle 10"/>
          <p:cNvSpPr/>
          <p:nvPr/>
        </p:nvSpPr>
        <p:spPr>
          <a:xfrm>
            <a:off x="457200" y="2176272"/>
            <a:ext cx="4937760" cy="777240"/>
          </a:xfrm>
          <a:prstGeom prst="roundRect">
            <a:avLst>
              <a:gd name="adj" fmla="val 5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21792" y="2295144"/>
            <a:ext cx="502920" cy="502920"/>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1792" y="2295144"/>
            <a:ext cx="502920" cy="502920"/>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②</a:t>
            </a:r>
          </a:p>
        </p:txBody>
      </p:sp>
      <p:sp>
        <p:nvSpPr>
          <p:cNvPr id="14" name="TextBox 13"/>
          <p:cNvSpPr txBox="1"/>
          <p:nvPr/>
        </p:nvSpPr>
        <p:spPr>
          <a:xfrm>
            <a:off x="1234440" y="2249424"/>
            <a:ext cx="4023360" cy="274320"/>
          </a:xfrm>
          <a:prstGeom prst="rect">
            <a:avLst/>
          </a:prstGeom>
          <a:noFill/>
        </p:spPr>
        <p:txBody>
          <a:bodyPr wrap="square" lIns="45720" tIns="18288" rIns="45720" bIns="18288" anchor="t">
            <a:spAutoFit/>
          </a:bodyPr>
          <a:lstStyle/>
          <a:p>
            <a:pPr algn="l">
              <a:lnSpc>
                <a:spcPct val="115000"/>
              </a:lnSpc>
            </a:pPr>
            <a:r>
              <a:rPr sz="1150" b="1">
                <a:solidFill>
                  <a:srgbClr val="3457D5"/>
                </a:solidFill>
                <a:latin typeface="Yu Gothic UI"/>
              </a:rPr>
              <a:t>現場名と詳細を入力</a:t>
            </a:r>
          </a:p>
        </p:txBody>
      </p:sp>
      <p:sp>
        <p:nvSpPr>
          <p:cNvPr id="15" name="TextBox 14"/>
          <p:cNvSpPr txBox="1"/>
          <p:nvPr/>
        </p:nvSpPr>
        <p:spPr>
          <a:xfrm>
            <a:off x="1234440" y="2542032"/>
            <a:ext cx="4023360" cy="384048"/>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現場名・会社名・詳細情報を入力します。</a:t>
            </a:r>
          </a:p>
        </p:txBody>
      </p:sp>
      <p:sp>
        <p:nvSpPr>
          <p:cNvPr id="16" name="Rounded Rectangle 15"/>
          <p:cNvSpPr/>
          <p:nvPr/>
        </p:nvSpPr>
        <p:spPr>
          <a:xfrm>
            <a:off x="457200" y="3072384"/>
            <a:ext cx="4937760" cy="777240"/>
          </a:xfrm>
          <a:prstGeom prst="roundRect">
            <a:avLst>
              <a:gd name="adj" fmla="val 5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21792" y="3191256"/>
            <a:ext cx="502920" cy="502920"/>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1792" y="3191256"/>
            <a:ext cx="502920" cy="502920"/>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③</a:t>
            </a:r>
          </a:p>
        </p:txBody>
      </p:sp>
      <p:sp>
        <p:nvSpPr>
          <p:cNvPr id="19" name="TextBox 18"/>
          <p:cNvSpPr txBox="1"/>
          <p:nvPr/>
        </p:nvSpPr>
        <p:spPr>
          <a:xfrm>
            <a:off x="1234440" y="3145536"/>
            <a:ext cx="4023360" cy="274320"/>
          </a:xfrm>
          <a:prstGeom prst="rect">
            <a:avLst/>
          </a:prstGeom>
          <a:noFill/>
        </p:spPr>
        <p:txBody>
          <a:bodyPr wrap="square" lIns="45720" tIns="18288" rIns="45720" bIns="18288" anchor="t">
            <a:spAutoFit/>
          </a:bodyPr>
          <a:lstStyle/>
          <a:p>
            <a:pPr algn="l">
              <a:lnSpc>
                <a:spcPct val="115000"/>
              </a:lnSpc>
            </a:pPr>
            <a:r>
              <a:rPr sz="1150" b="1">
                <a:solidFill>
                  <a:srgbClr val="3457D5"/>
                </a:solidFill>
                <a:latin typeface="Yu Gothic UI"/>
              </a:rPr>
              <a:t>属性を選択</a:t>
            </a:r>
          </a:p>
        </p:txBody>
      </p:sp>
      <p:sp>
        <p:nvSpPr>
          <p:cNvPr id="20" name="TextBox 19"/>
          <p:cNvSpPr txBox="1"/>
          <p:nvPr/>
        </p:nvSpPr>
        <p:spPr>
          <a:xfrm>
            <a:off x="1128642" y="3362875"/>
            <a:ext cx="4350554" cy="397096"/>
          </a:xfrm>
          <a:prstGeom prst="rect">
            <a:avLst/>
          </a:prstGeom>
          <a:noFill/>
        </p:spPr>
        <p:txBody>
          <a:bodyPr wrap="square" lIns="45720" tIns="18288" rIns="45720" bIns="18288" anchor="t">
            <a:spAutoFit/>
          </a:bodyPr>
          <a:lstStyle/>
          <a:p>
            <a:pPr algn="l">
              <a:lnSpc>
                <a:spcPct val="130000"/>
              </a:lnSpc>
            </a:pPr>
            <a:r>
              <a:rPr sz="950" b="0" dirty="0">
                <a:solidFill>
                  <a:srgbClr val="36454F"/>
                </a:solidFill>
                <a:latin typeface="Yu Gothic UI"/>
              </a:rPr>
              <a:t>7種類の属性</a:t>
            </a:r>
            <a:endParaRPr lang="en-US" sz="950" b="0" dirty="0">
              <a:solidFill>
                <a:srgbClr val="36454F"/>
              </a:solidFill>
              <a:latin typeface="Yu Gothic UI"/>
            </a:endParaRPr>
          </a:p>
          <a:p>
            <a:pPr algn="l">
              <a:lnSpc>
                <a:spcPct val="130000"/>
              </a:lnSpc>
            </a:pPr>
            <a:r>
              <a:rPr sz="950" b="0" dirty="0">
                <a:solidFill>
                  <a:srgbClr val="36454F"/>
                </a:solidFill>
                <a:latin typeface="Yu Gothic UI"/>
              </a:rPr>
              <a:t>（契約前・契約中・契約終了・自社案件・第一土木・セミナー・</a:t>
            </a:r>
            <a:r>
              <a:rPr sz="950" b="0" dirty="0" err="1">
                <a:solidFill>
                  <a:srgbClr val="36454F"/>
                </a:solidFill>
                <a:latin typeface="Yu Gothic UI"/>
              </a:rPr>
              <a:t>その他）から選択します</a:t>
            </a:r>
            <a:r>
              <a:rPr sz="950" b="0" dirty="0">
                <a:solidFill>
                  <a:srgbClr val="36454F"/>
                </a:solidFill>
                <a:latin typeface="Yu Gothic UI"/>
              </a:rPr>
              <a:t>。</a:t>
            </a:r>
          </a:p>
        </p:txBody>
      </p:sp>
      <p:sp>
        <p:nvSpPr>
          <p:cNvPr id="21" name="Rounded Rectangle 20"/>
          <p:cNvSpPr/>
          <p:nvPr/>
        </p:nvSpPr>
        <p:spPr>
          <a:xfrm>
            <a:off x="457200" y="3968496"/>
            <a:ext cx="4937760" cy="777240"/>
          </a:xfrm>
          <a:prstGeom prst="roundRect">
            <a:avLst>
              <a:gd name="adj" fmla="val 5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21792" y="4087368"/>
            <a:ext cx="502920" cy="502920"/>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1792" y="4087368"/>
            <a:ext cx="502920" cy="502920"/>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④</a:t>
            </a:r>
          </a:p>
        </p:txBody>
      </p:sp>
      <p:sp>
        <p:nvSpPr>
          <p:cNvPr id="24" name="TextBox 23"/>
          <p:cNvSpPr txBox="1"/>
          <p:nvPr/>
        </p:nvSpPr>
        <p:spPr>
          <a:xfrm>
            <a:off x="1234440" y="4041648"/>
            <a:ext cx="4023360" cy="274320"/>
          </a:xfrm>
          <a:prstGeom prst="rect">
            <a:avLst/>
          </a:prstGeom>
          <a:noFill/>
        </p:spPr>
        <p:txBody>
          <a:bodyPr wrap="square" lIns="45720" tIns="18288" rIns="45720" bIns="18288" anchor="t">
            <a:spAutoFit/>
          </a:bodyPr>
          <a:lstStyle/>
          <a:p>
            <a:pPr algn="l">
              <a:lnSpc>
                <a:spcPct val="115000"/>
              </a:lnSpc>
            </a:pPr>
            <a:r>
              <a:rPr sz="1150" b="1">
                <a:solidFill>
                  <a:srgbClr val="3457D5"/>
                </a:solidFill>
                <a:latin typeface="Yu Gothic UI"/>
              </a:rPr>
              <a:t>「登録」ボタンで保存</a:t>
            </a:r>
          </a:p>
        </p:txBody>
      </p:sp>
      <p:sp>
        <p:nvSpPr>
          <p:cNvPr id="25" name="TextBox 24"/>
          <p:cNvSpPr txBox="1"/>
          <p:nvPr/>
        </p:nvSpPr>
        <p:spPr>
          <a:xfrm>
            <a:off x="1234440" y="4334256"/>
            <a:ext cx="4023360" cy="384048"/>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入力後、「登録」ボタンを押すと現場マスタに保存されます。属性に応じてタブ色が自動で設定されます。</a:t>
            </a:r>
          </a:p>
        </p:txBody>
      </p:sp>
      <p:sp>
        <p:nvSpPr>
          <p:cNvPr id="26" name="Rounded Rectangle 25"/>
          <p:cNvSpPr/>
          <p:nvPr/>
        </p:nvSpPr>
        <p:spPr>
          <a:xfrm>
            <a:off x="5623560" y="1280160"/>
            <a:ext cx="3154680" cy="3246120"/>
          </a:xfrm>
          <a:prstGeom prst="roundRect">
            <a:avLst>
              <a:gd name="adj" fmla="val 5000"/>
            </a:avLst>
          </a:prstGeom>
          <a:solidFill>
            <a:srgbClr val="FAFBFD"/>
          </a:solidFill>
          <a:ln w="19050">
            <a:solidFill>
              <a:srgbClr val="C43D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5504688" y="1206453"/>
            <a:ext cx="1551709" cy="292608"/>
          </a:xfrm>
          <a:prstGeom prst="roundRect">
            <a:avLst>
              <a:gd name="adj" fmla="val 40000"/>
            </a:avLst>
          </a:prstGeom>
          <a:solidFill>
            <a:srgbClr val="C43D4A"/>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l"/>
            <a:r>
              <a:rPr sz="1000" b="1" dirty="0" err="1">
                <a:solidFill>
                  <a:srgbClr val="FFFFFF"/>
                </a:solidFill>
                <a:latin typeface="Yu Gothic UI"/>
              </a:rPr>
              <a:t>新規現場登録ダイアログ</a:t>
            </a:r>
            <a:endParaRPr sz="1000" b="1" dirty="0">
              <a:solidFill>
                <a:srgbClr val="FFFFFF"/>
              </a:solidFill>
              <a:latin typeface="Yu Gothic UI"/>
            </a:endParaRPr>
          </a:p>
        </p:txBody>
      </p:sp>
      <p:sp>
        <p:nvSpPr>
          <p:cNvPr id="29" name="TextBox 28"/>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30" name="TextBox 29"/>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17 / 53</a:t>
            </a:r>
          </a:p>
        </p:txBody>
      </p:sp>
      <p:pic>
        <p:nvPicPr>
          <p:cNvPr id="32" name="図 31">
            <a:extLst>
              <a:ext uri="{FF2B5EF4-FFF2-40B4-BE49-F238E27FC236}">
                <a16:creationId xmlns:a16="http://schemas.microsoft.com/office/drawing/2014/main" id="{254E27AF-E227-8A1E-BE6D-81DC885EA7EF}"/>
              </a:ext>
            </a:extLst>
          </p:cNvPr>
          <p:cNvPicPr>
            <a:picLocks noChangeAspect="1"/>
          </p:cNvPicPr>
          <p:nvPr/>
        </p:nvPicPr>
        <p:blipFill>
          <a:blip r:embed="rId2"/>
          <a:stretch>
            <a:fillRect/>
          </a:stretch>
        </p:blipFill>
        <p:spPr>
          <a:xfrm>
            <a:off x="5813594" y="1540682"/>
            <a:ext cx="2817787" cy="291882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04</a:t>
            </a:r>
            <a:r>
              <a:rPr sz="2000" b="0">
                <a:solidFill>
                  <a:srgbClr val="3457D5"/>
                </a:solidFill>
                <a:latin typeface="Yu Gothic UI"/>
              </a:rPr>
              <a:t>　</a:t>
            </a:r>
            <a:r>
              <a:rPr sz="2000" b="1">
                <a:solidFill>
                  <a:srgbClr val="36454F"/>
                </a:solidFill>
                <a:latin typeface="Yu Gothic UI"/>
              </a:rPr>
              <a:t>原価集計の見方</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原価集計画面の構成を説明します。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5029200" cy="3200400"/>
          </a:xfrm>
          <a:prstGeom prst="roundRect">
            <a:avLst>
              <a:gd name="adj" fmla="val 3000"/>
            </a:avLst>
          </a:prstGeom>
          <a:solidFill>
            <a:srgbClr val="FFFFFF"/>
          </a:solidFill>
          <a:ln w="12700">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371600"/>
            <a:ext cx="1188720" cy="292608"/>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371600"/>
            <a:ext cx="1188720" cy="292608"/>
          </a:xfrm>
          <a:prstGeom prst="rect">
            <a:avLst/>
          </a:prstGeom>
          <a:noFill/>
        </p:spPr>
        <p:txBody>
          <a:bodyPr wrap="square" lIns="45720" tIns="18288" rIns="45720" bIns="18288" anchor="ctr">
            <a:spAutoFit/>
          </a:bodyPr>
          <a:lstStyle/>
          <a:p>
            <a:pPr algn="ctr">
              <a:lnSpc>
                <a:spcPct val="115000"/>
              </a:lnSpc>
            </a:pPr>
            <a:r>
              <a:rPr sz="900" b="1">
                <a:solidFill>
                  <a:srgbClr val="FFFFFF"/>
                </a:solidFill>
                <a:latin typeface="Yu Gothic UI"/>
              </a:rPr>
              <a:t>第一土木</a:t>
            </a:r>
          </a:p>
        </p:txBody>
      </p:sp>
      <p:sp>
        <p:nvSpPr>
          <p:cNvPr id="9" name="Rounded Rectangle 8"/>
          <p:cNvSpPr/>
          <p:nvPr/>
        </p:nvSpPr>
        <p:spPr>
          <a:xfrm>
            <a:off x="1828800" y="1371600"/>
            <a:ext cx="1188720" cy="292608"/>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828800" y="1371600"/>
            <a:ext cx="1188720" cy="292608"/>
          </a:xfrm>
          <a:prstGeom prst="rect">
            <a:avLst/>
          </a:prstGeom>
          <a:noFill/>
        </p:spPr>
        <p:txBody>
          <a:bodyPr wrap="square" lIns="45720" tIns="18288" rIns="45720" bIns="18288" anchor="ctr">
            <a:spAutoFit/>
          </a:bodyPr>
          <a:lstStyle/>
          <a:p>
            <a:pPr algn="ctr">
              <a:lnSpc>
                <a:spcPct val="115000"/>
              </a:lnSpc>
            </a:pPr>
            <a:r>
              <a:rPr sz="900" b="1">
                <a:solidFill>
                  <a:srgbClr val="FFFFFF"/>
                </a:solidFill>
                <a:latin typeface="Yu Gothic UI"/>
              </a:rPr>
              <a:t>自社案件</a:t>
            </a:r>
          </a:p>
        </p:txBody>
      </p:sp>
      <p:sp>
        <p:nvSpPr>
          <p:cNvPr id="11" name="Rounded Rectangle 10"/>
          <p:cNvSpPr/>
          <p:nvPr/>
        </p:nvSpPr>
        <p:spPr>
          <a:xfrm>
            <a:off x="3063240" y="1371600"/>
            <a:ext cx="1188720" cy="292608"/>
          </a:xfrm>
          <a:prstGeom prst="roundRect">
            <a:avLst>
              <a:gd name="adj" fmla="val 15000"/>
            </a:avLst>
          </a:prstGeom>
          <a:solidFill>
            <a:srgbClr val="7A8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63240" y="1371600"/>
            <a:ext cx="1188720" cy="292608"/>
          </a:xfrm>
          <a:prstGeom prst="rect">
            <a:avLst/>
          </a:prstGeom>
          <a:noFill/>
        </p:spPr>
        <p:txBody>
          <a:bodyPr wrap="square" lIns="45720" tIns="18288" rIns="45720" bIns="18288" anchor="ctr">
            <a:spAutoFit/>
          </a:bodyPr>
          <a:lstStyle/>
          <a:p>
            <a:pPr algn="ctr">
              <a:lnSpc>
                <a:spcPct val="115000"/>
              </a:lnSpc>
            </a:pPr>
            <a:r>
              <a:rPr sz="900" b="1">
                <a:solidFill>
                  <a:srgbClr val="FFFFFF"/>
                </a:solidFill>
                <a:latin typeface="Yu Gothic UI"/>
              </a:rPr>
              <a:t>契約終了</a:t>
            </a:r>
          </a:p>
        </p:txBody>
      </p:sp>
      <p:sp>
        <p:nvSpPr>
          <p:cNvPr id="13" name="TextBox 12"/>
          <p:cNvSpPr txBox="1"/>
          <p:nvPr/>
        </p:nvSpPr>
        <p:spPr>
          <a:xfrm>
            <a:off x="594360" y="1755648"/>
            <a:ext cx="18288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 絞り込みタブ:</a:t>
            </a:r>
          </a:p>
        </p:txBody>
      </p:sp>
      <p:sp>
        <p:nvSpPr>
          <p:cNvPr id="14" name="Rounded Rectangle 13"/>
          <p:cNvSpPr/>
          <p:nvPr/>
        </p:nvSpPr>
        <p:spPr>
          <a:xfrm>
            <a:off x="1783080" y="1755648"/>
            <a:ext cx="914400" cy="256032"/>
          </a:xfrm>
          <a:prstGeom prst="roundRect">
            <a:avLst>
              <a:gd name="adj" fmla="val 15000"/>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783080" y="1755648"/>
            <a:ext cx="914400" cy="256032"/>
          </a:xfrm>
          <a:prstGeom prst="rect">
            <a:avLst/>
          </a:prstGeom>
          <a:noFill/>
        </p:spPr>
        <p:txBody>
          <a:bodyPr wrap="square" lIns="45720" tIns="18288" rIns="45720" bIns="18288" anchor="ctr">
            <a:spAutoFit/>
          </a:bodyPr>
          <a:lstStyle/>
          <a:p>
            <a:pPr algn="ctr">
              <a:lnSpc>
                <a:spcPct val="115000"/>
              </a:lnSpc>
            </a:pPr>
            <a:r>
              <a:rPr sz="850" b="0">
                <a:solidFill>
                  <a:srgbClr val="3457D5"/>
                </a:solidFill>
                <a:latin typeface="Yu Gothic UI"/>
              </a:rPr>
              <a:t>全体</a:t>
            </a:r>
          </a:p>
        </p:txBody>
      </p:sp>
      <p:sp>
        <p:nvSpPr>
          <p:cNvPr id="16" name="Rounded Rectangle 15"/>
          <p:cNvSpPr/>
          <p:nvPr/>
        </p:nvSpPr>
        <p:spPr>
          <a:xfrm>
            <a:off x="2743200" y="1755648"/>
            <a:ext cx="914400" cy="256032"/>
          </a:xfrm>
          <a:prstGeom prst="roundRect">
            <a:avLst>
              <a:gd name="adj" fmla="val 15000"/>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43200" y="1755648"/>
            <a:ext cx="914400" cy="256032"/>
          </a:xfrm>
          <a:prstGeom prst="rect">
            <a:avLst/>
          </a:prstGeom>
          <a:noFill/>
        </p:spPr>
        <p:txBody>
          <a:bodyPr wrap="square" lIns="45720" tIns="18288" rIns="45720" bIns="18288" anchor="ctr">
            <a:spAutoFit/>
          </a:bodyPr>
          <a:lstStyle/>
          <a:p>
            <a:pPr algn="ctr">
              <a:lnSpc>
                <a:spcPct val="115000"/>
              </a:lnSpc>
            </a:pPr>
            <a:r>
              <a:rPr sz="850" b="0">
                <a:solidFill>
                  <a:srgbClr val="3457D5"/>
                </a:solidFill>
                <a:latin typeface="Yu Gothic UI"/>
              </a:rPr>
              <a:t>2026/04</a:t>
            </a:r>
          </a:p>
        </p:txBody>
      </p:sp>
      <p:sp>
        <p:nvSpPr>
          <p:cNvPr id="18" name="Rounded Rectangle 17"/>
          <p:cNvSpPr/>
          <p:nvPr/>
        </p:nvSpPr>
        <p:spPr>
          <a:xfrm>
            <a:off x="3703320" y="1755648"/>
            <a:ext cx="914400" cy="256032"/>
          </a:xfrm>
          <a:prstGeom prst="roundRect">
            <a:avLst>
              <a:gd name="adj" fmla="val 15000"/>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703320" y="1755648"/>
            <a:ext cx="914400" cy="256032"/>
          </a:xfrm>
          <a:prstGeom prst="rect">
            <a:avLst/>
          </a:prstGeom>
          <a:noFill/>
        </p:spPr>
        <p:txBody>
          <a:bodyPr wrap="square" lIns="45720" tIns="18288" rIns="45720" bIns="18288" anchor="ctr">
            <a:spAutoFit/>
          </a:bodyPr>
          <a:lstStyle/>
          <a:p>
            <a:pPr algn="ctr">
              <a:lnSpc>
                <a:spcPct val="115000"/>
              </a:lnSpc>
            </a:pPr>
            <a:r>
              <a:rPr sz="850" b="0">
                <a:solidFill>
                  <a:srgbClr val="3457D5"/>
                </a:solidFill>
                <a:latin typeface="Yu Gothic UI"/>
              </a:rPr>
              <a:t>技師のみ</a:t>
            </a:r>
          </a:p>
        </p:txBody>
      </p:sp>
      <p:sp>
        <p:nvSpPr>
          <p:cNvPr id="20" name="Rectangle 19"/>
          <p:cNvSpPr/>
          <p:nvPr/>
        </p:nvSpPr>
        <p:spPr>
          <a:xfrm>
            <a:off x="594360" y="2167128"/>
            <a:ext cx="4754880" cy="2743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2167128"/>
            <a:ext cx="4663440" cy="274320"/>
          </a:xfrm>
          <a:prstGeom prst="rect">
            <a:avLst/>
          </a:prstGeom>
          <a:noFill/>
        </p:spPr>
        <p:txBody>
          <a:bodyPr wrap="square" lIns="45720" tIns="18288" rIns="45720" bIns="18288" anchor="ctr">
            <a:spAutoFit/>
          </a:bodyPr>
          <a:lstStyle/>
          <a:p>
            <a:pPr algn="l">
              <a:lnSpc>
                <a:spcPct val="115000"/>
              </a:lnSpc>
            </a:pPr>
            <a:r>
              <a:rPr sz="850" b="1">
                <a:solidFill>
                  <a:srgbClr val="FFFFFF"/>
                </a:solidFill>
                <a:latin typeface="Yu Gothic UI"/>
              </a:rPr>
              <a:t>日付　/　氏名　/　作業内容　/　人件費　/　交通費　/　損料</a:t>
            </a:r>
          </a:p>
        </p:txBody>
      </p:sp>
      <p:sp>
        <p:nvSpPr>
          <p:cNvPr id="22" name="Rectangle 21"/>
          <p:cNvSpPr/>
          <p:nvPr/>
        </p:nvSpPr>
        <p:spPr>
          <a:xfrm>
            <a:off x="594360" y="2441448"/>
            <a:ext cx="4754880" cy="190195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2441448"/>
            <a:ext cx="4754880" cy="1901952"/>
          </a:xfrm>
          <a:prstGeom prst="rect">
            <a:avLst/>
          </a:prstGeom>
          <a:noFill/>
        </p:spPr>
        <p:txBody>
          <a:bodyPr wrap="square" lIns="45720" tIns="18288" rIns="45720" bIns="18288" anchor="ctr">
            <a:spAutoFit/>
          </a:bodyPr>
          <a:lstStyle/>
          <a:p>
            <a:pPr algn="ctr">
              <a:lnSpc>
                <a:spcPct val="140000"/>
              </a:lnSpc>
            </a:pPr>
            <a:r>
              <a:rPr sz="1000" b="1">
                <a:solidFill>
                  <a:srgbClr val="1E3A8A"/>
                </a:solidFill>
                <a:latin typeface="Yu Gothic UI"/>
              </a:rPr>
              <a:t>DataGrid（明細表示エリア）</a:t>
            </a:r>
          </a:p>
          <a:p>
            <a:pPr algn="ctr">
              <a:lnSpc>
                <a:spcPct val="140000"/>
              </a:lnSpc>
            </a:pPr>
            <a:r>
              <a:rPr sz="1000" b="1">
                <a:solidFill>
                  <a:srgbClr val="1E3A8A"/>
                </a:solidFill>
                <a:latin typeface="Yu Gothic UI"/>
              </a:rPr>
              <a:t>月度ヘッダー・明細行・小計を自動表示</a:t>
            </a:r>
          </a:p>
        </p:txBody>
      </p:sp>
      <p:sp>
        <p:nvSpPr>
          <p:cNvPr id="24" name="TextBox 23"/>
          <p:cNvSpPr txBox="1"/>
          <p:nvPr/>
        </p:nvSpPr>
        <p:spPr>
          <a:xfrm>
            <a:off x="5623560" y="1280160"/>
            <a:ext cx="3154680" cy="292608"/>
          </a:xfrm>
          <a:prstGeom prst="rect">
            <a:avLst/>
          </a:prstGeom>
          <a:noFill/>
        </p:spPr>
        <p:txBody>
          <a:bodyPr wrap="square" lIns="45720" tIns="18288" rIns="45720" bIns="18288" anchor="t">
            <a:spAutoFit/>
          </a:bodyPr>
          <a:lstStyle/>
          <a:p>
            <a:pPr algn="l">
              <a:lnSpc>
                <a:spcPct val="115000"/>
              </a:lnSpc>
            </a:pPr>
            <a:r>
              <a:rPr sz="1250" b="1">
                <a:solidFill>
                  <a:srgbClr val="3457D5"/>
                </a:solidFill>
                <a:latin typeface="Yu Gothic UI"/>
              </a:rPr>
              <a:t>① 現場タブ</a:t>
            </a:r>
          </a:p>
        </p:txBody>
      </p:sp>
      <p:sp>
        <p:nvSpPr>
          <p:cNvPr id="25" name="TextBox 24"/>
          <p:cNvSpPr txBox="1"/>
          <p:nvPr/>
        </p:nvSpPr>
        <p:spPr>
          <a:xfrm>
            <a:off x="5623560" y="1572768"/>
            <a:ext cx="3154680" cy="777240"/>
          </a:xfrm>
          <a:prstGeom prst="rect">
            <a:avLst/>
          </a:prstGeom>
          <a:noFill/>
        </p:spPr>
        <p:txBody>
          <a:bodyPr wrap="square" lIns="45720" tIns="18288" rIns="45720" bIns="18288" anchor="t">
            <a:spAutoFit/>
          </a:bodyPr>
          <a:lstStyle/>
          <a:p>
            <a:pPr algn="l">
              <a:lnSpc>
                <a:spcPct val="135000"/>
              </a:lnSpc>
            </a:pPr>
            <a:r>
              <a:rPr sz="1050" b="0">
                <a:solidFill>
                  <a:srgbClr val="36454F"/>
                </a:solidFill>
                <a:latin typeface="Yu Gothic UI"/>
              </a:rPr>
              <a:t>上部の横タブで現場を切り替えます。属性に応じて色が自動で変わります。</a:t>
            </a:r>
          </a:p>
        </p:txBody>
      </p:sp>
      <p:sp>
        <p:nvSpPr>
          <p:cNvPr id="26" name="TextBox 25"/>
          <p:cNvSpPr txBox="1"/>
          <p:nvPr/>
        </p:nvSpPr>
        <p:spPr>
          <a:xfrm>
            <a:off x="5623560" y="2359152"/>
            <a:ext cx="3154680" cy="292608"/>
          </a:xfrm>
          <a:prstGeom prst="rect">
            <a:avLst/>
          </a:prstGeom>
          <a:noFill/>
        </p:spPr>
        <p:txBody>
          <a:bodyPr wrap="square" lIns="45720" tIns="18288" rIns="45720" bIns="18288" anchor="t">
            <a:spAutoFit/>
          </a:bodyPr>
          <a:lstStyle/>
          <a:p>
            <a:pPr algn="l">
              <a:lnSpc>
                <a:spcPct val="115000"/>
              </a:lnSpc>
            </a:pPr>
            <a:r>
              <a:rPr sz="1250" b="1">
                <a:solidFill>
                  <a:srgbClr val="3457D5"/>
                </a:solidFill>
                <a:latin typeface="Yu Gothic UI"/>
              </a:rPr>
              <a:t>② 絞り込みタブ</a:t>
            </a:r>
          </a:p>
        </p:txBody>
      </p:sp>
      <p:sp>
        <p:nvSpPr>
          <p:cNvPr id="27" name="TextBox 26"/>
          <p:cNvSpPr txBox="1"/>
          <p:nvPr/>
        </p:nvSpPr>
        <p:spPr>
          <a:xfrm>
            <a:off x="5623560" y="2651760"/>
            <a:ext cx="3154680" cy="777240"/>
          </a:xfrm>
          <a:prstGeom prst="rect">
            <a:avLst/>
          </a:prstGeom>
          <a:noFill/>
        </p:spPr>
        <p:txBody>
          <a:bodyPr wrap="square" lIns="45720" tIns="18288" rIns="45720" bIns="18288" anchor="t">
            <a:spAutoFit/>
          </a:bodyPr>
          <a:lstStyle/>
          <a:p>
            <a:pPr algn="l">
              <a:lnSpc>
                <a:spcPct val="135000"/>
              </a:lnSpc>
            </a:pPr>
            <a:r>
              <a:rPr sz="1050" b="0">
                <a:solidFill>
                  <a:srgbClr val="36454F"/>
                </a:solidFill>
                <a:latin typeface="Yu Gothic UI"/>
              </a:rPr>
              <a:t>現場タブの中のサブタブです。月度・作業内容・氏名で絞り込み表示できます。</a:t>
            </a:r>
          </a:p>
        </p:txBody>
      </p:sp>
      <p:sp>
        <p:nvSpPr>
          <p:cNvPr id="28" name="TextBox 27"/>
          <p:cNvSpPr txBox="1"/>
          <p:nvPr/>
        </p:nvSpPr>
        <p:spPr>
          <a:xfrm>
            <a:off x="5623560" y="3438144"/>
            <a:ext cx="3154680" cy="292608"/>
          </a:xfrm>
          <a:prstGeom prst="rect">
            <a:avLst/>
          </a:prstGeom>
          <a:noFill/>
        </p:spPr>
        <p:txBody>
          <a:bodyPr wrap="square" lIns="45720" tIns="18288" rIns="45720" bIns="18288" anchor="t">
            <a:spAutoFit/>
          </a:bodyPr>
          <a:lstStyle/>
          <a:p>
            <a:pPr algn="l">
              <a:lnSpc>
                <a:spcPct val="115000"/>
              </a:lnSpc>
            </a:pPr>
            <a:r>
              <a:rPr sz="1250" b="1">
                <a:solidFill>
                  <a:srgbClr val="3457D5"/>
                </a:solidFill>
                <a:latin typeface="Yu Gothic UI"/>
              </a:rPr>
              <a:t>③ DataGrid</a:t>
            </a:r>
          </a:p>
        </p:txBody>
      </p:sp>
      <p:sp>
        <p:nvSpPr>
          <p:cNvPr id="29" name="TextBox 28"/>
          <p:cNvSpPr txBox="1"/>
          <p:nvPr/>
        </p:nvSpPr>
        <p:spPr>
          <a:xfrm>
            <a:off x="5623560" y="3730752"/>
            <a:ext cx="3154680" cy="777240"/>
          </a:xfrm>
          <a:prstGeom prst="rect">
            <a:avLst/>
          </a:prstGeom>
          <a:noFill/>
        </p:spPr>
        <p:txBody>
          <a:bodyPr wrap="square" lIns="45720" tIns="18288" rIns="45720" bIns="18288" anchor="t">
            <a:spAutoFit/>
          </a:bodyPr>
          <a:lstStyle/>
          <a:p>
            <a:pPr algn="l">
              <a:lnSpc>
                <a:spcPct val="135000"/>
              </a:lnSpc>
            </a:pPr>
            <a:r>
              <a:rPr sz="1050" b="0">
                <a:solidFill>
                  <a:srgbClr val="36454F"/>
                </a:solidFill>
                <a:latin typeface="Yu Gothic UI"/>
              </a:rPr>
              <a:t>選択した条件の原価明細が、年度・月度ごとにまとまって表示されます。</a:t>
            </a:r>
          </a:p>
        </p:txBody>
      </p:sp>
      <p:sp>
        <p:nvSpPr>
          <p:cNvPr id="30" name="TextBox 29"/>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31" name="TextBox 30"/>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18 / 53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04</a:t>
            </a:r>
            <a:r>
              <a:rPr sz="2000" b="0">
                <a:solidFill>
                  <a:srgbClr val="3457D5"/>
                </a:solidFill>
                <a:latin typeface="Yu Gothic UI"/>
              </a:rPr>
              <a:t>　</a:t>
            </a:r>
            <a:r>
              <a:rPr sz="2000" b="1">
                <a:solidFill>
                  <a:srgbClr val="36454F"/>
                </a:solidFill>
                <a:latin typeface="Yu Gothic UI"/>
              </a:rPr>
              <a:t>原価集計の見方</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原価は「人件費・交通費・損料」の3種類で集計されます。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4114800" cy="160020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73152" cy="160020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99032"/>
            <a:ext cx="3749040" cy="365760"/>
          </a:xfrm>
          <a:prstGeom prst="rect">
            <a:avLst/>
          </a:prstGeom>
          <a:noFill/>
        </p:spPr>
        <p:txBody>
          <a:bodyPr wrap="square" lIns="45720" tIns="18288" rIns="45720" bIns="18288" anchor="t">
            <a:spAutoFit/>
          </a:bodyPr>
          <a:lstStyle/>
          <a:p>
            <a:pPr algn="l">
              <a:lnSpc>
                <a:spcPct val="115000"/>
              </a:lnSpc>
            </a:pPr>
            <a:r>
              <a:rPr sz="1400" b="1">
                <a:solidFill>
                  <a:srgbClr val="3457D5"/>
                </a:solidFill>
                <a:latin typeface="Yu Gothic UI"/>
              </a:rPr>
              <a:t>💰 人件費</a:t>
            </a:r>
          </a:p>
        </p:txBody>
      </p:sp>
      <p:sp>
        <p:nvSpPr>
          <p:cNvPr id="9" name="TextBox 8"/>
          <p:cNvSpPr txBox="1"/>
          <p:nvPr/>
        </p:nvSpPr>
        <p:spPr>
          <a:xfrm>
            <a:off x="685800" y="1783080"/>
            <a:ext cx="3749040" cy="960120"/>
          </a:xfrm>
          <a:prstGeom prst="rect">
            <a:avLst/>
          </a:prstGeom>
          <a:noFill/>
        </p:spPr>
        <p:txBody>
          <a:bodyPr wrap="square" lIns="45720" tIns="18288" rIns="45720" bIns="18288" anchor="t">
            <a:spAutoFit/>
          </a:bodyPr>
          <a:lstStyle/>
          <a:p>
            <a:pPr algn="l">
              <a:lnSpc>
                <a:spcPct val="140000"/>
              </a:lnSpc>
            </a:pPr>
            <a:r>
              <a:rPr sz="1050" b="0">
                <a:solidFill>
                  <a:srgbClr val="36454F"/>
                </a:solidFill>
                <a:latin typeface="Yu Gothic UI"/>
              </a:rPr>
              <a:t>技師・助手の人工日数を集計し、設定された単価で計算します。</a:t>
            </a:r>
          </a:p>
          <a:p>
            <a:pPr algn="l">
              <a:lnSpc>
                <a:spcPct val="140000"/>
              </a:lnSpc>
            </a:pPr>
            <a:r>
              <a:rPr sz="1050" b="0">
                <a:solidFill>
                  <a:srgbClr val="36454F"/>
                </a:solidFill>
                <a:latin typeface="Yu Gothic UI"/>
              </a:rPr>
              <a:t>（単価 × 人工日数）</a:t>
            </a:r>
          </a:p>
        </p:txBody>
      </p:sp>
      <p:sp>
        <p:nvSpPr>
          <p:cNvPr id="10" name="Rounded Rectangle 9"/>
          <p:cNvSpPr/>
          <p:nvPr/>
        </p:nvSpPr>
        <p:spPr>
          <a:xfrm>
            <a:off x="4709160" y="1280160"/>
            <a:ext cx="4114800" cy="160020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709160" y="1280160"/>
            <a:ext cx="73152" cy="160020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937760" y="1399032"/>
            <a:ext cx="3749040" cy="365760"/>
          </a:xfrm>
          <a:prstGeom prst="rect">
            <a:avLst/>
          </a:prstGeom>
          <a:noFill/>
        </p:spPr>
        <p:txBody>
          <a:bodyPr wrap="square" lIns="45720" tIns="18288" rIns="45720" bIns="18288" anchor="t">
            <a:spAutoFit/>
          </a:bodyPr>
          <a:lstStyle/>
          <a:p>
            <a:pPr algn="l">
              <a:lnSpc>
                <a:spcPct val="115000"/>
              </a:lnSpc>
            </a:pPr>
            <a:r>
              <a:rPr sz="1400" b="1">
                <a:solidFill>
                  <a:srgbClr val="3457D5"/>
                </a:solidFill>
                <a:latin typeface="Yu Gothic UI"/>
              </a:rPr>
              <a:t>🚗 交通費</a:t>
            </a:r>
          </a:p>
        </p:txBody>
      </p:sp>
      <p:sp>
        <p:nvSpPr>
          <p:cNvPr id="13" name="TextBox 12"/>
          <p:cNvSpPr txBox="1"/>
          <p:nvPr/>
        </p:nvSpPr>
        <p:spPr>
          <a:xfrm>
            <a:off x="4937760" y="1783080"/>
            <a:ext cx="3749040" cy="960120"/>
          </a:xfrm>
          <a:prstGeom prst="rect">
            <a:avLst/>
          </a:prstGeom>
          <a:noFill/>
        </p:spPr>
        <p:txBody>
          <a:bodyPr wrap="square" lIns="45720" tIns="18288" rIns="45720" bIns="18288" anchor="t">
            <a:spAutoFit/>
          </a:bodyPr>
          <a:lstStyle/>
          <a:p>
            <a:pPr algn="l">
              <a:lnSpc>
                <a:spcPct val="140000"/>
              </a:lnSpc>
            </a:pPr>
            <a:r>
              <a:rPr sz="1050" b="0">
                <a:solidFill>
                  <a:srgbClr val="36454F"/>
                </a:solidFill>
                <a:latin typeface="Yu Gothic UI"/>
              </a:rPr>
              <a:t>走行距離をもとに計算します。</a:t>
            </a:r>
          </a:p>
          <a:p>
            <a:pPr algn="l">
              <a:lnSpc>
                <a:spcPct val="140000"/>
              </a:lnSpc>
            </a:pPr>
            <a:r>
              <a:rPr sz="1050" b="0">
                <a:solidFill>
                  <a:srgbClr val="36454F"/>
                </a:solidFill>
                <a:latin typeface="Yu Gothic UI"/>
              </a:rPr>
              <a:t>（距離 × 2 × 単価）</a:t>
            </a:r>
          </a:p>
          <a:p>
            <a:pPr algn="l">
              <a:lnSpc>
                <a:spcPct val="140000"/>
              </a:lnSpc>
            </a:pPr>
            <a:r>
              <a:rPr sz="1050" b="0">
                <a:solidFill>
                  <a:srgbClr val="36454F"/>
                </a:solidFill>
                <a:latin typeface="Yu Gothic UI"/>
              </a:rPr>
              <a:t>往復250kmを超える場合は下道単価を適用します。</a:t>
            </a:r>
          </a:p>
        </p:txBody>
      </p:sp>
      <p:sp>
        <p:nvSpPr>
          <p:cNvPr id="14" name="Rounded Rectangle 13"/>
          <p:cNvSpPr/>
          <p:nvPr/>
        </p:nvSpPr>
        <p:spPr>
          <a:xfrm>
            <a:off x="457200" y="2999232"/>
            <a:ext cx="4114800" cy="160020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2999232"/>
            <a:ext cx="73152" cy="160020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118104"/>
            <a:ext cx="3749040" cy="365760"/>
          </a:xfrm>
          <a:prstGeom prst="rect">
            <a:avLst/>
          </a:prstGeom>
          <a:noFill/>
        </p:spPr>
        <p:txBody>
          <a:bodyPr wrap="square" lIns="45720" tIns="18288" rIns="45720" bIns="18288" anchor="t">
            <a:spAutoFit/>
          </a:bodyPr>
          <a:lstStyle/>
          <a:p>
            <a:pPr algn="l">
              <a:lnSpc>
                <a:spcPct val="115000"/>
              </a:lnSpc>
            </a:pPr>
            <a:r>
              <a:rPr sz="1400" b="1">
                <a:solidFill>
                  <a:srgbClr val="3457D5"/>
                </a:solidFill>
                <a:latin typeface="Yu Gothic UI"/>
              </a:rPr>
              <a:t>🛠️ 損料</a:t>
            </a:r>
          </a:p>
        </p:txBody>
      </p:sp>
      <p:sp>
        <p:nvSpPr>
          <p:cNvPr id="17" name="TextBox 16"/>
          <p:cNvSpPr txBox="1"/>
          <p:nvPr/>
        </p:nvSpPr>
        <p:spPr>
          <a:xfrm>
            <a:off x="685800" y="3502152"/>
            <a:ext cx="3749040" cy="960120"/>
          </a:xfrm>
          <a:prstGeom prst="rect">
            <a:avLst/>
          </a:prstGeom>
          <a:noFill/>
        </p:spPr>
        <p:txBody>
          <a:bodyPr wrap="square" lIns="45720" tIns="18288" rIns="45720" bIns="18288" anchor="t">
            <a:spAutoFit/>
          </a:bodyPr>
          <a:lstStyle/>
          <a:p>
            <a:pPr algn="l">
              <a:lnSpc>
                <a:spcPct val="140000"/>
              </a:lnSpc>
            </a:pPr>
            <a:r>
              <a:rPr sz="1050" b="0">
                <a:solidFill>
                  <a:srgbClr val="36454F"/>
                </a:solidFill>
                <a:latin typeface="Yu Gothic UI"/>
              </a:rPr>
              <a:t>1日の使用時間が6時間以上の機材のみ計上されます。</a:t>
            </a:r>
          </a:p>
          <a:p>
            <a:pPr algn="l">
              <a:lnSpc>
                <a:spcPct val="140000"/>
              </a:lnSpc>
            </a:pPr>
            <a:r>
              <a:rPr sz="1050" b="0">
                <a:solidFill>
                  <a:srgbClr val="36454F"/>
                </a:solidFill>
                <a:latin typeface="Yu Gothic UI"/>
              </a:rPr>
              <a:t>旧形式の日報の場合は機材マスタの日額を参照します。</a:t>
            </a:r>
          </a:p>
        </p:txBody>
      </p:sp>
      <p:sp>
        <p:nvSpPr>
          <p:cNvPr id="18" name="Rounded Rectangle 17"/>
          <p:cNvSpPr/>
          <p:nvPr/>
        </p:nvSpPr>
        <p:spPr>
          <a:xfrm>
            <a:off x="4709160" y="2999232"/>
            <a:ext cx="4114800" cy="160020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709160" y="2999232"/>
            <a:ext cx="73152" cy="160020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937760" y="3118104"/>
            <a:ext cx="3749040" cy="365760"/>
          </a:xfrm>
          <a:prstGeom prst="rect">
            <a:avLst/>
          </a:prstGeom>
          <a:noFill/>
        </p:spPr>
        <p:txBody>
          <a:bodyPr wrap="square" lIns="45720" tIns="18288" rIns="45720" bIns="18288" anchor="t">
            <a:spAutoFit/>
          </a:bodyPr>
          <a:lstStyle/>
          <a:p>
            <a:pPr algn="l">
              <a:lnSpc>
                <a:spcPct val="115000"/>
              </a:lnSpc>
            </a:pPr>
            <a:r>
              <a:rPr sz="1400" b="1">
                <a:solidFill>
                  <a:srgbClr val="3457D5"/>
                </a:solidFill>
                <a:latin typeface="Yu Gothic UI"/>
              </a:rPr>
              <a:t>📅 月度</a:t>
            </a:r>
          </a:p>
        </p:txBody>
      </p:sp>
      <p:sp>
        <p:nvSpPr>
          <p:cNvPr id="21" name="TextBox 20"/>
          <p:cNvSpPr txBox="1"/>
          <p:nvPr/>
        </p:nvSpPr>
        <p:spPr>
          <a:xfrm>
            <a:off x="4937760" y="3502152"/>
            <a:ext cx="3749040" cy="960120"/>
          </a:xfrm>
          <a:prstGeom prst="rect">
            <a:avLst/>
          </a:prstGeom>
          <a:noFill/>
        </p:spPr>
        <p:txBody>
          <a:bodyPr wrap="square" lIns="45720" tIns="18288" rIns="45720" bIns="18288" anchor="t">
            <a:spAutoFit/>
          </a:bodyPr>
          <a:lstStyle/>
          <a:p>
            <a:pPr algn="l">
              <a:lnSpc>
                <a:spcPct val="140000"/>
              </a:lnSpc>
            </a:pPr>
            <a:r>
              <a:rPr sz="1050" b="0">
                <a:solidFill>
                  <a:srgbClr val="36454F"/>
                </a:solidFill>
                <a:latin typeface="Yu Gothic UI"/>
              </a:rPr>
              <a:t>毎月1日から月末までを「月度」として集計します。</a:t>
            </a:r>
          </a:p>
          <a:p>
            <a:pPr algn="l">
              <a:lnSpc>
                <a:spcPct val="140000"/>
              </a:lnSpc>
            </a:pPr>
            <a:r>
              <a:rPr sz="1050" b="0">
                <a:solidFill>
                  <a:srgbClr val="36454F"/>
                </a:solidFill>
                <a:latin typeface="Yu Gothic UI"/>
              </a:rPr>
              <a:t>月度をまたぐ作業は自動的に分けて計算されます。</a:t>
            </a:r>
          </a:p>
        </p:txBody>
      </p:sp>
      <p:sp>
        <p:nvSpPr>
          <p:cNvPr id="22" name="TextBox 21"/>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23" name="TextBox 22"/>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19 / 53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04</a:t>
            </a:r>
            <a:r>
              <a:rPr sz="2000" b="0">
                <a:solidFill>
                  <a:srgbClr val="3457D5"/>
                </a:solidFill>
                <a:latin typeface="Yu Gothic UI"/>
              </a:rPr>
              <a:t>　</a:t>
            </a:r>
            <a:r>
              <a:rPr sz="2000" b="1">
                <a:solidFill>
                  <a:srgbClr val="36454F"/>
                </a:solidFill>
                <a:latin typeface="Yu Gothic UI"/>
              </a:rPr>
              <a:t>原価集計の見方</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DataGrid の見方を説明します。年度・月度ごとに自動でまとまって表示されます。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8321040" cy="2651760"/>
          </a:xfrm>
          <a:prstGeom prst="roundRect">
            <a:avLst>
              <a:gd name="adj" fmla="val 2000"/>
            </a:avLst>
          </a:prstGeom>
          <a:solidFill>
            <a:srgbClr val="FFFFFF"/>
          </a:solidFill>
          <a:ln w="9525">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8321040" cy="29260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280160"/>
            <a:ext cx="7955280" cy="292608"/>
          </a:xfrm>
          <a:prstGeom prst="rect">
            <a:avLst/>
          </a:prstGeom>
          <a:noFill/>
        </p:spPr>
        <p:txBody>
          <a:bodyPr wrap="square" lIns="45720" tIns="18288" rIns="45720" bIns="18288" anchor="ctr">
            <a:spAutoFit/>
          </a:bodyPr>
          <a:lstStyle/>
          <a:p>
            <a:pPr algn="l">
              <a:lnSpc>
                <a:spcPct val="115000"/>
              </a:lnSpc>
            </a:pPr>
            <a:r>
              <a:rPr sz="1100" b="1">
                <a:solidFill>
                  <a:srgbClr val="FFFFFF"/>
                </a:solidFill>
                <a:latin typeface="Yu Gothic UI"/>
              </a:rPr>
              <a:t>▼ 2026年度</a:t>
            </a:r>
          </a:p>
        </p:txBody>
      </p:sp>
      <p:sp>
        <p:nvSpPr>
          <p:cNvPr id="9" name="Rectangle 8"/>
          <p:cNvSpPr/>
          <p:nvPr/>
        </p:nvSpPr>
        <p:spPr>
          <a:xfrm>
            <a:off x="457200" y="1572768"/>
            <a:ext cx="8321040" cy="256032"/>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1572768"/>
            <a:ext cx="7955280" cy="256032"/>
          </a:xfrm>
          <a:prstGeom prst="rect">
            <a:avLst/>
          </a:prstGeom>
          <a:noFill/>
        </p:spPr>
        <p:txBody>
          <a:bodyPr wrap="square" lIns="45720" tIns="18288" rIns="45720" bIns="18288" anchor="ctr">
            <a:spAutoFit/>
          </a:bodyPr>
          <a:lstStyle/>
          <a:p>
            <a:pPr algn="l">
              <a:lnSpc>
                <a:spcPct val="115000"/>
              </a:lnSpc>
            </a:pPr>
            <a:r>
              <a:rPr sz="1000" b="1">
                <a:solidFill>
                  <a:srgbClr val="FFFFFF"/>
                </a:solidFill>
                <a:latin typeface="Yu Gothic UI"/>
              </a:rPr>
              <a:t>　▼ 2026年4月度</a:t>
            </a:r>
          </a:p>
        </p:txBody>
      </p:sp>
      <p:sp>
        <p:nvSpPr>
          <p:cNvPr id="11" name="Rectangle 10"/>
          <p:cNvSpPr/>
          <p:nvPr/>
        </p:nvSpPr>
        <p:spPr>
          <a:xfrm>
            <a:off x="457200" y="1828800"/>
            <a:ext cx="8321040" cy="256032"/>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1828800"/>
            <a:ext cx="914400" cy="256032"/>
          </a:xfrm>
          <a:prstGeom prst="rect">
            <a:avLst/>
          </a:prstGeom>
          <a:noFill/>
        </p:spPr>
        <p:txBody>
          <a:bodyPr wrap="square" lIns="45720" tIns="18288" rIns="45720" bIns="18288" anchor="ctr">
            <a:spAutoFit/>
          </a:bodyPr>
          <a:lstStyle/>
          <a:p>
            <a:pPr algn="ctr">
              <a:lnSpc>
                <a:spcPct val="115000"/>
              </a:lnSpc>
            </a:pPr>
            <a:r>
              <a:rPr sz="950" b="1">
                <a:solidFill>
                  <a:srgbClr val="3457D5"/>
                </a:solidFill>
                <a:latin typeface="Yu Gothic UI"/>
              </a:rPr>
              <a:t>日付</a:t>
            </a:r>
          </a:p>
        </p:txBody>
      </p:sp>
      <p:sp>
        <p:nvSpPr>
          <p:cNvPr id="13" name="TextBox 12"/>
          <p:cNvSpPr txBox="1"/>
          <p:nvPr/>
        </p:nvSpPr>
        <p:spPr>
          <a:xfrm>
            <a:off x="1920240" y="1828800"/>
            <a:ext cx="1280160" cy="256032"/>
          </a:xfrm>
          <a:prstGeom prst="rect">
            <a:avLst/>
          </a:prstGeom>
          <a:noFill/>
        </p:spPr>
        <p:txBody>
          <a:bodyPr wrap="square" lIns="45720" tIns="18288" rIns="45720" bIns="18288" anchor="ctr">
            <a:spAutoFit/>
          </a:bodyPr>
          <a:lstStyle/>
          <a:p>
            <a:pPr algn="ctr">
              <a:lnSpc>
                <a:spcPct val="115000"/>
              </a:lnSpc>
            </a:pPr>
            <a:r>
              <a:rPr sz="950" b="1">
                <a:solidFill>
                  <a:srgbClr val="3457D5"/>
                </a:solidFill>
                <a:latin typeface="Yu Gothic UI"/>
              </a:rPr>
              <a:t>氏名</a:t>
            </a:r>
          </a:p>
        </p:txBody>
      </p:sp>
      <p:sp>
        <p:nvSpPr>
          <p:cNvPr id="14" name="TextBox 13"/>
          <p:cNvSpPr txBox="1"/>
          <p:nvPr/>
        </p:nvSpPr>
        <p:spPr>
          <a:xfrm>
            <a:off x="3200400" y="1828800"/>
            <a:ext cx="2286000" cy="256032"/>
          </a:xfrm>
          <a:prstGeom prst="rect">
            <a:avLst/>
          </a:prstGeom>
          <a:noFill/>
        </p:spPr>
        <p:txBody>
          <a:bodyPr wrap="square" lIns="45720" tIns="18288" rIns="45720" bIns="18288" anchor="ctr">
            <a:spAutoFit/>
          </a:bodyPr>
          <a:lstStyle/>
          <a:p>
            <a:pPr algn="ctr">
              <a:lnSpc>
                <a:spcPct val="115000"/>
              </a:lnSpc>
            </a:pPr>
            <a:r>
              <a:rPr sz="950" b="1">
                <a:solidFill>
                  <a:srgbClr val="3457D5"/>
                </a:solidFill>
                <a:latin typeface="Yu Gothic UI"/>
              </a:rPr>
              <a:t>作業内容</a:t>
            </a:r>
          </a:p>
        </p:txBody>
      </p:sp>
      <p:sp>
        <p:nvSpPr>
          <p:cNvPr id="15" name="TextBox 14"/>
          <p:cNvSpPr txBox="1"/>
          <p:nvPr/>
        </p:nvSpPr>
        <p:spPr>
          <a:xfrm>
            <a:off x="5486400" y="1828800"/>
            <a:ext cx="1097280" cy="256032"/>
          </a:xfrm>
          <a:prstGeom prst="rect">
            <a:avLst/>
          </a:prstGeom>
          <a:noFill/>
        </p:spPr>
        <p:txBody>
          <a:bodyPr wrap="square" lIns="45720" tIns="18288" rIns="45720" bIns="18288" anchor="ctr">
            <a:spAutoFit/>
          </a:bodyPr>
          <a:lstStyle/>
          <a:p>
            <a:pPr algn="ctr">
              <a:lnSpc>
                <a:spcPct val="115000"/>
              </a:lnSpc>
            </a:pPr>
            <a:r>
              <a:rPr sz="950" b="1">
                <a:solidFill>
                  <a:srgbClr val="3457D5"/>
                </a:solidFill>
                <a:latin typeface="Yu Gothic UI"/>
              </a:rPr>
              <a:t>人件費</a:t>
            </a:r>
          </a:p>
        </p:txBody>
      </p:sp>
      <p:sp>
        <p:nvSpPr>
          <p:cNvPr id="16" name="TextBox 15"/>
          <p:cNvSpPr txBox="1"/>
          <p:nvPr/>
        </p:nvSpPr>
        <p:spPr>
          <a:xfrm>
            <a:off x="6583680" y="1828800"/>
            <a:ext cx="1097280" cy="256032"/>
          </a:xfrm>
          <a:prstGeom prst="rect">
            <a:avLst/>
          </a:prstGeom>
          <a:noFill/>
        </p:spPr>
        <p:txBody>
          <a:bodyPr wrap="square" lIns="45720" tIns="18288" rIns="45720" bIns="18288" anchor="ctr">
            <a:spAutoFit/>
          </a:bodyPr>
          <a:lstStyle/>
          <a:p>
            <a:pPr algn="ctr">
              <a:lnSpc>
                <a:spcPct val="115000"/>
              </a:lnSpc>
            </a:pPr>
            <a:r>
              <a:rPr sz="950" b="1">
                <a:solidFill>
                  <a:srgbClr val="3457D5"/>
                </a:solidFill>
                <a:latin typeface="Yu Gothic UI"/>
              </a:rPr>
              <a:t>交通費</a:t>
            </a:r>
          </a:p>
        </p:txBody>
      </p:sp>
      <p:sp>
        <p:nvSpPr>
          <p:cNvPr id="17" name="TextBox 16"/>
          <p:cNvSpPr txBox="1"/>
          <p:nvPr/>
        </p:nvSpPr>
        <p:spPr>
          <a:xfrm>
            <a:off x="7680960" y="1828800"/>
            <a:ext cx="1097280" cy="256032"/>
          </a:xfrm>
          <a:prstGeom prst="rect">
            <a:avLst/>
          </a:prstGeom>
          <a:noFill/>
        </p:spPr>
        <p:txBody>
          <a:bodyPr wrap="square" lIns="45720" tIns="18288" rIns="45720" bIns="18288" anchor="ctr">
            <a:spAutoFit/>
          </a:bodyPr>
          <a:lstStyle/>
          <a:p>
            <a:pPr algn="ctr">
              <a:lnSpc>
                <a:spcPct val="115000"/>
              </a:lnSpc>
            </a:pPr>
            <a:r>
              <a:rPr sz="950" b="1">
                <a:solidFill>
                  <a:srgbClr val="3457D5"/>
                </a:solidFill>
                <a:latin typeface="Yu Gothic UI"/>
              </a:rPr>
              <a:t>損料</a:t>
            </a:r>
          </a:p>
        </p:txBody>
      </p:sp>
      <p:sp>
        <p:nvSpPr>
          <p:cNvPr id="18" name="Rectangle 17"/>
          <p:cNvSpPr/>
          <p:nvPr/>
        </p:nvSpPr>
        <p:spPr>
          <a:xfrm>
            <a:off x="457200" y="2084832"/>
            <a:ext cx="832104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05840" y="2084832"/>
            <a:ext cx="914400" cy="292608"/>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4月3日</a:t>
            </a:r>
          </a:p>
        </p:txBody>
      </p:sp>
      <p:sp>
        <p:nvSpPr>
          <p:cNvPr id="20" name="TextBox 19"/>
          <p:cNvSpPr txBox="1"/>
          <p:nvPr/>
        </p:nvSpPr>
        <p:spPr>
          <a:xfrm>
            <a:off x="1920240" y="2084832"/>
            <a:ext cx="1280160" cy="292608"/>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仲 良智</a:t>
            </a:r>
          </a:p>
        </p:txBody>
      </p:sp>
      <p:sp>
        <p:nvSpPr>
          <p:cNvPr id="21" name="TextBox 20"/>
          <p:cNvSpPr txBox="1"/>
          <p:nvPr/>
        </p:nvSpPr>
        <p:spPr>
          <a:xfrm>
            <a:off x="3200400" y="2084832"/>
            <a:ext cx="2286000" cy="292608"/>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測量作業</a:t>
            </a:r>
          </a:p>
        </p:txBody>
      </p:sp>
      <p:sp>
        <p:nvSpPr>
          <p:cNvPr id="22" name="TextBox 21"/>
          <p:cNvSpPr txBox="1"/>
          <p:nvPr/>
        </p:nvSpPr>
        <p:spPr>
          <a:xfrm>
            <a:off x="5303520" y="2084832"/>
            <a:ext cx="1280160" cy="292608"/>
          </a:xfrm>
          <a:prstGeom prst="rect">
            <a:avLst/>
          </a:prstGeom>
          <a:noFill/>
        </p:spPr>
        <p:txBody>
          <a:bodyPr wrap="square" lIns="45720" tIns="18288" rIns="45720" bIns="18288" anchor="ctr">
            <a:spAutoFit/>
          </a:bodyPr>
          <a:lstStyle/>
          <a:p>
            <a:pPr algn="r">
              <a:lnSpc>
                <a:spcPct val="115000"/>
              </a:lnSpc>
            </a:pPr>
            <a:r>
              <a:rPr sz="950" b="0">
                <a:solidFill>
                  <a:srgbClr val="36454F"/>
                </a:solidFill>
                <a:latin typeface="Yu Gothic UI"/>
              </a:rPr>
              <a:t>34,800</a:t>
            </a:r>
          </a:p>
        </p:txBody>
      </p:sp>
      <p:sp>
        <p:nvSpPr>
          <p:cNvPr id="23" name="TextBox 22"/>
          <p:cNvSpPr txBox="1"/>
          <p:nvPr/>
        </p:nvSpPr>
        <p:spPr>
          <a:xfrm>
            <a:off x="6400800" y="2084832"/>
            <a:ext cx="1280160" cy="292608"/>
          </a:xfrm>
          <a:prstGeom prst="rect">
            <a:avLst/>
          </a:prstGeom>
          <a:noFill/>
        </p:spPr>
        <p:txBody>
          <a:bodyPr wrap="square" lIns="45720" tIns="18288" rIns="45720" bIns="18288" anchor="ctr">
            <a:spAutoFit/>
          </a:bodyPr>
          <a:lstStyle/>
          <a:p>
            <a:pPr algn="r">
              <a:lnSpc>
                <a:spcPct val="115000"/>
              </a:lnSpc>
            </a:pPr>
            <a:r>
              <a:rPr sz="950" b="0">
                <a:solidFill>
                  <a:srgbClr val="36454F"/>
                </a:solidFill>
                <a:latin typeface="Yu Gothic UI"/>
              </a:rPr>
              <a:t>1,250</a:t>
            </a:r>
          </a:p>
        </p:txBody>
      </p:sp>
      <p:sp>
        <p:nvSpPr>
          <p:cNvPr id="24" name="TextBox 23"/>
          <p:cNvSpPr txBox="1"/>
          <p:nvPr/>
        </p:nvSpPr>
        <p:spPr>
          <a:xfrm>
            <a:off x="7498080" y="2084832"/>
            <a:ext cx="1280160" cy="292608"/>
          </a:xfrm>
          <a:prstGeom prst="rect">
            <a:avLst/>
          </a:prstGeom>
          <a:noFill/>
        </p:spPr>
        <p:txBody>
          <a:bodyPr wrap="square" lIns="45720" tIns="18288" rIns="45720" bIns="18288" anchor="ctr">
            <a:spAutoFit/>
          </a:bodyPr>
          <a:lstStyle/>
          <a:p>
            <a:pPr algn="r">
              <a:lnSpc>
                <a:spcPct val="115000"/>
              </a:lnSpc>
            </a:pPr>
            <a:r>
              <a:rPr sz="950" b="0">
                <a:solidFill>
                  <a:srgbClr val="36454F"/>
                </a:solidFill>
                <a:latin typeface="Yu Gothic UI"/>
              </a:rPr>
              <a:t>0</a:t>
            </a:r>
          </a:p>
        </p:txBody>
      </p:sp>
      <p:sp>
        <p:nvSpPr>
          <p:cNvPr id="25" name="Rectangle 24"/>
          <p:cNvSpPr/>
          <p:nvPr/>
        </p:nvSpPr>
        <p:spPr>
          <a:xfrm>
            <a:off x="457200" y="2377440"/>
            <a:ext cx="8321040" cy="29260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05840" y="2377440"/>
            <a:ext cx="914400" cy="292608"/>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4月3日</a:t>
            </a:r>
          </a:p>
        </p:txBody>
      </p:sp>
      <p:sp>
        <p:nvSpPr>
          <p:cNvPr id="27" name="TextBox 26"/>
          <p:cNvSpPr txBox="1"/>
          <p:nvPr/>
        </p:nvSpPr>
        <p:spPr>
          <a:xfrm>
            <a:off x="1920240" y="2428429"/>
            <a:ext cx="1280160" cy="190630"/>
          </a:xfrm>
          <a:prstGeom prst="rect">
            <a:avLst/>
          </a:prstGeom>
          <a:noFill/>
        </p:spPr>
        <p:txBody>
          <a:bodyPr wrap="square" lIns="45720" tIns="18288" rIns="45720" bIns="18288" anchor="ctr">
            <a:spAutoFit/>
          </a:bodyPr>
          <a:lstStyle/>
          <a:p>
            <a:pPr algn="l">
              <a:lnSpc>
                <a:spcPct val="115000"/>
              </a:lnSpc>
            </a:pPr>
            <a:r>
              <a:rPr lang="en-US" sz="950" dirty="0">
                <a:solidFill>
                  <a:srgbClr val="36454F"/>
                </a:solidFill>
                <a:latin typeface="Yu Gothic UI"/>
              </a:rPr>
              <a:t>A</a:t>
            </a:r>
            <a:endParaRPr sz="950" b="0" dirty="0">
              <a:solidFill>
                <a:srgbClr val="36454F"/>
              </a:solidFill>
              <a:latin typeface="Yu Gothic UI"/>
            </a:endParaRPr>
          </a:p>
        </p:txBody>
      </p:sp>
      <p:sp>
        <p:nvSpPr>
          <p:cNvPr id="28" name="TextBox 27"/>
          <p:cNvSpPr txBox="1"/>
          <p:nvPr/>
        </p:nvSpPr>
        <p:spPr>
          <a:xfrm>
            <a:off x="3200400" y="2377440"/>
            <a:ext cx="2286000" cy="292608"/>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データ整理</a:t>
            </a:r>
          </a:p>
        </p:txBody>
      </p:sp>
      <p:sp>
        <p:nvSpPr>
          <p:cNvPr id="29" name="TextBox 28"/>
          <p:cNvSpPr txBox="1"/>
          <p:nvPr/>
        </p:nvSpPr>
        <p:spPr>
          <a:xfrm>
            <a:off x="5303520" y="2377440"/>
            <a:ext cx="1280160" cy="292608"/>
          </a:xfrm>
          <a:prstGeom prst="rect">
            <a:avLst/>
          </a:prstGeom>
          <a:noFill/>
        </p:spPr>
        <p:txBody>
          <a:bodyPr wrap="square" lIns="45720" tIns="18288" rIns="45720" bIns="18288" anchor="ctr">
            <a:spAutoFit/>
          </a:bodyPr>
          <a:lstStyle/>
          <a:p>
            <a:pPr algn="r">
              <a:lnSpc>
                <a:spcPct val="115000"/>
              </a:lnSpc>
            </a:pPr>
            <a:r>
              <a:rPr sz="950" b="0">
                <a:solidFill>
                  <a:srgbClr val="36454F"/>
                </a:solidFill>
                <a:latin typeface="Yu Gothic UI"/>
              </a:rPr>
              <a:t>28,000</a:t>
            </a:r>
          </a:p>
        </p:txBody>
      </p:sp>
      <p:sp>
        <p:nvSpPr>
          <p:cNvPr id="30" name="TextBox 29"/>
          <p:cNvSpPr txBox="1"/>
          <p:nvPr/>
        </p:nvSpPr>
        <p:spPr>
          <a:xfrm>
            <a:off x="6400800" y="2377440"/>
            <a:ext cx="1280160" cy="292608"/>
          </a:xfrm>
          <a:prstGeom prst="rect">
            <a:avLst/>
          </a:prstGeom>
          <a:noFill/>
        </p:spPr>
        <p:txBody>
          <a:bodyPr wrap="square" lIns="45720" tIns="18288" rIns="45720" bIns="18288" anchor="ctr">
            <a:spAutoFit/>
          </a:bodyPr>
          <a:lstStyle/>
          <a:p>
            <a:pPr algn="r">
              <a:lnSpc>
                <a:spcPct val="115000"/>
              </a:lnSpc>
            </a:pPr>
            <a:r>
              <a:rPr sz="950" b="0">
                <a:solidFill>
                  <a:srgbClr val="36454F"/>
                </a:solidFill>
                <a:latin typeface="Yu Gothic UI"/>
              </a:rPr>
              <a:t>0</a:t>
            </a:r>
          </a:p>
        </p:txBody>
      </p:sp>
      <p:sp>
        <p:nvSpPr>
          <p:cNvPr id="31" name="TextBox 30"/>
          <p:cNvSpPr txBox="1"/>
          <p:nvPr/>
        </p:nvSpPr>
        <p:spPr>
          <a:xfrm>
            <a:off x="7498080" y="2377440"/>
            <a:ext cx="1280160" cy="292608"/>
          </a:xfrm>
          <a:prstGeom prst="rect">
            <a:avLst/>
          </a:prstGeom>
          <a:noFill/>
        </p:spPr>
        <p:txBody>
          <a:bodyPr wrap="square" lIns="45720" tIns="18288" rIns="45720" bIns="18288" anchor="ctr">
            <a:spAutoFit/>
          </a:bodyPr>
          <a:lstStyle/>
          <a:p>
            <a:pPr algn="r">
              <a:lnSpc>
                <a:spcPct val="115000"/>
              </a:lnSpc>
            </a:pPr>
            <a:r>
              <a:rPr sz="950" b="0">
                <a:solidFill>
                  <a:srgbClr val="36454F"/>
                </a:solidFill>
                <a:latin typeface="Yu Gothic UI"/>
              </a:rPr>
              <a:t>0</a:t>
            </a:r>
          </a:p>
        </p:txBody>
      </p:sp>
      <p:sp>
        <p:nvSpPr>
          <p:cNvPr id="32" name="Rectangle 31"/>
          <p:cNvSpPr/>
          <p:nvPr/>
        </p:nvSpPr>
        <p:spPr>
          <a:xfrm>
            <a:off x="457200" y="2670048"/>
            <a:ext cx="832104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5840" y="2670048"/>
            <a:ext cx="914400" cy="292608"/>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4月10日</a:t>
            </a:r>
          </a:p>
        </p:txBody>
      </p:sp>
      <p:sp>
        <p:nvSpPr>
          <p:cNvPr id="34" name="TextBox 33"/>
          <p:cNvSpPr txBox="1"/>
          <p:nvPr/>
        </p:nvSpPr>
        <p:spPr>
          <a:xfrm>
            <a:off x="1920240" y="2721037"/>
            <a:ext cx="1280160" cy="190630"/>
          </a:xfrm>
          <a:prstGeom prst="rect">
            <a:avLst/>
          </a:prstGeom>
          <a:noFill/>
        </p:spPr>
        <p:txBody>
          <a:bodyPr wrap="square" lIns="45720" tIns="18288" rIns="45720" bIns="18288" anchor="ctr">
            <a:spAutoFit/>
          </a:bodyPr>
          <a:lstStyle/>
          <a:p>
            <a:pPr algn="l">
              <a:lnSpc>
                <a:spcPct val="115000"/>
              </a:lnSpc>
            </a:pPr>
            <a:r>
              <a:rPr lang="en-US" sz="950" dirty="0">
                <a:solidFill>
                  <a:srgbClr val="36454F"/>
                </a:solidFill>
                <a:latin typeface="Yu Gothic UI"/>
              </a:rPr>
              <a:t>B</a:t>
            </a:r>
            <a:endParaRPr sz="950" b="0" dirty="0">
              <a:solidFill>
                <a:srgbClr val="36454F"/>
              </a:solidFill>
              <a:latin typeface="Yu Gothic UI"/>
            </a:endParaRPr>
          </a:p>
        </p:txBody>
      </p:sp>
      <p:sp>
        <p:nvSpPr>
          <p:cNvPr id="35" name="TextBox 34"/>
          <p:cNvSpPr txBox="1"/>
          <p:nvPr/>
        </p:nvSpPr>
        <p:spPr>
          <a:xfrm>
            <a:off x="3200400" y="2670048"/>
            <a:ext cx="2286000" cy="292608"/>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現場立会</a:t>
            </a:r>
          </a:p>
        </p:txBody>
      </p:sp>
      <p:sp>
        <p:nvSpPr>
          <p:cNvPr id="36" name="TextBox 35"/>
          <p:cNvSpPr txBox="1"/>
          <p:nvPr/>
        </p:nvSpPr>
        <p:spPr>
          <a:xfrm>
            <a:off x="5303520" y="2670048"/>
            <a:ext cx="1280160" cy="292608"/>
          </a:xfrm>
          <a:prstGeom prst="rect">
            <a:avLst/>
          </a:prstGeom>
          <a:noFill/>
        </p:spPr>
        <p:txBody>
          <a:bodyPr wrap="square" lIns="45720" tIns="18288" rIns="45720" bIns="18288" anchor="ctr">
            <a:spAutoFit/>
          </a:bodyPr>
          <a:lstStyle/>
          <a:p>
            <a:pPr algn="r">
              <a:lnSpc>
                <a:spcPct val="115000"/>
              </a:lnSpc>
            </a:pPr>
            <a:r>
              <a:rPr sz="950" b="0">
                <a:solidFill>
                  <a:srgbClr val="36454F"/>
                </a:solidFill>
                <a:latin typeface="Yu Gothic UI"/>
              </a:rPr>
              <a:t>34,800</a:t>
            </a:r>
          </a:p>
        </p:txBody>
      </p:sp>
      <p:sp>
        <p:nvSpPr>
          <p:cNvPr id="37" name="TextBox 36"/>
          <p:cNvSpPr txBox="1"/>
          <p:nvPr/>
        </p:nvSpPr>
        <p:spPr>
          <a:xfrm>
            <a:off x="6400800" y="2670048"/>
            <a:ext cx="1280160" cy="292608"/>
          </a:xfrm>
          <a:prstGeom prst="rect">
            <a:avLst/>
          </a:prstGeom>
          <a:noFill/>
        </p:spPr>
        <p:txBody>
          <a:bodyPr wrap="square" lIns="45720" tIns="18288" rIns="45720" bIns="18288" anchor="ctr">
            <a:spAutoFit/>
          </a:bodyPr>
          <a:lstStyle/>
          <a:p>
            <a:pPr algn="r">
              <a:lnSpc>
                <a:spcPct val="115000"/>
              </a:lnSpc>
            </a:pPr>
            <a:r>
              <a:rPr sz="950" b="0">
                <a:solidFill>
                  <a:srgbClr val="36454F"/>
                </a:solidFill>
                <a:latin typeface="Yu Gothic UI"/>
              </a:rPr>
              <a:t>2,800</a:t>
            </a:r>
          </a:p>
        </p:txBody>
      </p:sp>
      <p:sp>
        <p:nvSpPr>
          <p:cNvPr id="38" name="TextBox 37"/>
          <p:cNvSpPr txBox="1"/>
          <p:nvPr/>
        </p:nvSpPr>
        <p:spPr>
          <a:xfrm>
            <a:off x="7498080" y="2670048"/>
            <a:ext cx="1280160" cy="292608"/>
          </a:xfrm>
          <a:prstGeom prst="rect">
            <a:avLst/>
          </a:prstGeom>
          <a:noFill/>
        </p:spPr>
        <p:txBody>
          <a:bodyPr wrap="square" lIns="45720" tIns="18288" rIns="45720" bIns="18288" anchor="ctr">
            <a:spAutoFit/>
          </a:bodyPr>
          <a:lstStyle/>
          <a:p>
            <a:pPr algn="r">
              <a:lnSpc>
                <a:spcPct val="115000"/>
              </a:lnSpc>
            </a:pPr>
            <a:r>
              <a:rPr sz="950" b="0">
                <a:solidFill>
                  <a:srgbClr val="36454F"/>
                </a:solidFill>
                <a:latin typeface="Yu Gothic UI"/>
              </a:rPr>
              <a:t>5,000</a:t>
            </a:r>
          </a:p>
        </p:txBody>
      </p:sp>
      <p:sp>
        <p:nvSpPr>
          <p:cNvPr id="39" name="Rectangle 38"/>
          <p:cNvSpPr/>
          <p:nvPr/>
        </p:nvSpPr>
        <p:spPr>
          <a:xfrm>
            <a:off x="457200" y="2962656"/>
            <a:ext cx="8321040" cy="292608"/>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2960" y="2962656"/>
            <a:ext cx="4114800" cy="292608"/>
          </a:xfrm>
          <a:prstGeom prst="rect">
            <a:avLst/>
          </a:prstGeom>
          <a:noFill/>
        </p:spPr>
        <p:txBody>
          <a:bodyPr wrap="square" lIns="45720" tIns="18288" rIns="45720" bIns="18288" anchor="ctr">
            <a:spAutoFit/>
          </a:bodyPr>
          <a:lstStyle/>
          <a:p>
            <a:pPr algn="l">
              <a:lnSpc>
                <a:spcPct val="115000"/>
              </a:lnSpc>
            </a:pPr>
            <a:r>
              <a:rPr sz="1000" b="1">
                <a:solidFill>
                  <a:srgbClr val="3457D5"/>
                </a:solidFill>
                <a:latin typeface="Yu Gothic UI"/>
              </a:rPr>
              <a:t>　月度小計</a:t>
            </a:r>
          </a:p>
        </p:txBody>
      </p:sp>
      <p:sp>
        <p:nvSpPr>
          <p:cNvPr id="41" name="TextBox 40"/>
          <p:cNvSpPr txBox="1"/>
          <p:nvPr/>
        </p:nvSpPr>
        <p:spPr>
          <a:xfrm>
            <a:off x="5303520" y="2962656"/>
            <a:ext cx="1097280" cy="292608"/>
          </a:xfrm>
          <a:prstGeom prst="rect">
            <a:avLst/>
          </a:prstGeom>
          <a:noFill/>
        </p:spPr>
        <p:txBody>
          <a:bodyPr wrap="square" lIns="45720" tIns="18288" rIns="45720" bIns="18288" anchor="ctr">
            <a:spAutoFit/>
          </a:bodyPr>
          <a:lstStyle/>
          <a:p>
            <a:pPr algn="r">
              <a:lnSpc>
                <a:spcPct val="115000"/>
              </a:lnSpc>
            </a:pPr>
            <a:r>
              <a:rPr sz="1000" b="1">
                <a:solidFill>
                  <a:srgbClr val="3457D5"/>
                </a:solidFill>
                <a:latin typeface="Yu Gothic UI"/>
              </a:rPr>
              <a:t>97,600</a:t>
            </a:r>
          </a:p>
        </p:txBody>
      </p:sp>
      <p:sp>
        <p:nvSpPr>
          <p:cNvPr id="42" name="TextBox 41"/>
          <p:cNvSpPr txBox="1"/>
          <p:nvPr/>
        </p:nvSpPr>
        <p:spPr>
          <a:xfrm>
            <a:off x="6400800" y="2962656"/>
            <a:ext cx="1097280" cy="292608"/>
          </a:xfrm>
          <a:prstGeom prst="rect">
            <a:avLst/>
          </a:prstGeom>
          <a:noFill/>
        </p:spPr>
        <p:txBody>
          <a:bodyPr wrap="square" lIns="45720" tIns="18288" rIns="45720" bIns="18288" anchor="ctr">
            <a:spAutoFit/>
          </a:bodyPr>
          <a:lstStyle/>
          <a:p>
            <a:pPr algn="r">
              <a:lnSpc>
                <a:spcPct val="115000"/>
              </a:lnSpc>
            </a:pPr>
            <a:r>
              <a:rPr sz="1000" b="1">
                <a:solidFill>
                  <a:srgbClr val="3457D5"/>
                </a:solidFill>
                <a:latin typeface="Yu Gothic UI"/>
              </a:rPr>
              <a:t>4,050</a:t>
            </a:r>
          </a:p>
        </p:txBody>
      </p:sp>
      <p:sp>
        <p:nvSpPr>
          <p:cNvPr id="43" name="TextBox 42"/>
          <p:cNvSpPr txBox="1"/>
          <p:nvPr/>
        </p:nvSpPr>
        <p:spPr>
          <a:xfrm>
            <a:off x="7498080" y="2962656"/>
            <a:ext cx="1097280" cy="292608"/>
          </a:xfrm>
          <a:prstGeom prst="rect">
            <a:avLst/>
          </a:prstGeom>
          <a:noFill/>
        </p:spPr>
        <p:txBody>
          <a:bodyPr wrap="square" lIns="45720" tIns="18288" rIns="45720" bIns="18288" anchor="ctr">
            <a:spAutoFit/>
          </a:bodyPr>
          <a:lstStyle/>
          <a:p>
            <a:pPr algn="r">
              <a:lnSpc>
                <a:spcPct val="115000"/>
              </a:lnSpc>
            </a:pPr>
            <a:r>
              <a:rPr sz="1000" b="1">
                <a:solidFill>
                  <a:srgbClr val="3457D5"/>
                </a:solidFill>
                <a:latin typeface="Yu Gothic UI"/>
              </a:rPr>
              <a:t>5,000</a:t>
            </a:r>
          </a:p>
        </p:txBody>
      </p:sp>
      <p:sp>
        <p:nvSpPr>
          <p:cNvPr id="44" name="TextBox 43"/>
          <p:cNvSpPr txBox="1"/>
          <p:nvPr/>
        </p:nvSpPr>
        <p:spPr>
          <a:xfrm>
            <a:off x="457200" y="4069080"/>
            <a:ext cx="8321040" cy="231025"/>
          </a:xfrm>
          <a:prstGeom prst="rect">
            <a:avLst/>
          </a:prstGeom>
          <a:noFill/>
        </p:spPr>
        <p:txBody>
          <a:bodyPr wrap="square" lIns="45720" tIns="18288" rIns="45720" bIns="18288" anchor="t">
            <a:spAutoFit/>
          </a:bodyPr>
          <a:lstStyle/>
          <a:p>
            <a:pPr algn="l">
              <a:lnSpc>
                <a:spcPct val="115000"/>
              </a:lnSpc>
            </a:pPr>
            <a:r>
              <a:rPr lang="ja-JP" altLang="en-US" sz="1200" b="1" dirty="0">
                <a:solidFill>
                  <a:srgbClr val="3457D5"/>
                </a:solidFill>
                <a:latin typeface="Yu Gothic UI"/>
              </a:rPr>
              <a:t>データグリット</a:t>
            </a:r>
            <a:r>
              <a:rPr sz="1200" b="1" dirty="0" err="1">
                <a:solidFill>
                  <a:srgbClr val="3457D5"/>
                </a:solidFill>
                <a:latin typeface="Yu Gothic UI"/>
              </a:rPr>
              <a:t>の構成</a:t>
            </a:r>
            <a:endParaRPr sz="1200" b="1" dirty="0">
              <a:solidFill>
                <a:srgbClr val="3457D5"/>
              </a:solidFill>
              <a:latin typeface="Yu Gothic UI"/>
            </a:endParaRPr>
          </a:p>
        </p:txBody>
      </p:sp>
      <p:sp>
        <p:nvSpPr>
          <p:cNvPr id="45" name="TextBox 44"/>
          <p:cNvSpPr txBox="1"/>
          <p:nvPr/>
        </p:nvSpPr>
        <p:spPr>
          <a:xfrm>
            <a:off x="457200" y="4370832"/>
            <a:ext cx="8321040" cy="502920"/>
          </a:xfrm>
          <a:prstGeom prst="rect">
            <a:avLst/>
          </a:prstGeom>
          <a:noFill/>
        </p:spPr>
        <p:txBody>
          <a:bodyPr wrap="square" lIns="45720" tIns="18288" rIns="45720" bIns="18288" anchor="t">
            <a:spAutoFit/>
          </a:bodyPr>
          <a:lstStyle/>
          <a:p>
            <a:pPr algn="l">
              <a:lnSpc>
                <a:spcPct val="115000"/>
              </a:lnSpc>
            </a:pPr>
            <a:r>
              <a:rPr sz="1000" b="1">
                <a:solidFill>
                  <a:srgbClr val="3457D5"/>
                </a:solidFill>
                <a:latin typeface="Yu Gothic UI"/>
              </a:rPr>
              <a:t>年度ヘッダー</a:t>
            </a:r>
            <a:r>
              <a:rPr sz="1000" b="0">
                <a:solidFill>
                  <a:srgbClr val="36454F"/>
                </a:solidFill>
                <a:latin typeface="Yu Gothic UI"/>
              </a:rPr>
              <a:t>（紺）→ </a:t>
            </a:r>
            <a:r>
              <a:rPr sz="1000" b="1">
                <a:solidFill>
                  <a:srgbClr val="3457D5"/>
                </a:solidFill>
                <a:latin typeface="Yu Gothic UI"/>
              </a:rPr>
              <a:t>月度ヘッダー</a:t>
            </a:r>
            <a:r>
              <a:rPr sz="1000" b="0">
                <a:solidFill>
                  <a:srgbClr val="36454F"/>
                </a:solidFill>
                <a:latin typeface="Yu Gothic UI"/>
              </a:rPr>
              <a:t>（青）→ </a:t>
            </a:r>
            <a:r>
              <a:rPr sz="1000" b="1">
                <a:solidFill>
                  <a:srgbClr val="3457D5"/>
                </a:solidFill>
                <a:latin typeface="Yu Gothic UI"/>
              </a:rPr>
              <a:t>カラムヘッダー</a:t>
            </a:r>
            <a:r>
              <a:rPr sz="1000" b="0">
                <a:solidFill>
                  <a:srgbClr val="36454F"/>
                </a:solidFill>
                <a:latin typeface="Yu Gothic UI"/>
              </a:rPr>
              <a:t>（薄青）→ </a:t>
            </a:r>
            <a:r>
              <a:rPr sz="1000" b="1">
                <a:solidFill>
                  <a:srgbClr val="3457D5"/>
                </a:solidFill>
                <a:latin typeface="Yu Gothic UI"/>
              </a:rPr>
              <a:t>明細行</a:t>
            </a:r>
            <a:r>
              <a:rPr sz="1000" b="0">
                <a:solidFill>
                  <a:srgbClr val="36454F"/>
                </a:solidFill>
                <a:latin typeface="Yu Gothic UI"/>
              </a:rPr>
              <a:t>（白／薄青の交互）→ </a:t>
            </a:r>
            <a:r>
              <a:rPr sz="1000" b="1">
                <a:solidFill>
                  <a:srgbClr val="3457D5"/>
                </a:solidFill>
                <a:latin typeface="Yu Gothic UI"/>
              </a:rPr>
              <a:t>月度小計</a:t>
            </a:r>
            <a:r>
              <a:rPr sz="1000" b="0">
                <a:solidFill>
                  <a:srgbClr val="36454F"/>
                </a:solidFill>
                <a:latin typeface="Yu Gothic UI"/>
              </a:rPr>
              <a:t>（薄青）の順で自動表示されます。</a:t>
            </a:r>
          </a:p>
        </p:txBody>
      </p:sp>
      <p:sp>
        <p:nvSpPr>
          <p:cNvPr id="46" name="TextBox 45"/>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47" name="TextBox 46"/>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20 / 53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04</a:t>
            </a:r>
            <a:r>
              <a:rPr sz="2000" b="0">
                <a:solidFill>
                  <a:srgbClr val="3457D5"/>
                </a:solidFill>
                <a:latin typeface="Yu Gothic UI"/>
              </a:rPr>
              <a:t>　</a:t>
            </a:r>
            <a:r>
              <a:rPr sz="2000" b="1">
                <a:solidFill>
                  <a:srgbClr val="36454F"/>
                </a:solidFill>
                <a:latin typeface="Yu Gothic UI"/>
              </a:rPr>
              <a:t>原価集計の見方</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年度・月度ヘッダーをクリックすると、明細を折りたたんで表示できます。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4069080" cy="2743200"/>
          </a:xfrm>
          <a:prstGeom prst="roundRect">
            <a:avLst>
              <a:gd name="adj" fmla="val 2000"/>
            </a:avLst>
          </a:prstGeom>
          <a:solidFill>
            <a:srgbClr val="FFFFFF"/>
          </a:solidFill>
          <a:ln w="9525">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406908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280160"/>
            <a:ext cx="3794760" cy="292608"/>
          </a:xfrm>
          <a:prstGeom prst="rect">
            <a:avLst/>
          </a:prstGeom>
          <a:noFill/>
        </p:spPr>
        <p:txBody>
          <a:bodyPr wrap="square" lIns="45720" tIns="18288" rIns="45720" bIns="18288" anchor="ctr">
            <a:spAutoFit/>
          </a:bodyPr>
          <a:lstStyle/>
          <a:p>
            <a:pPr algn="l">
              <a:lnSpc>
                <a:spcPct val="115000"/>
              </a:lnSpc>
            </a:pPr>
            <a:r>
              <a:rPr sz="1100" b="1">
                <a:solidFill>
                  <a:srgbClr val="FFFFFF"/>
                </a:solidFill>
                <a:latin typeface="Yu Gothic UI"/>
              </a:rPr>
              <a:t>▼ 開いた状態</a:t>
            </a:r>
          </a:p>
        </p:txBody>
      </p:sp>
      <p:sp>
        <p:nvSpPr>
          <p:cNvPr id="9" name="Rectangle 8"/>
          <p:cNvSpPr/>
          <p:nvPr/>
        </p:nvSpPr>
        <p:spPr>
          <a:xfrm>
            <a:off x="457200" y="1572768"/>
            <a:ext cx="4069080" cy="38404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1572768"/>
            <a:ext cx="3794760" cy="384048"/>
          </a:xfrm>
          <a:prstGeom prst="rect">
            <a:avLst/>
          </a:prstGeom>
          <a:noFill/>
        </p:spPr>
        <p:txBody>
          <a:bodyPr wrap="square" lIns="45720" tIns="18288" rIns="45720" bIns="18288" anchor="ctr">
            <a:spAutoFit/>
          </a:bodyPr>
          <a:lstStyle/>
          <a:p>
            <a:pPr algn="l">
              <a:lnSpc>
                <a:spcPct val="115000"/>
              </a:lnSpc>
            </a:pPr>
            <a:r>
              <a:rPr sz="1000" b="1">
                <a:solidFill>
                  <a:srgbClr val="FFFFFF"/>
                </a:solidFill>
                <a:latin typeface="Yu Gothic UI"/>
              </a:rPr>
              <a:t>▼ 2026年4月度</a:t>
            </a:r>
          </a:p>
        </p:txBody>
      </p:sp>
      <p:sp>
        <p:nvSpPr>
          <p:cNvPr id="11" name="Rectangle 10"/>
          <p:cNvSpPr/>
          <p:nvPr/>
        </p:nvSpPr>
        <p:spPr>
          <a:xfrm>
            <a:off x="457200" y="1956816"/>
            <a:ext cx="406908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1956816"/>
            <a:ext cx="3794760" cy="384048"/>
          </a:xfrm>
          <a:prstGeom prst="rect">
            <a:avLst/>
          </a:prstGeom>
          <a:noFill/>
        </p:spPr>
        <p:txBody>
          <a:bodyPr wrap="square" lIns="45720" tIns="18288" rIns="45720" bIns="18288" anchor="ctr">
            <a:spAutoFit/>
          </a:bodyPr>
          <a:lstStyle/>
          <a:p>
            <a:pPr algn="l">
              <a:lnSpc>
                <a:spcPct val="115000"/>
              </a:lnSpc>
            </a:pPr>
            <a:r>
              <a:rPr sz="1000" b="0">
                <a:solidFill>
                  <a:srgbClr val="36454F"/>
                </a:solidFill>
                <a:latin typeface="Yu Gothic UI"/>
              </a:rPr>
              <a:t>　4/3  仲 良智  測量作業</a:t>
            </a:r>
          </a:p>
        </p:txBody>
      </p:sp>
      <p:sp>
        <p:nvSpPr>
          <p:cNvPr id="13" name="Rectangle 12"/>
          <p:cNvSpPr/>
          <p:nvPr/>
        </p:nvSpPr>
        <p:spPr>
          <a:xfrm>
            <a:off x="457200" y="2340864"/>
            <a:ext cx="4069080" cy="38404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2340864"/>
            <a:ext cx="3794760" cy="384048"/>
          </a:xfrm>
          <a:prstGeom prst="rect">
            <a:avLst/>
          </a:prstGeom>
          <a:noFill/>
        </p:spPr>
        <p:txBody>
          <a:bodyPr wrap="square" lIns="45720" tIns="18288" rIns="45720" bIns="18288" anchor="ctr">
            <a:spAutoFit/>
          </a:bodyPr>
          <a:lstStyle/>
          <a:p>
            <a:pPr algn="l">
              <a:lnSpc>
                <a:spcPct val="115000"/>
              </a:lnSpc>
            </a:pPr>
            <a:r>
              <a:rPr sz="1000" b="0">
                <a:solidFill>
                  <a:srgbClr val="36454F"/>
                </a:solidFill>
                <a:latin typeface="Yu Gothic UI"/>
              </a:rPr>
              <a:t>　4/3  yori  データ整理</a:t>
            </a:r>
          </a:p>
        </p:txBody>
      </p:sp>
      <p:sp>
        <p:nvSpPr>
          <p:cNvPr id="15" name="Rectangle 14"/>
          <p:cNvSpPr/>
          <p:nvPr/>
        </p:nvSpPr>
        <p:spPr>
          <a:xfrm>
            <a:off x="457200" y="2724912"/>
            <a:ext cx="406908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2724912"/>
            <a:ext cx="3794760" cy="384048"/>
          </a:xfrm>
          <a:prstGeom prst="rect">
            <a:avLst/>
          </a:prstGeom>
          <a:noFill/>
        </p:spPr>
        <p:txBody>
          <a:bodyPr wrap="square" lIns="45720" tIns="18288" rIns="45720" bIns="18288" anchor="ctr">
            <a:spAutoFit/>
          </a:bodyPr>
          <a:lstStyle/>
          <a:p>
            <a:pPr algn="l">
              <a:lnSpc>
                <a:spcPct val="115000"/>
              </a:lnSpc>
            </a:pPr>
            <a:r>
              <a:rPr sz="1000" b="0">
                <a:solidFill>
                  <a:srgbClr val="36454F"/>
                </a:solidFill>
                <a:latin typeface="Yu Gothic UI"/>
              </a:rPr>
              <a:t>　4/10 仲 良智 現場立会</a:t>
            </a:r>
          </a:p>
        </p:txBody>
      </p:sp>
      <p:sp>
        <p:nvSpPr>
          <p:cNvPr id="17" name="Rectangle 16"/>
          <p:cNvSpPr/>
          <p:nvPr/>
        </p:nvSpPr>
        <p:spPr>
          <a:xfrm>
            <a:off x="457200" y="3108960"/>
            <a:ext cx="4069080" cy="384048"/>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3108960"/>
            <a:ext cx="3794760" cy="384048"/>
          </a:xfrm>
          <a:prstGeom prst="rect">
            <a:avLst/>
          </a:prstGeom>
          <a:noFill/>
        </p:spPr>
        <p:txBody>
          <a:bodyPr wrap="square" lIns="45720" tIns="18288" rIns="45720" bIns="18288" anchor="ctr">
            <a:spAutoFit/>
          </a:bodyPr>
          <a:lstStyle/>
          <a:p>
            <a:pPr algn="l">
              <a:lnSpc>
                <a:spcPct val="115000"/>
              </a:lnSpc>
            </a:pPr>
            <a:r>
              <a:rPr sz="1000" b="1">
                <a:solidFill>
                  <a:srgbClr val="3457D5"/>
                </a:solidFill>
                <a:latin typeface="Yu Gothic UI"/>
              </a:rPr>
              <a:t>月度小計  ¥97,600</a:t>
            </a:r>
          </a:p>
        </p:txBody>
      </p:sp>
      <p:sp>
        <p:nvSpPr>
          <p:cNvPr id="19" name="Rounded Rectangle 18"/>
          <p:cNvSpPr/>
          <p:nvPr/>
        </p:nvSpPr>
        <p:spPr>
          <a:xfrm>
            <a:off x="4709160" y="1280160"/>
            <a:ext cx="4069080" cy="2743200"/>
          </a:xfrm>
          <a:prstGeom prst="roundRect">
            <a:avLst>
              <a:gd name="adj" fmla="val 2000"/>
            </a:avLst>
          </a:prstGeom>
          <a:solidFill>
            <a:srgbClr val="FFFFFF"/>
          </a:solidFill>
          <a:ln w="9525">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709160" y="1280160"/>
            <a:ext cx="406908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846320" y="1280160"/>
            <a:ext cx="3794760" cy="292608"/>
          </a:xfrm>
          <a:prstGeom prst="rect">
            <a:avLst/>
          </a:prstGeom>
          <a:noFill/>
        </p:spPr>
        <p:txBody>
          <a:bodyPr wrap="square" lIns="45720" tIns="18288" rIns="45720" bIns="18288" anchor="ctr">
            <a:spAutoFit/>
          </a:bodyPr>
          <a:lstStyle/>
          <a:p>
            <a:pPr algn="l">
              <a:lnSpc>
                <a:spcPct val="115000"/>
              </a:lnSpc>
            </a:pPr>
            <a:r>
              <a:rPr sz="1100" b="1">
                <a:solidFill>
                  <a:srgbClr val="FFFFFF"/>
                </a:solidFill>
                <a:latin typeface="Yu Gothic UI"/>
              </a:rPr>
              <a:t>▶ 折りたたんだ状態</a:t>
            </a:r>
          </a:p>
        </p:txBody>
      </p:sp>
      <p:sp>
        <p:nvSpPr>
          <p:cNvPr id="22" name="Rectangle 21"/>
          <p:cNvSpPr/>
          <p:nvPr/>
        </p:nvSpPr>
        <p:spPr>
          <a:xfrm>
            <a:off x="4709160" y="1572768"/>
            <a:ext cx="4069080" cy="45720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846320" y="1572768"/>
            <a:ext cx="3794760" cy="457200"/>
          </a:xfrm>
          <a:prstGeom prst="rect">
            <a:avLst/>
          </a:prstGeom>
          <a:noFill/>
        </p:spPr>
        <p:txBody>
          <a:bodyPr wrap="square" lIns="45720" tIns="18288" rIns="45720" bIns="18288" anchor="ctr">
            <a:spAutoFit/>
          </a:bodyPr>
          <a:lstStyle/>
          <a:p>
            <a:pPr algn="l">
              <a:lnSpc>
                <a:spcPct val="115000"/>
              </a:lnSpc>
            </a:pPr>
            <a:r>
              <a:rPr sz="1050" b="1">
                <a:solidFill>
                  <a:srgbClr val="FFFFFF"/>
                </a:solidFill>
                <a:latin typeface="Yu Gothic UI"/>
              </a:rPr>
              <a:t>▶ 2026年4月度  ¥97,600</a:t>
            </a:r>
          </a:p>
        </p:txBody>
      </p:sp>
      <p:sp>
        <p:nvSpPr>
          <p:cNvPr id="24" name="Rectangle 23"/>
          <p:cNvSpPr/>
          <p:nvPr/>
        </p:nvSpPr>
        <p:spPr>
          <a:xfrm>
            <a:off x="4709160" y="2029968"/>
            <a:ext cx="4069080" cy="45720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846320" y="2029968"/>
            <a:ext cx="3794760" cy="457200"/>
          </a:xfrm>
          <a:prstGeom prst="rect">
            <a:avLst/>
          </a:prstGeom>
          <a:noFill/>
        </p:spPr>
        <p:txBody>
          <a:bodyPr wrap="square" lIns="45720" tIns="18288" rIns="45720" bIns="18288" anchor="ctr">
            <a:spAutoFit/>
          </a:bodyPr>
          <a:lstStyle/>
          <a:p>
            <a:pPr algn="l">
              <a:lnSpc>
                <a:spcPct val="115000"/>
              </a:lnSpc>
            </a:pPr>
            <a:r>
              <a:rPr sz="1050" b="1">
                <a:solidFill>
                  <a:srgbClr val="FFFFFF"/>
                </a:solidFill>
                <a:latin typeface="Yu Gothic UI"/>
              </a:rPr>
              <a:t>▶ 2026年5月度  ¥125,400</a:t>
            </a:r>
          </a:p>
        </p:txBody>
      </p:sp>
      <p:sp>
        <p:nvSpPr>
          <p:cNvPr id="26" name="Rectangle 25"/>
          <p:cNvSpPr/>
          <p:nvPr/>
        </p:nvSpPr>
        <p:spPr>
          <a:xfrm>
            <a:off x="4709160" y="2487168"/>
            <a:ext cx="4069080" cy="45720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46320" y="2487168"/>
            <a:ext cx="3794760" cy="457200"/>
          </a:xfrm>
          <a:prstGeom prst="rect">
            <a:avLst/>
          </a:prstGeom>
          <a:noFill/>
        </p:spPr>
        <p:txBody>
          <a:bodyPr wrap="square" lIns="45720" tIns="18288" rIns="45720" bIns="18288" anchor="ctr">
            <a:spAutoFit/>
          </a:bodyPr>
          <a:lstStyle/>
          <a:p>
            <a:pPr algn="l">
              <a:lnSpc>
                <a:spcPct val="115000"/>
              </a:lnSpc>
            </a:pPr>
            <a:r>
              <a:rPr sz="1050" b="1">
                <a:solidFill>
                  <a:srgbClr val="FFFFFF"/>
                </a:solidFill>
                <a:latin typeface="Yu Gothic UI"/>
              </a:rPr>
              <a:t>▶ 2026年6月度  ¥88,200</a:t>
            </a:r>
          </a:p>
        </p:txBody>
      </p:sp>
      <p:sp>
        <p:nvSpPr>
          <p:cNvPr id="28" name="Rounded Rectangle 27"/>
          <p:cNvSpPr/>
          <p:nvPr/>
        </p:nvSpPr>
        <p:spPr>
          <a:xfrm>
            <a:off x="457200" y="4160520"/>
            <a:ext cx="8321040" cy="45720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 y="4251960"/>
            <a:ext cx="7955280" cy="274320"/>
          </a:xfrm>
          <a:prstGeom prst="rect">
            <a:avLst/>
          </a:prstGeom>
          <a:noFill/>
        </p:spPr>
        <p:txBody>
          <a:bodyPr wrap="square" lIns="45720" tIns="18288" rIns="45720" bIns="18288" anchor="ctr">
            <a:spAutoFit/>
          </a:bodyPr>
          <a:lstStyle/>
          <a:p>
            <a:pPr algn="l">
              <a:lnSpc>
                <a:spcPct val="135000"/>
              </a:lnSpc>
            </a:pPr>
            <a:r>
              <a:rPr sz="1300" b="0">
                <a:solidFill>
                  <a:srgbClr val="E88B3A"/>
                </a:solidFill>
                <a:latin typeface="Yu Gothic UI"/>
              </a:rPr>
              <a:t>💡  </a:t>
            </a:r>
            <a:r>
              <a:rPr sz="1100" b="1">
                <a:solidFill>
                  <a:srgbClr val="3457D5"/>
                </a:solidFill>
                <a:latin typeface="Yu Gothic UI"/>
              </a:rPr>
              <a:t>操作方法：</a:t>
            </a:r>
            <a:r>
              <a:rPr sz="1050" b="0">
                <a:solidFill>
                  <a:srgbClr val="36454F"/>
                </a:solidFill>
                <a:latin typeface="Yu Gothic UI"/>
              </a:rPr>
              <a:t>「▼」マークをクリックで折りたたみ、「▶」マークをクリックで再度展開できます。</a:t>
            </a:r>
          </a:p>
        </p:txBody>
      </p:sp>
      <p:sp>
        <p:nvSpPr>
          <p:cNvPr id="30" name="TextBox 29"/>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31" name="TextBox 30"/>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21 / 53</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04</a:t>
            </a:r>
            <a:r>
              <a:rPr sz="2000" b="0">
                <a:solidFill>
                  <a:srgbClr val="3457D5"/>
                </a:solidFill>
                <a:latin typeface="Yu Gothic UI"/>
              </a:rPr>
              <a:t>　</a:t>
            </a:r>
            <a:r>
              <a:rPr sz="2000" b="1">
                <a:solidFill>
                  <a:srgbClr val="36454F"/>
                </a:solidFill>
                <a:latin typeface="Yu Gothic UI"/>
              </a:rPr>
              <a:t>原価集計の見方</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現場タブはドラッグ＆ドロップで並び替えできます。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1280160"/>
            <a:ext cx="1828800" cy="502920"/>
          </a:xfrm>
          <a:prstGeom prst="rect">
            <a:avLst/>
          </a:prstGeom>
          <a:noFill/>
        </p:spPr>
        <p:txBody>
          <a:bodyPr wrap="square" lIns="45720" tIns="18288" rIns="45720" bIns="18288" anchor="ctr">
            <a:spAutoFit/>
          </a:bodyPr>
          <a:lstStyle/>
          <a:p>
            <a:pPr algn="l">
              <a:lnSpc>
                <a:spcPct val="115000"/>
              </a:lnSpc>
            </a:pPr>
            <a:r>
              <a:rPr sz="1100" b="1">
                <a:solidFill>
                  <a:srgbClr val="36454F"/>
                </a:solidFill>
                <a:latin typeface="Yu Gothic UI"/>
              </a:rPr>
              <a:t>ドラッグ前：</a:t>
            </a:r>
          </a:p>
        </p:txBody>
      </p:sp>
      <p:sp>
        <p:nvSpPr>
          <p:cNvPr id="7" name="Rounded Rectangle 6"/>
          <p:cNvSpPr/>
          <p:nvPr/>
        </p:nvSpPr>
        <p:spPr>
          <a:xfrm>
            <a:off x="2286000" y="1371600"/>
            <a:ext cx="1188720" cy="320040"/>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86000" y="1371600"/>
            <a:ext cx="1188720" cy="320040"/>
          </a:xfrm>
          <a:prstGeom prst="rect">
            <a:avLst/>
          </a:prstGeom>
          <a:noFill/>
        </p:spPr>
        <p:txBody>
          <a:bodyPr wrap="square" lIns="45720" tIns="18288" rIns="45720" bIns="18288" anchor="ctr">
            <a:spAutoFit/>
          </a:bodyPr>
          <a:lstStyle/>
          <a:p>
            <a:pPr algn="ctr">
              <a:lnSpc>
                <a:spcPct val="115000"/>
              </a:lnSpc>
            </a:pPr>
            <a:r>
              <a:rPr sz="950" b="1">
                <a:solidFill>
                  <a:srgbClr val="FFFFFF"/>
                </a:solidFill>
                <a:latin typeface="Yu Gothic UI"/>
              </a:rPr>
              <a:t>第一土木A</a:t>
            </a:r>
          </a:p>
        </p:txBody>
      </p:sp>
      <p:sp>
        <p:nvSpPr>
          <p:cNvPr id="9" name="Rounded Rectangle 8"/>
          <p:cNvSpPr/>
          <p:nvPr/>
        </p:nvSpPr>
        <p:spPr>
          <a:xfrm>
            <a:off x="3566160" y="1371600"/>
            <a:ext cx="1188720" cy="320040"/>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66160" y="1371600"/>
            <a:ext cx="1188720" cy="320040"/>
          </a:xfrm>
          <a:prstGeom prst="rect">
            <a:avLst/>
          </a:prstGeom>
          <a:noFill/>
        </p:spPr>
        <p:txBody>
          <a:bodyPr wrap="square" lIns="45720" tIns="18288" rIns="45720" bIns="18288" anchor="ctr">
            <a:spAutoFit/>
          </a:bodyPr>
          <a:lstStyle/>
          <a:p>
            <a:pPr algn="ctr">
              <a:lnSpc>
                <a:spcPct val="115000"/>
              </a:lnSpc>
            </a:pPr>
            <a:r>
              <a:rPr sz="950" b="1">
                <a:solidFill>
                  <a:srgbClr val="FFFFFF"/>
                </a:solidFill>
                <a:latin typeface="Yu Gothic UI"/>
              </a:rPr>
              <a:t>第一土木B</a:t>
            </a:r>
          </a:p>
        </p:txBody>
      </p:sp>
      <p:sp>
        <p:nvSpPr>
          <p:cNvPr id="11" name="Rounded Rectangle 10"/>
          <p:cNvSpPr/>
          <p:nvPr/>
        </p:nvSpPr>
        <p:spPr>
          <a:xfrm>
            <a:off x="4846320" y="1371600"/>
            <a:ext cx="1188720" cy="320040"/>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46320" y="1371600"/>
            <a:ext cx="1188720" cy="320040"/>
          </a:xfrm>
          <a:prstGeom prst="rect">
            <a:avLst/>
          </a:prstGeom>
          <a:noFill/>
        </p:spPr>
        <p:txBody>
          <a:bodyPr wrap="square" lIns="45720" tIns="18288" rIns="45720" bIns="18288" anchor="ctr">
            <a:spAutoFit/>
          </a:bodyPr>
          <a:lstStyle/>
          <a:p>
            <a:pPr algn="ctr">
              <a:lnSpc>
                <a:spcPct val="115000"/>
              </a:lnSpc>
            </a:pPr>
            <a:r>
              <a:rPr sz="950" b="1">
                <a:solidFill>
                  <a:srgbClr val="FFFFFF"/>
                </a:solidFill>
                <a:latin typeface="Yu Gothic UI"/>
              </a:rPr>
              <a:t>自社案件</a:t>
            </a:r>
          </a:p>
        </p:txBody>
      </p:sp>
      <p:sp>
        <p:nvSpPr>
          <p:cNvPr id="13" name="Rounded Rectangle 12"/>
          <p:cNvSpPr/>
          <p:nvPr/>
        </p:nvSpPr>
        <p:spPr>
          <a:xfrm>
            <a:off x="6126480" y="1371600"/>
            <a:ext cx="1188720" cy="320040"/>
          </a:xfrm>
          <a:prstGeom prst="roundRect">
            <a:avLst>
              <a:gd name="adj" fmla="val 15000"/>
            </a:avLst>
          </a:prstGeom>
          <a:solidFill>
            <a:srgbClr val="7A8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1371600"/>
            <a:ext cx="1188720" cy="320040"/>
          </a:xfrm>
          <a:prstGeom prst="rect">
            <a:avLst/>
          </a:prstGeom>
          <a:noFill/>
        </p:spPr>
        <p:txBody>
          <a:bodyPr wrap="square" lIns="45720" tIns="18288" rIns="45720" bIns="18288" anchor="ctr">
            <a:spAutoFit/>
          </a:bodyPr>
          <a:lstStyle/>
          <a:p>
            <a:pPr algn="ctr">
              <a:lnSpc>
                <a:spcPct val="115000"/>
              </a:lnSpc>
            </a:pPr>
            <a:r>
              <a:rPr sz="950" b="1">
                <a:solidFill>
                  <a:srgbClr val="FFFFFF"/>
                </a:solidFill>
                <a:latin typeface="Yu Gothic UI"/>
              </a:rPr>
              <a:t>セミナー</a:t>
            </a:r>
          </a:p>
        </p:txBody>
      </p:sp>
      <p:sp>
        <p:nvSpPr>
          <p:cNvPr id="15" name="Down Arrow 14"/>
          <p:cNvSpPr/>
          <p:nvPr/>
        </p:nvSpPr>
        <p:spPr>
          <a:xfrm>
            <a:off x="4480560" y="1920240"/>
            <a:ext cx="274320" cy="365760"/>
          </a:xfrm>
          <a:prstGeom prst="downArrow">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2377440"/>
            <a:ext cx="1828800" cy="502920"/>
          </a:xfrm>
          <a:prstGeom prst="rect">
            <a:avLst/>
          </a:prstGeom>
          <a:noFill/>
        </p:spPr>
        <p:txBody>
          <a:bodyPr wrap="square" lIns="45720" tIns="18288" rIns="45720" bIns="18288" anchor="ctr">
            <a:spAutoFit/>
          </a:bodyPr>
          <a:lstStyle/>
          <a:p>
            <a:pPr algn="l">
              <a:lnSpc>
                <a:spcPct val="115000"/>
              </a:lnSpc>
            </a:pPr>
            <a:r>
              <a:rPr sz="1100" b="1">
                <a:solidFill>
                  <a:srgbClr val="36454F"/>
                </a:solidFill>
                <a:latin typeface="Yu Gothic UI"/>
              </a:rPr>
              <a:t>ドラッグ後：</a:t>
            </a:r>
          </a:p>
        </p:txBody>
      </p:sp>
      <p:sp>
        <p:nvSpPr>
          <p:cNvPr id="17" name="Rounded Rectangle 16"/>
          <p:cNvSpPr/>
          <p:nvPr/>
        </p:nvSpPr>
        <p:spPr>
          <a:xfrm>
            <a:off x="2286000" y="2468880"/>
            <a:ext cx="1188720" cy="320040"/>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286000" y="2468880"/>
            <a:ext cx="1188720" cy="320040"/>
          </a:xfrm>
          <a:prstGeom prst="rect">
            <a:avLst/>
          </a:prstGeom>
          <a:noFill/>
        </p:spPr>
        <p:txBody>
          <a:bodyPr wrap="square" lIns="45720" tIns="18288" rIns="45720" bIns="18288" anchor="ctr">
            <a:spAutoFit/>
          </a:bodyPr>
          <a:lstStyle/>
          <a:p>
            <a:pPr algn="ctr">
              <a:lnSpc>
                <a:spcPct val="115000"/>
              </a:lnSpc>
            </a:pPr>
            <a:r>
              <a:rPr sz="950" b="1">
                <a:solidFill>
                  <a:srgbClr val="FFFFFF"/>
                </a:solidFill>
                <a:latin typeface="Yu Gothic UI"/>
              </a:rPr>
              <a:t>自社案件</a:t>
            </a:r>
          </a:p>
        </p:txBody>
      </p:sp>
      <p:sp>
        <p:nvSpPr>
          <p:cNvPr id="19" name="Rounded Rectangle 18"/>
          <p:cNvSpPr/>
          <p:nvPr/>
        </p:nvSpPr>
        <p:spPr>
          <a:xfrm>
            <a:off x="3566160" y="2468880"/>
            <a:ext cx="1188720" cy="320040"/>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566160" y="2468880"/>
            <a:ext cx="1188720" cy="320040"/>
          </a:xfrm>
          <a:prstGeom prst="rect">
            <a:avLst/>
          </a:prstGeom>
          <a:noFill/>
        </p:spPr>
        <p:txBody>
          <a:bodyPr wrap="square" lIns="45720" tIns="18288" rIns="45720" bIns="18288" anchor="ctr">
            <a:spAutoFit/>
          </a:bodyPr>
          <a:lstStyle/>
          <a:p>
            <a:pPr algn="ctr">
              <a:lnSpc>
                <a:spcPct val="115000"/>
              </a:lnSpc>
            </a:pPr>
            <a:r>
              <a:rPr sz="950" b="1">
                <a:solidFill>
                  <a:srgbClr val="FFFFFF"/>
                </a:solidFill>
                <a:latin typeface="Yu Gothic UI"/>
              </a:rPr>
              <a:t>第一土木A</a:t>
            </a:r>
          </a:p>
        </p:txBody>
      </p:sp>
      <p:sp>
        <p:nvSpPr>
          <p:cNvPr id="21" name="Rounded Rectangle 20"/>
          <p:cNvSpPr/>
          <p:nvPr/>
        </p:nvSpPr>
        <p:spPr>
          <a:xfrm>
            <a:off x="4846320" y="2468880"/>
            <a:ext cx="1188720" cy="320040"/>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46320" y="2468880"/>
            <a:ext cx="1188720" cy="320040"/>
          </a:xfrm>
          <a:prstGeom prst="rect">
            <a:avLst/>
          </a:prstGeom>
          <a:noFill/>
        </p:spPr>
        <p:txBody>
          <a:bodyPr wrap="square" lIns="45720" tIns="18288" rIns="45720" bIns="18288" anchor="ctr">
            <a:spAutoFit/>
          </a:bodyPr>
          <a:lstStyle/>
          <a:p>
            <a:pPr algn="ctr">
              <a:lnSpc>
                <a:spcPct val="115000"/>
              </a:lnSpc>
            </a:pPr>
            <a:r>
              <a:rPr sz="950" b="1">
                <a:solidFill>
                  <a:srgbClr val="FFFFFF"/>
                </a:solidFill>
                <a:latin typeface="Yu Gothic UI"/>
              </a:rPr>
              <a:t>第一土木B</a:t>
            </a:r>
          </a:p>
        </p:txBody>
      </p:sp>
      <p:sp>
        <p:nvSpPr>
          <p:cNvPr id="23" name="Rounded Rectangle 22"/>
          <p:cNvSpPr/>
          <p:nvPr/>
        </p:nvSpPr>
        <p:spPr>
          <a:xfrm>
            <a:off x="6126480" y="2468880"/>
            <a:ext cx="1188720" cy="320040"/>
          </a:xfrm>
          <a:prstGeom prst="roundRect">
            <a:avLst>
              <a:gd name="adj" fmla="val 15000"/>
            </a:avLst>
          </a:prstGeom>
          <a:solidFill>
            <a:srgbClr val="7A8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126480" y="2468880"/>
            <a:ext cx="1188720" cy="320040"/>
          </a:xfrm>
          <a:prstGeom prst="rect">
            <a:avLst/>
          </a:prstGeom>
          <a:noFill/>
        </p:spPr>
        <p:txBody>
          <a:bodyPr wrap="square" lIns="45720" tIns="18288" rIns="45720" bIns="18288" anchor="ctr">
            <a:spAutoFit/>
          </a:bodyPr>
          <a:lstStyle/>
          <a:p>
            <a:pPr algn="ctr">
              <a:lnSpc>
                <a:spcPct val="115000"/>
              </a:lnSpc>
            </a:pPr>
            <a:r>
              <a:rPr sz="950" b="1">
                <a:solidFill>
                  <a:srgbClr val="FFFFFF"/>
                </a:solidFill>
                <a:latin typeface="Yu Gothic UI"/>
              </a:rPr>
              <a:t>セミナー</a:t>
            </a:r>
          </a:p>
        </p:txBody>
      </p:sp>
      <p:sp>
        <p:nvSpPr>
          <p:cNvPr id="25" name="TextBox 24"/>
          <p:cNvSpPr txBox="1"/>
          <p:nvPr/>
        </p:nvSpPr>
        <p:spPr>
          <a:xfrm>
            <a:off x="457200" y="3200400"/>
            <a:ext cx="8321040" cy="292608"/>
          </a:xfrm>
          <a:prstGeom prst="rect">
            <a:avLst/>
          </a:prstGeom>
          <a:noFill/>
        </p:spPr>
        <p:txBody>
          <a:bodyPr wrap="square" lIns="45720" tIns="18288" rIns="45720" bIns="18288" anchor="t">
            <a:spAutoFit/>
          </a:bodyPr>
          <a:lstStyle/>
          <a:p>
            <a:pPr algn="l">
              <a:lnSpc>
                <a:spcPct val="115000"/>
              </a:lnSpc>
            </a:pPr>
            <a:r>
              <a:rPr sz="1300" b="1">
                <a:solidFill>
                  <a:srgbClr val="3457D5"/>
                </a:solidFill>
                <a:latin typeface="Yu Gothic UI"/>
              </a:rPr>
              <a:t>並び替えの操作方法</a:t>
            </a:r>
          </a:p>
        </p:txBody>
      </p:sp>
      <p:sp>
        <p:nvSpPr>
          <p:cNvPr id="26" name="Rounded Rectangle 25"/>
          <p:cNvSpPr/>
          <p:nvPr/>
        </p:nvSpPr>
        <p:spPr>
          <a:xfrm>
            <a:off x="457200" y="3566160"/>
            <a:ext cx="274320" cy="274320"/>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3566160"/>
            <a:ext cx="274320" cy="274320"/>
          </a:xfrm>
          <a:prstGeom prst="rect">
            <a:avLst/>
          </a:prstGeom>
          <a:noFill/>
        </p:spPr>
        <p:txBody>
          <a:bodyPr wrap="square" lIns="45720" tIns="18288" rIns="45720" bIns="18288" anchor="ctr">
            <a:spAutoFit/>
          </a:bodyPr>
          <a:lstStyle/>
          <a:p>
            <a:pPr algn="ctr">
              <a:lnSpc>
                <a:spcPct val="115000"/>
              </a:lnSpc>
            </a:pPr>
            <a:r>
              <a:rPr sz="1000" b="1">
                <a:solidFill>
                  <a:srgbClr val="FFFFFF"/>
                </a:solidFill>
                <a:latin typeface="Yu Gothic UI"/>
              </a:rPr>
              <a:t>1</a:t>
            </a:r>
          </a:p>
        </p:txBody>
      </p:sp>
      <p:sp>
        <p:nvSpPr>
          <p:cNvPr id="28" name="TextBox 27"/>
          <p:cNvSpPr txBox="1"/>
          <p:nvPr/>
        </p:nvSpPr>
        <p:spPr>
          <a:xfrm>
            <a:off x="868680" y="3566160"/>
            <a:ext cx="7909560" cy="274320"/>
          </a:xfrm>
          <a:prstGeom prst="rect">
            <a:avLst/>
          </a:prstGeom>
          <a:noFill/>
        </p:spPr>
        <p:txBody>
          <a:bodyPr wrap="square" lIns="45720" tIns="18288" rIns="45720" bIns="18288" anchor="ctr">
            <a:spAutoFit/>
          </a:bodyPr>
          <a:lstStyle/>
          <a:p>
            <a:pPr algn="l">
              <a:lnSpc>
                <a:spcPct val="115000"/>
              </a:lnSpc>
            </a:pPr>
            <a:r>
              <a:rPr sz="1050" b="0">
                <a:solidFill>
                  <a:srgbClr val="36454F"/>
                </a:solidFill>
                <a:latin typeface="Yu Gothic UI"/>
              </a:rPr>
              <a:t>現場タブをマウスでドラッグして、好きな位置にドロップできます。</a:t>
            </a:r>
          </a:p>
        </p:txBody>
      </p:sp>
      <p:sp>
        <p:nvSpPr>
          <p:cNvPr id="29" name="Rounded Rectangle 28"/>
          <p:cNvSpPr/>
          <p:nvPr/>
        </p:nvSpPr>
        <p:spPr>
          <a:xfrm>
            <a:off x="457200" y="3931920"/>
            <a:ext cx="274320" cy="274320"/>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 y="3931920"/>
            <a:ext cx="274320" cy="274320"/>
          </a:xfrm>
          <a:prstGeom prst="rect">
            <a:avLst/>
          </a:prstGeom>
          <a:noFill/>
        </p:spPr>
        <p:txBody>
          <a:bodyPr wrap="square" lIns="45720" tIns="18288" rIns="45720" bIns="18288" anchor="ctr">
            <a:spAutoFit/>
          </a:bodyPr>
          <a:lstStyle/>
          <a:p>
            <a:pPr algn="ctr">
              <a:lnSpc>
                <a:spcPct val="115000"/>
              </a:lnSpc>
            </a:pPr>
            <a:r>
              <a:rPr sz="1000" b="1">
                <a:solidFill>
                  <a:srgbClr val="FFFFFF"/>
                </a:solidFill>
                <a:latin typeface="Yu Gothic UI"/>
              </a:rPr>
              <a:t>2</a:t>
            </a:r>
          </a:p>
        </p:txBody>
      </p:sp>
      <p:sp>
        <p:nvSpPr>
          <p:cNvPr id="31" name="TextBox 30"/>
          <p:cNvSpPr txBox="1"/>
          <p:nvPr/>
        </p:nvSpPr>
        <p:spPr>
          <a:xfrm>
            <a:off x="868680" y="3931920"/>
            <a:ext cx="7909560" cy="274320"/>
          </a:xfrm>
          <a:prstGeom prst="rect">
            <a:avLst/>
          </a:prstGeom>
          <a:noFill/>
        </p:spPr>
        <p:txBody>
          <a:bodyPr wrap="square" lIns="45720" tIns="18288" rIns="45720" bIns="18288" anchor="ctr">
            <a:spAutoFit/>
          </a:bodyPr>
          <a:lstStyle/>
          <a:p>
            <a:pPr algn="l">
              <a:lnSpc>
                <a:spcPct val="115000"/>
              </a:lnSpc>
            </a:pPr>
            <a:r>
              <a:rPr sz="1050" b="0">
                <a:solidFill>
                  <a:srgbClr val="36454F"/>
                </a:solidFill>
                <a:latin typeface="Yu Gothic UI"/>
              </a:rPr>
              <a:t>属性が違う現場タブ（例：第一土木 ↔ 自社案件）の間でも並び替え可能です。</a:t>
            </a:r>
          </a:p>
        </p:txBody>
      </p:sp>
      <p:sp>
        <p:nvSpPr>
          <p:cNvPr id="32" name="Rounded Rectangle 31"/>
          <p:cNvSpPr/>
          <p:nvPr/>
        </p:nvSpPr>
        <p:spPr>
          <a:xfrm>
            <a:off x="457200" y="4297680"/>
            <a:ext cx="274320" cy="274320"/>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7200" y="4297680"/>
            <a:ext cx="274320" cy="274320"/>
          </a:xfrm>
          <a:prstGeom prst="rect">
            <a:avLst/>
          </a:prstGeom>
          <a:noFill/>
        </p:spPr>
        <p:txBody>
          <a:bodyPr wrap="square" lIns="45720" tIns="18288" rIns="45720" bIns="18288" anchor="ctr">
            <a:spAutoFit/>
          </a:bodyPr>
          <a:lstStyle/>
          <a:p>
            <a:pPr algn="ctr">
              <a:lnSpc>
                <a:spcPct val="115000"/>
              </a:lnSpc>
            </a:pPr>
            <a:r>
              <a:rPr sz="1000" b="1">
                <a:solidFill>
                  <a:srgbClr val="FFFFFF"/>
                </a:solidFill>
                <a:latin typeface="Yu Gothic UI"/>
              </a:rPr>
              <a:t>3</a:t>
            </a:r>
          </a:p>
        </p:txBody>
      </p:sp>
      <p:sp>
        <p:nvSpPr>
          <p:cNvPr id="34" name="TextBox 33"/>
          <p:cNvSpPr txBox="1"/>
          <p:nvPr/>
        </p:nvSpPr>
        <p:spPr>
          <a:xfrm>
            <a:off x="868680" y="4297680"/>
            <a:ext cx="7909560" cy="274320"/>
          </a:xfrm>
          <a:prstGeom prst="rect">
            <a:avLst/>
          </a:prstGeom>
          <a:noFill/>
        </p:spPr>
        <p:txBody>
          <a:bodyPr wrap="square" lIns="45720" tIns="18288" rIns="45720" bIns="18288" anchor="ctr">
            <a:spAutoFit/>
          </a:bodyPr>
          <a:lstStyle/>
          <a:p>
            <a:pPr algn="l">
              <a:lnSpc>
                <a:spcPct val="115000"/>
              </a:lnSpc>
            </a:pPr>
            <a:r>
              <a:rPr sz="1050" b="0">
                <a:solidFill>
                  <a:srgbClr val="36454F"/>
                </a:solidFill>
                <a:latin typeface="Yu Gothic UI"/>
              </a:rPr>
              <a:t>並び替えの結果は自動的に保存され、次回起動時もその順序で表示されます。</a:t>
            </a:r>
          </a:p>
        </p:txBody>
      </p:sp>
      <p:sp>
        <p:nvSpPr>
          <p:cNvPr id="35" name="TextBox 34"/>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36" name="TextBox 35"/>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22 / 53</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05</a:t>
            </a:r>
            <a:r>
              <a:rPr sz="2000" b="0">
                <a:solidFill>
                  <a:srgbClr val="3457D5"/>
                </a:solidFill>
                <a:latin typeface="Yu Gothic UI"/>
              </a:rPr>
              <a:t>　</a:t>
            </a:r>
            <a:r>
              <a:rPr sz="2000" b="1">
                <a:solidFill>
                  <a:srgbClr val="36454F"/>
                </a:solidFill>
                <a:latin typeface="Yu Gothic UI"/>
              </a:rPr>
              <a:t>現場タブの操作</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現場タブの色は属性によって自動で設定されます。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325880"/>
            <a:ext cx="1097280" cy="777240"/>
          </a:xfrm>
          <a:prstGeom prst="roundRect">
            <a:avLst>
              <a:gd name="adj" fmla="val 10000"/>
            </a:avLst>
          </a:prstGeom>
          <a:solidFill>
            <a:srgbClr val="A0A8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325880"/>
            <a:ext cx="1097280" cy="777240"/>
          </a:xfrm>
          <a:prstGeom prst="rect">
            <a:avLst/>
          </a:prstGeom>
          <a:noFill/>
        </p:spPr>
        <p:txBody>
          <a:bodyPr wrap="square" lIns="45720" tIns="18288" rIns="45720" bIns="18288" anchor="ctr">
            <a:spAutoFit/>
          </a:bodyPr>
          <a:lstStyle/>
          <a:p>
            <a:pPr algn="ctr">
              <a:lnSpc>
                <a:spcPct val="115000"/>
              </a:lnSpc>
            </a:pPr>
            <a:r>
              <a:rPr sz="1100" b="1">
                <a:solidFill>
                  <a:srgbClr val="FFFFFF"/>
                </a:solidFill>
                <a:latin typeface="Yu Gothic UI"/>
              </a:rPr>
              <a:t>契約前</a:t>
            </a:r>
          </a:p>
        </p:txBody>
      </p:sp>
      <p:sp>
        <p:nvSpPr>
          <p:cNvPr id="8" name="Rounded Rectangle 7"/>
          <p:cNvSpPr/>
          <p:nvPr/>
        </p:nvSpPr>
        <p:spPr>
          <a:xfrm>
            <a:off x="1673352" y="1325880"/>
            <a:ext cx="1097280" cy="777240"/>
          </a:xfrm>
          <a:prstGeom prst="roundRect">
            <a:avLst>
              <a:gd name="adj" fmla="val 1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73352" y="1325880"/>
            <a:ext cx="1097280" cy="777240"/>
          </a:xfrm>
          <a:prstGeom prst="rect">
            <a:avLst/>
          </a:prstGeom>
          <a:noFill/>
        </p:spPr>
        <p:txBody>
          <a:bodyPr wrap="square" lIns="45720" tIns="18288" rIns="45720" bIns="18288" anchor="ctr">
            <a:spAutoFit/>
          </a:bodyPr>
          <a:lstStyle/>
          <a:p>
            <a:pPr algn="ctr">
              <a:lnSpc>
                <a:spcPct val="115000"/>
              </a:lnSpc>
            </a:pPr>
            <a:r>
              <a:rPr sz="1100" b="1">
                <a:solidFill>
                  <a:srgbClr val="FFFFFF"/>
                </a:solidFill>
                <a:latin typeface="Yu Gothic UI"/>
              </a:rPr>
              <a:t>契約中</a:t>
            </a:r>
          </a:p>
        </p:txBody>
      </p:sp>
      <p:sp>
        <p:nvSpPr>
          <p:cNvPr id="10" name="Rounded Rectangle 9"/>
          <p:cNvSpPr/>
          <p:nvPr/>
        </p:nvSpPr>
        <p:spPr>
          <a:xfrm>
            <a:off x="2889504" y="1325880"/>
            <a:ext cx="1097280" cy="777240"/>
          </a:xfrm>
          <a:prstGeom prst="roundRect">
            <a:avLst>
              <a:gd name="adj" fmla="val 10000"/>
            </a:avLst>
          </a:prstGeom>
          <a:solidFill>
            <a:srgbClr val="888E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89504" y="1325880"/>
            <a:ext cx="1097280" cy="777240"/>
          </a:xfrm>
          <a:prstGeom prst="rect">
            <a:avLst/>
          </a:prstGeom>
          <a:noFill/>
        </p:spPr>
        <p:txBody>
          <a:bodyPr wrap="square" lIns="45720" tIns="18288" rIns="45720" bIns="18288" anchor="ctr">
            <a:spAutoFit/>
          </a:bodyPr>
          <a:lstStyle/>
          <a:p>
            <a:pPr algn="ctr">
              <a:lnSpc>
                <a:spcPct val="115000"/>
              </a:lnSpc>
            </a:pPr>
            <a:r>
              <a:rPr sz="1100" b="1">
                <a:solidFill>
                  <a:srgbClr val="FFFFFF"/>
                </a:solidFill>
                <a:latin typeface="Yu Gothic UI"/>
              </a:rPr>
              <a:t>契約終了</a:t>
            </a:r>
          </a:p>
        </p:txBody>
      </p:sp>
      <p:sp>
        <p:nvSpPr>
          <p:cNvPr id="12" name="Rounded Rectangle 11"/>
          <p:cNvSpPr/>
          <p:nvPr/>
        </p:nvSpPr>
        <p:spPr>
          <a:xfrm>
            <a:off x="4105656" y="1325880"/>
            <a:ext cx="1097280" cy="777240"/>
          </a:xfrm>
          <a:prstGeom prst="roundRect">
            <a:avLst>
              <a:gd name="adj" fmla="val 1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05656" y="1325880"/>
            <a:ext cx="1097280" cy="777240"/>
          </a:xfrm>
          <a:prstGeom prst="rect">
            <a:avLst/>
          </a:prstGeom>
          <a:noFill/>
        </p:spPr>
        <p:txBody>
          <a:bodyPr wrap="square" lIns="45720" tIns="18288" rIns="45720" bIns="18288" anchor="ctr">
            <a:spAutoFit/>
          </a:bodyPr>
          <a:lstStyle/>
          <a:p>
            <a:pPr algn="ctr">
              <a:lnSpc>
                <a:spcPct val="115000"/>
              </a:lnSpc>
            </a:pPr>
            <a:r>
              <a:rPr sz="1100" b="1">
                <a:solidFill>
                  <a:srgbClr val="FFFFFF"/>
                </a:solidFill>
                <a:latin typeface="Yu Gothic UI"/>
              </a:rPr>
              <a:t>自社案件</a:t>
            </a:r>
          </a:p>
        </p:txBody>
      </p:sp>
      <p:sp>
        <p:nvSpPr>
          <p:cNvPr id="14" name="Rounded Rectangle 13"/>
          <p:cNvSpPr/>
          <p:nvPr/>
        </p:nvSpPr>
        <p:spPr>
          <a:xfrm>
            <a:off x="5321808" y="1325880"/>
            <a:ext cx="1097280" cy="777240"/>
          </a:xfrm>
          <a:prstGeom prst="roundRect">
            <a:avLst>
              <a:gd name="adj" fmla="val 10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21808" y="1325880"/>
            <a:ext cx="1097280" cy="777240"/>
          </a:xfrm>
          <a:prstGeom prst="rect">
            <a:avLst/>
          </a:prstGeom>
          <a:noFill/>
        </p:spPr>
        <p:txBody>
          <a:bodyPr wrap="square" lIns="45720" tIns="18288" rIns="45720" bIns="18288" anchor="ctr">
            <a:spAutoFit/>
          </a:bodyPr>
          <a:lstStyle/>
          <a:p>
            <a:pPr algn="ctr">
              <a:lnSpc>
                <a:spcPct val="115000"/>
              </a:lnSpc>
            </a:pPr>
            <a:r>
              <a:rPr sz="1100" b="1">
                <a:solidFill>
                  <a:srgbClr val="FFFFFF"/>
                </a:solidFill>
                <a:latin typeface="Yu Gothic UI"/>
              </a:rPr>
              <a:t>第一土木</a:t>
            </a:r>
          </a:p>
        </p:txBody>
      </p:sp>
      <p:sp>
        <p:nvSpPr>
          <p:cNvPr id="16" name="Rounded Rectangle 15"/>
          <p:cNvSpPr/>
          <p:nvPr/>
        </p:nvSpPr>
        <p:spPr>
          <a:xfrm>
            <a:off x="6537960" y="1325880"/>
            <a:ext cx="1097280" cy="777240"/>
          </a:xfrm>
          <a:prstGeom prst="roundRect">
            <a:avLst>
              <a:gd name="adj" fmla="val 10000"/>
            </a:avLst>
          </a:prstGeom>
          <a:solidFill>
            <a:srgbClr val="C4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37960" y="1325880"/>
            <a:ext cx="1097280" cy="777240"/>
          </a:xfrm>
          <a:prstGeom prst="rect">
            <a:avLst/>
          </a:prstGeom>
          <a:noFill/>
        </p:spPr>
        <p:txBody>
          <a:bodyPr wrap="square" lIns="45720" tIns="18288" rIns="45720" bIns="18288" anchor="ctr">
            <a:spAutoFit/>
          </a:bodyPr>
          <a:lstStyle/>
          <a:p>
            <a:pPr algn="ctr">
              <a:lnSpc>
                <a:spcPct val="115000"/>
              </a:lnSpc>
            </a:pPr>
            <a:r>
              <a:rPr sz="1100" b="1">
                <a:solidFill>
                  <a:srgbClr val="FFFFFF"/>
                </a:solidFill>
                <a:latin typeface="Yu Gothic UI"/>
              </a:rPr>
              <a:t>セミナー</a:t>
            </a:r>
          </a:p>
        </p:txBody>
      </p:sp>
      <p:sp>
        <p:nvSpPr>
          <p:cNvPr id="18" name="Rounded Rectangle 17"/>
          <p:cNvSpPr/>
          <p:nvPr/>
        </p:nvSpPr>
        <p:spPr>
          <a:xfrm>
            <a:off x="7754112" y="1325880"/>
            <a:ext cx="1097280" cy="777240"/>
          </a:xfrm>
          <a:prstGeom prst="roundRect">
            <a:avLst>
              <a:gd name="adj" fmla="val 10000"/>
            </a:avLst>
          </a:prstGeom>
          <a:solidFill>
            <a:srgbClr val="687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54112" y="1325880"/>
            <a:ext cx="1097280" cy="777240"/>
          </a:xfrm>
          <a:prstGeom prst="rect">
            <a:avLst/>
          </a:prstGeom>
          <a:noFill/>
        </p:spPr>
        <p:txBody>
          <a:bodyPr wrap="square" lIns="45720" tIns="18288" rIns="45720" bIns="18288" anchor="ctr">
            <a:spAutoFit/>
          </a:bodyPr>
          <a:lstStyle/>
          <a:p>
            <a:pPr algn="ctr">
              <a:lnSpc>
                <a:spcPct val="115000"/>
              </a:lnSpc>
            </a:pPr>
            <a:r>
              <a:rPr sz="1100" b="1">
                <a:solidFill>
                  <a:srgbClr val="FFFFFF"/>
                </a:solidFill>
                <a:latin typeface="Yu Gothic UI"/>
              </a:rPr>
              <a:t>その他</a:t>
            </a:r>
          </a:p>
        </p:txBody>
      </p:sp>
      <p:sp>
        <p:nvSpPr>
          <p:cNvPr id="20" name="TextBox 19"/>
          <p:cNvSpPr txBox="1"/>
          <p:nvPr/>
        </p:nvSpPr>
        <p:spPr>
          <a:xfrm>
            <a:off x="457200" y="2331720"/>
            <a:ext cx="8321040" cy="292608"/>
          </a:xfrm>
          <a:prstGeom prst="rect">
            <a:avLst/>
          </a:prstGeom>
          <a:noFill/>
        </p:spPr>
        <p:txBody>
          <a:bodyPr wrap="square" lIns="45720" tIns="18288" rIns="45720" bIns="18288" anchor="t">
            <a:spAutoFit/>
          </a:bodyPr>
          <a:lstStyle/>
          <a:p>
            <a:pPr algn="l">
              <a:lnSpc>
                <a:spcPct val="115000"/>
              </a:lnSpc>
            </a:pPr>
            <a:r>
              <a:rPr sz="1300" b="1">
                <a:solidFill>
                  <a:srgbClr val="3457D5"/>
                </a:solidFill>
                <a:latin typeface="Yu Gothic UI"/>
              </a:rPr>
              <a:t>現場タブの基本操作</a:t>
            </a:r>
          </a:p>
        </p:txBody>
      </p:sp>
      <p:sp>
        <p:nvSpPr>
          <p:cNvPr id="21" name="Rounded Rectangle 20"/>
          <p:cNvSpPr/>
          <p:nvPr/>
        </p:nvSpPr>
        <p:spPr>
          <a:xfrm>
            <a:off x="457200" y="2697480"/>
            <a:ext cx="2468880" cy="548640"/>
          </a:xfrm>
          <a:prstGeom prst="roundRect">
            <a:avLst>
              <a:gd name="adj" fmla="val 4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2697480"/>
            <a:ext cx="2468880" cy="548640"/>
          </a:xfrm>
          <a:prstGeom prst="rect">
            <a:avLst/>
          </a:prstGeom>
          <a:noFill/>
        </p:spPr>
        <p:txBody>
          <a:bodyPr wrap="square" lIns="45720" tIns="18288" rIns="45720" bIns="18288" anchor="ctr">
            <a:spAutoFit/>
          </a:bodyPr>
          <a:lstStyle/>
          <a:p>
            <a:pPr algn="ctr">
              <a:lnSpc>
                <a:spcPct val="115000"/>
              </a:lnSpc>
            </a:pPr>
            <a:r>
              <a:rPr sz="1100" b="1">
                <a:solidFill>
                  <a:srgbClr val="FFFFFF"/>
                </a:solidFill>
                <a:latin typeface="Yu Gothic UI"/>
              </a:rPr>
              <a:t>クリックで切替</a:t>
            </a:r>
          </a:p>
        </p:txBody>
      </p:sp>
      <p:sp>
        <p:nvSpPr>
          <p:cNvPr id="23" name="TextBox 22"/>
          <p:cNvSpPr txBox="1"/>
          <p:nvPr/>
        </p:nvSpPr>
        <p:spPr>
          <a:xfrm>
            <a:off x="3063240" y="2697480"/>
            <a:ext cx="5715000" cy="548640"/>
          </a:xfrm>
          <a:prstGeom prst="rect">
            <a:avLst/>
          </a:prstGeom>
          <a:noFill/>
        </p:spPr>
        <p:txBody>
          <a:bodyPr wrap="square" lIns="45720" tIns="18288" rIns="45720" bIns="18288" anchor="ctr">
            <a:spAutoFit/>
          </a:bodyPr>
          <a:lstStyle/>
          <a:p>
            <a:pPr algn="l">
              <a:lnSpc>
                <a:spcPct val="130000"/>
              </a:lnSpc>
            </a:pPr>
            <a:r>
              <a:rPr sz="1050" b="0">
                <a:solidFill>
                  <a:srgbClr val="36454F"/>
                </a:solidFill>
                <a:latin typeface="Yu Gothic UI"/>
              </a:rPr>
              <a:t>タブをクリックすると、その現場の集計結果が表示されます。</a:t>
            </a:r>
          </a:p>
        </p:txBody>
      </p:sp>
      <p:sp>
        <p:nvSpPr>
          <p:cNvPr id="24" name="Rounded Rectangle 23"/>
          <p:cNvSpPr/>
          <p:nvPr/>
        </p:nvSpPr>
        <p:spPr>
          <a:xfrm>
            <a:off x="457200" y="3337560"/>
            <a:ext cx="2468880" cy="548640"/>
          </a:xfrm>
          <a:prstGeom prst="roundRect">
            <a:avLst>
              <a:gd name="adj" fmla="val 4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3337560"/>
            <a:ext cx="2468880" cy="548640"/>
          </a:xfrm>
          <a:prstGeom prst="rect">
            <a:avLst/>
          </a:prstGeom>
          <a:noFill/>
        </p:spPr>
        <p:txBody>
          <a:bodyPr wrap="square" lIns="45720" tIns="18288" rIns="45720" bIns="18288" anchor="ctr">
            <a:spAutoFit/>
          </a:bodyPr>
          <a:lstStyle/>
          <a:p>
            <a:pPr algn="ctr">
              <a:lnSpc>
                <a:spcPct val="115000"/>
              </a:lnSpc>
            </a:pPr>
            <a:r>
              <a:rPr sz="1100" b="1">
                <a:solidFill>
                  <a:srgbClr val="FFFFFF"/>
                </a:solidFill>
                <a:latin typeface="Yu Gothic UI"/>
              </a:rPr>
              <a:t>ドラッグで並び替え</a:t>
            </a:r>
          </a:p>
        </p:txBody>
      </p:sp>
      <p:sp>
        <p:nvSpPr>
          <p:cNvPr id="26" name="TextBox 25"/>
          <p:cNvSpPr txBox="1"/>
          <p:nvPr/>
        </p:nvSpPr>
        <p:spPr>
          <a:xfrm>
            <a:off x="3063240" y="3337560"/>
            <a:ext cx="5715000" cy="548640"/>
          </a:xfrm>
          <a:prstGeom prst="rect">
            <a:avLst/>
          </a:prstGeom>
          <a:noFill/>
        </p:spPr>
        <p:txBody>
          <a:bodyPr wrap="square" lIns="45720" tIns="18288" rIns="45720" bIns="18288" anchor="ctr">
            <a:spAutoFit/>
          </a:bodyPr>
          <a:lstStyle/>
          <a:p>
            <a:pPr algn="l">
              <a:lnSpc>
                <a:spcPct val="130000"/>
              </a:lnSpc>
            </a:pPr>
            <a:r>
              <a:rPr sz="1050" b="0">
                <a:solidFill>
                  <a:srgbClr val="36454F"/>
                </a:solidFill>
                <a:latin typeface="Yu Gothic UI"/>
              </a:rPr>
              <a:t>タブをドラッグして好きな位置に並び替えできます。属性をまたいでも移動可能です。</a:t>
            </a:r>
          </a:p>
        </p:txBody>
      </p:sp>
      <p:sp>
        <p:nvSpPr>
          <p:cNvPr id="27" name="Rounded Rectangle 26"/>
          <p:cNvSpPr/>
          <p:nvPr/>
        </p:nvSpPr>
        <p:spPr>
          <a:xfrm>
            <a:off x="457200" y="3977640"/>
            <a:ext cx="2468880" cy="548640"/>
          </a:xfrm>
          <a:prstGeom prst="roundRect">
            <a:avLst>
              <a:gd name="adj" fmla="val 4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3977640"/>
            <a:ext cx="2468880" cy="548640"/>
          </a:xfrm>
          <a:prstGeom prst="rect">
            <a:avLst/>
          </a:prstGeom>
          <a:noFill/>
        </p:spPr>
        <p:txBody>
          <a:bodyPr wrap="square" lIns="45720" tIns="18288" rIns="45720" bIns="18288" anchor="ctr">
            <a:spAutoFit/>
          </a:bodyPr>
          <a:lstStyle/>
          <a:p>
            <a:pPr algn="ctr">
              <a:lnSpc>
                <a:spcPct val="115000"/>
              </a:lnSpc>
            </a:pPr>
            <a:r>
              <a:rPr sz="1100" b="1">
                <a:solidFill>
                  <a:srgbClr val="FFFFFF"/>
                </a:solidFill>
                <a:latin typeface="Yu Gothic UI"/>
              </a:rPr>
              <a:t>右クリックでメニュー</a:t>
            </a:r>
          </a:p>
        </p:txBody>
      </p:sp>
      <p:sp>
        <p:nvSpPr>
          <p:cNvPr id="29" name="TextBox 28"/>
          <p:cNvSpPr txBox="1"/>
          <p:nvPr/>
        </p:nvSpPr>
        <p:spPr>
          <a:xfrm>
            <a:off x="3063240" y="3977640"/>
            <a:ext cx="5715000" cy="548640"/>
          </a:xfrm>
          <a:prstGeom prst="rect">
            <a:avLst/>
          </a:prstGeom>
          <a:noFill/>
        </p:spPr>
        <p:txBody>
          <a:bodyPr wrap="square" lIns="45720" tIns="18288" rIns="45720" bIns="18288" anchor="ctr">
            <a:spAutoFit/>
          </a:bodyPr>
          <a:lstStyle/>
          <a:p>
            <a:pPr algn="l">
              <a:lnSpc>
                <a:spcPct val="130000"/>
              </a:lnSpc>
            </a:pPr>
            <a:r>
              <a:rPr sz="1050" b="0">
                <a:solidFill>
                  <a:srgbClr val="36454F"/>
                </a:solidFill>
                <a:latin typeface="Yu Gothic UI"/>
              </a:rPr>
              <a:t>タブを右クリックすると、属性変更・編集・アーカイブのメニューが開きます。</a:t>
            </a:r>
          </a:p>
        </p:txBody>
      </p:sp>
      <p:sp>
        <p:nvSpPr>
          <p:cNvPr id="30" name="TextBox 29"/>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31" name="TextBox 30"/>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23 / 53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05</a:t>
            </a:r>
            <a:r>
              <a:rPr sz="2000" b="0">
                <a:solidFill>
                  <a:srgbClr val="3457D5"/>
                </a:solidFill>
                <a:latin typeface="Yu Gothic UI"/>
              </a:rPr>
              <a:t>　</a:t>
            </a:r>
            <a:r>
              <a:rPr sz="2000" b="1">
                <a:solidFill>
                  <a:srgbClr val="36454F"/>
                </a:solidFill>
                <a:latin typeface="Yu Gothic UI"/>
              </a:rPr>
              <a:t>現場タブの操作</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現場タブを右クリックすると、操作メニューが表示されます。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3200400" cy="2468880"/>
          </a:xfrm>
          <a:prstGeom prst="roundRect">
            <a:avLst>
              <a:gd name="adj" fmla="val 4000"/>
            </a:avLst>
          </a:prstGeom>
          <a:solidFill>
            <a:srgbClr val="FFFFFF"/>
          </a:solidFill>
          <a:ln w="12700">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3200400" cy="32004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280160"/>
            <a:ext cx="3200400" cy="320040"/>
          </a:xfrm>
          <a:prstGeom prst="rect">
            <a:avLst/>
          </a:prstGeom>
          <a:noFill/>
        </p:spPr>
        <p:txBody>
          <a:bodyPr wrap="square" lIns="45720" tIns="18288" rIns="45720" bIns="18288" anchor="ctr">
            <a:spAutoFit/>
          </a:bodyPr>
          <a:lstStyle/>
          <a:p>
            <a:pPr algn="ctr">
              <a:lnSpc>
                <a:spcPct val="115000"/>
              </a:lnSpc>
            </a:pPr>
            <a:r>
              <a:rPr sz="1100" b="1">
                <a:solidFill>
                  <a:srgbClr val="FFFFFF"/>
                </a:solidFill>
                <a:latin typeface="Yu Gothic UI"/>
              </a:rPr>
              <a:t>右クリックメニュー</a:t>
            </a:r>
          </a:p>
        </p:txBody>
      </p:sp>
      <p:sp>
        <p:nvSpPr>
          <p:cNvPr id="9" name="TextBox 8"/>
          <p:cNvSpPr txBox="1"/>
          <p:nvPr/>
        </p:nvSpPr>
        <p:spPr>
          <a:xfrm>
            <a:off x="640080" y="1737360"/>
            <a:ext cx="365760" cy="502920"/>
          </a:xfrm>
          <a:prstGeom prst="rect">
            <a:avLst/>
          </a:prstGeom>
          <a:noFill/>
        </p:spPr>
        <p:txBody>
          <a:bodyPr wrap="square" lIns="45720" tIns="18288" rIns="45720" bIns="18288" anchor="ctr">
            <a:spAutoFit/>
          </a:bodyPr>
          <a:lstStyle/>
          <a:p>
            <a:pPr algn="l">
              <a:lnSpc>
                <a:spcPct val="115000"/>
              </a:lnSpc>
            </a:pPr>
            <a:r>
              <a:rPr sz="1800" b="0">
                <a:solidFill>
                  <a:srgbClr val="3457D5"/>
                </a:solidFill>
                <a:latin typeface="Yu Gothic UI"/>
              </a:rPr>
              <a:t>🎨</a:t>
            </a:r>
          </a:p>
        </p:txBody>
      </p:sp>
      <p:sp>
        <p:nvSpPr>
          <p:cNvPr id="10" name="TextBox 9"/>
          <p:cNvSpPr txBox="1"/>
          <p:nvPr/>
        </p:nvSpPr>
        <p:spPr>
          <a:xfrm>
            <a:off x="1051560" y="1737360"/>
            <a:ext cx="2423160" cy="292608"/>
          </a:xfrm>
          <a:prstGeom prst="rect">
            <a:avLst/>
          </a:prstGeom>
          <a:noFill/>
        </p:spPr>
        <p:txBody>
          <a:bodyPr wrap="square" lIns="45720" tIns="18288" rIns="45720" bIns="18288" anchor="t">
            <a:spAutoFit/>
          </a:bodyPr>
          <a:lstStyle/>
          <a:p>
            <a:pPr algn="l">
              <a:lnSpc>
                <a:spcPct val="115000"/>
              </a:lnSpc>
            </a:pPr>
            <a:r>
              <a:rPr sz="1200" b="1">
                <a:solidFill>
                  <a:srgbClr val="3457D5"/>
                </a:solidFill>
                <a:latin typeface="Yu Gothic UI"/>
              </a:rPr>
              <a:t>属性変更</a:t>
            </a:r>
          </a:p>
        </p:txBody>
      </p:sp>
      <p:sp>
        <p:nvSpPr>
          <p:cNvPr id="11" name="TextBox 10"/>
          <p:cNvSpPr txBox="1"/>
          <p:nvPr/>
        </p:nvSpPr>
        <p:spPr>
          <a:xfrm>
            <a:off x="1051560" y="2029968"/>
            <a:ext cx="2423160" cy="228600"/>
          </a:xfrm>
          <a:prstGeom prst="rect">
            <a:avLst/>
          </a:prstGeom>
          <a:noFill/>
        </p:spPr>
        <p:txBody>
          <a:bodyPr wrap="square" lIns="45720" tIns="18288" rIns="45720" bIns="18288" anchor="t">
            <a:spAutoFit/>
          </a:bodyPr>
          <a:lstStyle/>
          <a:p>
            <a:pPr algn="l">
              <a:lnSpc>
                <a:spcPct val="115000"/>
              </a:lnSpc>
            </a:pPr>
            <a:r>
              <a:rPr sz="950" b="0">
                <a:solidFill>
                  <a:srgbClr val="7A8899"/>
                </a:solidFill>
                <a:latin typeface="Yu Gothic UI"/>
              </a:rPr>
              <a:t>7種類から選択</a:t>
            </a:r>
          </a:p>
        </p:txBody>
      </p:sp>
      <p:sp>
        <p:nvSpPr>
          <p:cNvPr id="12" name="TextBox 11"/>
          <p:cNvSpPr txBox="1"/>
          <p:nvPr/>
        </p:nvSpPr>
        <p:spPr>
          <a:xfrm>
            <a:off x="640080" y="2377440"/>
            <a:ext cx="365760" cy="502920"/>
          </a:xfrm>
          <a:prstGeom prst="rect">
            <a:avLst/>
          </a:prstGeom>
          <a:noFill/>
        </p:spPr>
        <p:txBody>
          <a:bodyPr wrap="square" lIns="45720" tIns="18288" rIns="45720" bIns="18288" anchor="ctr">
            <a:spAutoFit/>
          </a:bodyPr>
          <a:lstStyle/>
          <a:p>
            <a:pPr algn="l">
              <a:lnSpc>
                <a:spcPct val="115000"/>
              </a:lnSpc>
            </a:pPr>
            <a:r>
              <a:rPr sz="1800" b="0">
                <a:solidFill>
                  <a:srgbClr val="3457D5"/>
                </a:solidFill>
                <a:latin typeface="Yu Gothic UI"/>
              </a:rPr>
              <a:t>✏️</a:t>
            </a:r>
          </a:p>
        </p:txBody>
      </p:sp>
      <p:sp>
        <p:nvSpPr>
          <p:cNvPr id="13" name="TextBox 12"/>
          <p:cNvSpPr txBox="1"/>
          <p:nvPr/>
        </p:nvSpPr>
        <p:spPr>
          <a:xfrm>
            <a:off x="1051560" y="2377440"/>
            <a:ext cx="2423160" cy="292608"/>
          </a:xfrm>
          <a:prstGeom prst="rect">
            <a:avLst/>
          </a:prstGeom>
          <a:noFill/>
        </p:spPr>
        <p:txBody>
          <a:bodyPr wrap="square" lIns="45720" tIns="18288" rIns="45720" bIns="18288" anchor="t">
            <a:spAutoFit/>
          </a:bodyPr>
          <a:lstStyle/>
          <a:p>
            <a:pPr algn="l">
              <a:lnSpc>
                <a:spcPct val="115000"/>
              </a:lnSpc>
            </a:pPr>
            <a:r>
              <a:rPr sz="1200" b="1">
                <a:solidFill>
                  <a:srgbClr val="3457D5"/>
                </a:solidFill>
                <a:latin typeface="Yu Gothic UI"/>
              </a:rPr>
              <a:t>現場名・詳細を編集</a:t>
            </a:r>
          </a:p>
        </p:txBody>
      </p:sp>
      <p:sp>
        <p:nvSpPr>
          <p:cNvPr id="14" name="TextBox 13"/>
          <p:cNvSpPr txBox="1"/>
          <p:nvPr/>
        </p:nvSpPr>
        <p:spPr>
          <a:xfrm>
            <a:off x="1051560" y="2670048"/>
            <a:ext cx="2423160" cy="228600"/>
          </a:xfrm>
          <a:prstGeom prst="rect">
            <a:avLst/>
          </a:prstGeom>
          <a:noFill/>
        </p:spPr>
        <p:txBody>
          <a:bodyPr wrap="square" lIns="45720" tIns="18288" rIns="45720" bIns="18288" anchor="t">
            <a:spAutoFit/>
          </a:bodyPr>
          <a:lstStyle/>
          <a:p>
            <a:pPr algn="l">
              <a:lnSpc>
                <a:spcPct val="115000"/>
              </a:lnSpc>
            </a:pPr>
            <a:r>
              <a:rPr sz="950" b="0">
                <a:solidFill>
                  <a:srgbClr val="7A8899"/>
                </a:solidFill>
                <a:latin typeface="Yu Gothic UI"/>
              </a:rPr>
              <a:t>ダイアログから変更</a:t>
            </a:r>
          </a:p>
        </p:txBody>
      </p:sp>
      <p:sp>
        <p:nvSpPr>
          <p:cNvPr id="15" name="TextBox 14"/>
          <p:cNvSpPr txBox="1"/>
          <p:nvPr/>
        </p:nvSpPr>
        <p:spPr>
          <a:xfrm>
            <a:off x="640080" y="3017520"/>
            <a:ext cx="365760" cy="502920"/>
          </a:xfrm>
          <a:prstGeom prst="rect">
            <a:avLst/>
          </a:prstGeom>
          <a:noFill/>
        </p:spPr>
        <p:txBody>
          <a:bodyPr wrap="square" lIns="45720" tIns="18288" rIns="45720" bIns="18288" anchor="ctr">
            <a:spAutoFit/>
          </a:bodyPr>
          <a:lstStyle/>
          <a:p>
            <a:pPr algn="l">
              <a:lnSpc>
                <a:spcPct val="115000"/>
              </a:lnSpc>
            </a:pPr>
            <a:r>
              <a:rPr sz="1800" b="0">
                <a:solidFill>
                  <a:srgbClr val="3457D5"/>
                </a:solidFill>
                <a:latin typeface="Yu Gothic UI"/>
              </a:rPr>
              <a:t>📦</a:t>
            </a:r>
          </a:p>
        </p:txBody>
      </p:sp>
      <p:sp>
        <p:nvSpPr>
          <p:cNvPr id="16" name="TextBox 15"/>
          <p:cNvSpPr txBox="1"/>
          <p:nvPr/>
        </p:nvSpPr>
        <p:spPr>
          <a:xfrm>
            <a:off x="1051560" y="3017520"/>
            <a:ext cx="2423160" cy="292608"/>
          </a:xfrm>
          <a:prstGeom prst="rect">
            <a:avLst/>
          </a:prstGeom>
          <a:noFill/>
        </p:spPr>
        <p:txBody>
          <a:bodyPr wrap="square" lIns="45720" tIns="18288" rIns="45720" bIns="18288" anchor="t">
            <a:spAutoFit/>
          </a:bodyPr>
          <a:lstStyle/>
          <a:p>
            <a:pPr algn="l">
              <a:lnSpc>
                <a:spcPct val="115000"/>
              </a:lnSpc>
            </a:pPr>
            <a:r>
              <a:rPr sz="1200" b="1">
                <a:solidFill>
                  <a:srgbClr val="3457D5"/>
                </a:solidFill>
                <a:latin typeface="Yu Gothic UI"/>
              </a:rPr>
              <a:t>アーカイブ（非表示）</a:t>
            </a:r>
          </a:p>
        </p:txBody>
      </p:sp>
      <p:sp>
        <p:nvSpPr>
          <p:cNvPr id="17" name="TextBox 16"/>
          <p:cNvSpPr txBox="1"/>
          <p:nvPr/>
        </p:nvSpPr>
        <p:spPr>
          <a:xfrm>
            <a:off x="1051560" y="3310128"/>
            <a:ext cx="2423160" cy="228600"/>
          </a:xfrm>
          <a:prstGeom prst="rect">
            <a:avLst/>
          </a:prstGeom>
          <a:noFill/>
        </p:spPr>
        <p:txBody>
          <a:bodyPr wrap="square" lIns="45720" tIns="18288" rIns="45720" bIns="18288" anchor="t">
            <a:spAutoFit/>
          </a:bodyPr>
          <a:lstStyle/>
          <a:p>
            <a:pPr algn="l">
              <a:lnSpc>
                <a:spcPct val="115000"/>
              </a:lnSpc>
            </a:pPr>
            <a:r>
              <a:rPr sz="950" b="0">
                <a:solidFill>
                  <a:srgbClr val="7A8899"/>
                </a:solidFill>
                <a:latin typeface="Yu Gothic UI"/>
              </a:rPr>
              <a:t>後で復元可能</a:t>
            </a:r>
          </a:p>
        </p:txBody>
      </p:sp>
      <p:sp>
        <p:nvSpPr>
          <p:cNvPr id="18" name="TextBox 17"/>
          <p:cNvSpPr txBox="1"/>
          <p:nvPr/>
        </p:nvSpPr>
        <p:spPr>
          <a:xfrm>
            <a:off x="3931920" y="1280160"/>
            <a:ext cx="4846320" cy="292608"/>
          </a:xfrm>
          <a:prstGeom prst="rect">
            <a:avLst/>
          </a:prstGeom>
          <a:noFill/>
        </p:spPr>
        <p:txBody>
          <a:bodyPr wrap="square" lIns="45720" tIns="18288" rIns="45720" bIns="18288" anchor="t">
            <a:spAutoFit/>
          </a:bodyPr>
          <a:lstStyle/>
          <a:p>
            <a:pPr algn="l">
              <a:lnSpc>
                <a:spcPct val="115000"/>
              </a:lnSpc>
            </a:pPr>
            <a:r>
              <a:rPr sz="1200" b="1">
                <a:solidFill>
                  <a:srgbClr val="3457D5"/>
                </a:solidFill>
                <a:latin typeface="Yu Gothic UI"/>
              </a:rPr>
              <a:t>🎨 属性変更</a:t>
            </a:r>
          </a:p>
        </p:txBody>
      </p:sp>
      <p:sp>
        <p:nvSpPr>
          <p:cNvPr id="19" name="TextBox 18"/>
          <p:cNvSpPr txBox="1"/>
          <p:nvPr/>
        </p:nvSpPr>
        <p:spPr>
          <a:xfrm>
            <a:off x="3931920" y="1572768"/>
            <a:ext cx="4846320" cy="777240"/>
          </a:xfrm>
          <a:prstGeom prst="rect">
            <a:avLst/>
          </a:prstGeom>
          <a:noFill/>
        </p:spPr>
        <p:txBody>
          <a:bodyPr wrap="square" lIns="45720" tIns="18288" rIns="45720" bIns="18288" anchor="t">
            <a:spAutoFit/>
          </a:bodyPr>
          <a:lstStyle/>
          <a:p>
            <a:pPr algn="l">
              <a:lnSpc>
                <a:spcPct val="135000"/>
              </a:lnSpc>
            </a:pPr>
            <a:r>
              <a:rPr sz="1050" b="0">
                <a:solidFill>
                  <a:srgbClr val="36454F"/>
                </a:solidFill>
                <a:latin typeface="Yu Gothic UI"/>
              </a:rPr>
              <a:t>7種類の属性（契約前・契約中・契約終了・自社案件・第一土木・セミナー・その他）から選択します。選択するとタブの色が自動で変わります。</a:t>
            </a:r>
          </a:p>
        </p:txBody>
      </p:sp>
      <p:sp>
        <p:nvSpPr>
          <p:cNvPr id="20" name="TextBox 19"/>
          <p:cNvSpPr txBox="1"/>
          <p:nvPr/>
        </p:nvSpPr>
        <p:spPr>
          <a:xfrm>
            <a:off x="3931920" y="2359152"/>
            <a:ext cx="4846320" cy="292608"/>
          </a:xfrm>
          <a:prstGeom prst="rect">
            <a:avLst/>
          </a:prstGeom>
          <a:noFill/>
        </p:spPr>
        <p:txBody>
          <a:bodyPr wrap="square" lIns="45720" tIns="18288" rIns="45720" bIns="18288" anchor="t">
            <a:spAutoFit/>
          </a:bodyPr>
          <a:lstStyle/>
          <a:p>
            <a:pPr algn="l">
              <a:lnSpc>
                <a:spcPct val="115000"/>
              </a:lnSpc>
            </a:pPr>
            <a:r>
              <a:rPr sz="1200" b="1">
                <a:solidFill>
                  <a:srgbClr val="3457D5"/>
                </a:solidFill>
                <a:latin typeface="Yu Gothic UI"/>
              </a:rPr>
              <a:t>✏️ 現場名・詳細を編集</a:t>
            </a:r>
          </a:p>
        </p:txBody>
      </p:sp>
      <p:sp>
        <p:nvSpPr>
          <p:cNvPr id="21" name="TextBox 20"/>
          <p:cNvSpPr txBox="1"/>
          <p:nvPr/>
        </p:nvSpPr>
        <p:spPr>
          <a:xfrm>
            <a:off x="3931920" y="2651760"/>
            <a:ext cx="4846320" cy="777240"/>
          </a:xfrm>
          <a:prstGeom prst="rect">
            <a:avLst/>
          </a:prstGeom>
          <a:noFill/>
        </p:spPr>
        <p:txBody>
          <a:bodyPr wrap="square" lIns="45720" tIns="18288" rIns="45720" bIns="18288" anchor="t">
            <a:spAutoFit/>
          </a:bodyPr>
          <a:lstStyle/>
          <a:p>
            <a:pPr algn="l">
              <a:lnSpc>
                <a:spcPct val="135000"/>
              </a:lnSpc>
            </a:pPr>
            <a:r>
              <a:rPr sz="1050" b="0">
                <a:solidFill>
                  <a:srgbClr val="36454F"/>
                </a:solidFill>
                <a:latin typeface="Yu Gothic UI"/>
              </a:rPr>
              <a:t>現場名と詳細情報をダイアログから編集して保存します。F2 キーでも開けます。</a:t>
            </a:r>
          </a:p>
        </p:txBody>
      </p:sp>
      <p:sp>
        <p:nvSpPr>
          <p:cNvPr id="22" name="TextBox 21"/>
          <p:cNvSpPr txBox="1"/>
          <p:nvPr/>
        </p:nvSpPr>
        <p:spPr>
          <a:xfrm>
            <a:off x="3931920" y="3438144"/>
            <a:ext cx="4846320" cy="292608"/>
          </a:xfrm>
          <a:prstGeom prst="rect">
            <a:avLst/>
          </a:prstGeom>
          <a:noFill/>
        </p:spPr>
        <p:txBody>
          <a:bodyPr wrap="square" lIns="45720" tIns="18288" rIns="45720" bIns="18288" anchor="t">
            <a:spAutoFit/>
          </a:bodyPr>
          <a:lstStyle/>
          <a:p>
            <a:pPr algn="l">
              <a:lnSpc>
                <a:spcPct val="115000"/>
              </a:lnSpc>
            </a:pPr>
            <a:r>
              <a:rPr sz="1200" b="1">
                <a:solidFill>
                  <a:srgbClr val="3457D5"/>
                </a:solidFill>
                <a:latin typeface="Yu Gothic UI"/>
              </a:rPr>
              <a:t>📦 アーカイブ（非表示）</a:t>
            </a:r>
          </a:p>
        </p:txBody>
      </p:sp>
      <p:sp>
        <p:nvSpPr>
          <p:cNvPr id="23" name="TextBox 22"/>
          <p:cNvSpPr txBox="1"/>
          <p:nvPr/>
        </p:nvSpPr>
        <p:spPr>
          <a:xfrm>
            <a:off x="3931920" y="3730752"/>
            <a:ext cx="4846320" cy="777240"/>
          </a:xfrm>
          <a:prstGeom prst="rect">
            <a:avLst/>
          </a:prstGeom>
          <a:noFill/>
        </p:spPr>
        <p:txBody>
          <a:bodyPr wrap="square" lIns="45720" tIns="18288" rIns="45720" bIns="18288" anchor="t">
            <a:spAutoFit/>
          </a:bodyPr>
          <a:lstStyle/>
          <a:p>
            <a:pPr algn="l">
              <a:lnSpc>
                <a:spcPct val="135000"/>
              </a:lnSpc>
            </a:pPr>
            <a:r>
              <a:rPr sz="1050" b="0">
                <a:solidFill>
                  <a:srgbClr val="36454F"/>
                </a:solidFill>
                <a:latin typeface="Yu Gothic UI"/>
              </a:rPr>
              <a:t>タブを一時的に非表示にします。データは消えません。「設定 → アーカイブ済み現場」から復元できます。</a:t>
            </a:r>
          </a:p>
        </p:txBody>
      </p:sp>
      <p:sp>
        <p:nvSpPr>
          <p:cNvPr id="24" name="TextBox 23"/>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25" name="TextBox 24"/>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24 / 53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05</a:t>
            </a:r>
            <a:r>
              <a:rPr sz="2000" b="0">
                <a:solidFill>
                  <a:srgbClr val="3457D5"/>
                </a:solidFill>
                <a:latin typeface="Yu Gothic UI"/>
              </a:rPr>
              <a:t>　</a:t>
            </a:r>
            <a:r>
              <a:rPr sz="2000" b="1">
                <a:solidFill>
                  <a:srgbClr val="36454F"/>
                </a:solidFill>
                <a:latin typeface="Yu Gothic UI"/>
              </a:rPr>
              <a:t>現場タブの操作</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複数のタブを同時に選択して、まとめて操作することができます。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2743200" cy="237744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2743200" cy="45720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280160"/>
            <a:ext cx="2743200" cy="457200"/>
          </a:xfrm>
          <a:prstGeom prst="rect">
            <a:avLst/>
          </a:prstGeom>
          <a:noFill/>
        </p:spPr>
        <p:txBody>
          <a:bodyPr wrap="square" lIns="45720" tIns="18288" rIns="45720" bIns="18288" anchor="ctr">
            <a:spAutoFit/>
          </a:bodyPr>
          <a:lstStyle/>
          <a:p>
            <a:pPr algn="ctr">
              <a:lnSpc>
                <a:spcPct val="115000"/>
              </a:lnSpc>
            </a:pPr>
            <a:r>
              <a:rPr sz="1200" b="1">
                <a:solidFill>
                  <a:srgbClr val="FFFFFF"/>
                </a:solidFill>
                <a:latin typeface="Yu Gothic UI"/>
              </a:rPr>
              <a:t>Ctrl + クリック</a:t>
            </a:r>
          </a:p>
        </p:txBody>
      </p:sp>
      <p:sp>
        <p:nvSpPr>
          <p:cNvPr id="9" name="Rounded Rectangle 8"/>
          <p:cNvSpPr/>
          <p:nvPr/>
        </p:nvSpPr>
        <p:spPr>
          <a:xfrm>
            <a:off x="594360" y="1828800"/>
            <a:ext cx="2468880" cy="384048"/>
          </a:xfrm>
          <a:prstGeom prst="roundRect">
            <a:avLst>
              <a:gd name="adj" fmla="val 2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1828800"/>
            <a:ext cx="2468880" cy="384048"/>
          </a:xfrm>
          <a:prstGeom prst="rect">
            <a:avLst/>
          </a:prstGeom>
          <a:noFill/>
        </p:spPr>
        <p:txBody>
          <a:bodyPr wrap="square" lIns="45720" tIns="18288" rIns="45720" bIns="18288" anchor="ctr">
            <a:spAutoFit/>
          </a:bodyPr>
          <a:lstStyle/>
          <a:p>
            <a:pPr algn="ctr">
              <a:lnSpc>
                <a:spcPct val="115000"/>
              </a:lnSpc>
            </a:pPr>
            <a:r>
              <a:rPr sz="1100" b="1">
                <a:solidFill>
                  <a:srgbClr val="FFFFFF"/>
                </a:solidFill>
                <a:latin typeface="Yu Gothic UI"/>
              </a:rPr>
              <a:t>個別に追加・解除</a:t>
            </a:r>
          </a:p>
        </p:txBody>
      </p:sp>
      <p:sp>
        <p:nvSpPr>
          <p:cNvPr id="11" name="TextBox 10"/>
          <p:cNvSpPr txBox="1"/>
          <p:nvPr/>
        </p:nvSpPr>
        <p:spPr>
          <a:xfrm>
            <a:off x="640080" y="2331720"/>
            <a:ext cx="2377440" cy="1188720"/>
          </a:xfrm>
          <a:prstGeom prst="rect">
            <a:avLst/>
          </a:prstGeom>
          <a:noFill/>
        </p:spPr>
        <p:txBody>
          <a:bodyPr wrap="square" lIns="45720" tIns="18288" rIns="45720" bIns="18288" anchor="t">
            <a:spAutoFit/>
          </a:bodyPr>
          <a:lstStyle/>
          <a:p>
            <a:pPr algn="l">
              <a:lnSpc>
                <a:spcPct val="140000"/>
              </a:lnSpc>
            </a:pPr>
            <a:r>
              <a:rPr sz="1000" b="0">
                <a:solidFill>
                  <a:srgbClr val="36454F"/>
                </a:solidFill>
                <a:latin typeface="Yu Gothic UI"/>
              </a:rPr>
              <a:t>Ctrl キーを押しながらタブをクリックすると、選択中のタブに追加されます。</a:t>
            </a:r>
          </a:p>
          <a:p>
            <a:pPr algn="l">
              <a:lnSpc>
                <a:spcPct val="140000"/>
              </a:lnSpc>
            </a:pPr>
            <a:r>
              <a:rPr sz="1000" b="0">
                <a:solidFill>
                  <a:srgbClr val="36454F"/>
                </a:solidFill>
                <a:latin typeface="Yu Gothic UI"/>
              </a:rPr>
              <a:t>もう一度クリックすると解除されます。</a:t>
            </a:r>
          </a:p>
        </p:txBody>
      </p:sp>
      <p:sp>
        <p:nvSpPr>
          <p:cNvPr id="12" name="Rounded Rectangle 11"/>
          <p:cNvSpPr/>
          <p:nvPr/>
        </p:nvSpPr>
        <p:spPr>
          <a:xfrm>
            <a:off x="3264408" y="1280160"/>
            <a:ext cx="2743200" cy="237744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264408" y="1280160"/>
            <a:ext cx="2743200" cy="45720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64408" y="1280160"/>
            <a:ext cx="2743200" cy="457200"/>
          </a:xfrm>
          <a:prstGeom prst="rect">
            <a:avLst/>
          </a:prstGeom>
          <a:noFill/>
        </p:spPr>
        <p:txBody>
          <a:bodyPr wrap="square" lIns="45720" tIns="18288" rIns="45720" bIns="18288" anchor="ctr">
            <a:spAutoFit/>
          </a:bodyPr>
          <a:lstStyle/>
          <a:p>
            <a:pPr algn="ctr">
              <a:lnSpc>
                <a:spcPct val="115000"/>
              </a:lnSpc>
            </a:pPr>
            <a:r>
              <a:rPr sz="1200" b="1">
                <a:solidFill>
                  <a:srgbClr val="FFFFFF"/>
                </a:solidFill>
                <a:latin typeface="Yu Gothic UI"/>
              </a:rPr>
              <a:t>Shift + クリック</a:t>
            </a:r>
          </a:p>
        </p:txBody>
      </p:sp>
      <p:sp>
        <p:nvSpPr>
          <p:cNvPr id="15" name="Rounded Rectangle 14"/>
          <p:cNvSpPr/>
          <p:nvPr/>
        </p:nvSpPr>
        <p:spPr>
          <a:xfrm>
            <a:off x="3401568" y="1828800"/>
            <a:ext cx="2468880" cy="384048"/>
          </a:xfrm>
          <a:prstGeom prst="roundRect">
            <a:avLst>
              <a:gd name="adj" fmla="val 2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01568" y="1828800"/>
            <a:ext cx="2468880" cy="384048"/>
          </a:xfrm>
          <a:prstGeom prst="rect">
            <a:avLst/>
          </a:prstGeom>
          <a:noFill/>
        </p:spPr>
        <p:txBody>
          <a:bodyPr wrap="square" lIns="45720" tIns="18288" rIns="45720" bIns="18288" anchor="ctr">
            <a:spAutoFit/>
          </a:bodyPr>
          <a:lstStyle/>
          <a:p>
            <a:pPr algn="ctr">
              <a:lnSpc>
                <a:spcPct val="115000"/>
              </a:lnSpc>
            </a:pPr>
            <a:r>
              <a:rPr sz="1100" b="1">
                <a:solidFill>
                  <a:srgbClr val="FFFFFF"/>
                </a:solidFill>
                <a:latin typeface="Yu Gothic UI"/>
              </a:rPr>
              <a:t>範囲選択</a:t>
            </a:r>
          </a:p>
        </p:txBody>
      </p:sp>
      <p:sp>
        <p:nvSpPr>
          <p:cNvPr id="17" name="TextBox 16"/>
          <p:cNvSpPr txBox="1"/>
          <p:nvPr/>
        </p:nvSpPr>
        <p:spPr>
          <a:xfrm>
            <a:off x="3447288" y="2331720"/>
            <a:ext cx="2377440" cy="1188720"/>
          </a:xfrm>
          <a:prstGeom prst="rect">
            <a:avLst/>
          </a:prstGeom>
          <a:noFill/>
        </p:spPr>
        <p:txBody>
          <a:bodyPr wrap="square" lIns="45720" tIns="18288" rIns="45720" bIns="18288" anchor="t">
            <a:spAutoFit/>
          </a:bodyPr>
          <a:lstStyle/>
          <a:p>
            <a:pPr algn="l">
              <a:lnSpc>
                <a:spcPct val="140000"/>
              </a:lnSpc>
            </a:pPr>
            <a:r>
              <a:rPr sz="1000" b="0">
                <a:solidFill>
                  <a:srgbClr val="36454F"/>
                </a:solidFill>
                <a:latin typeface="Yu Gothic UI"/>
              </a:rPr>
              <a:t>Shift キーを押しながらタブをクリックすると、最初に選択したタブからクリックしたタブまでの範囲がまとめて選択されます。</a:t>
            </a:r>
          </a:p>
        </p:txBody>
      </p:sp>
      <p:sp>
        <p:nvSpPr>
          <p:cNvPr id="18" name="Rounded Rectangle 17"/>
          <p:cNvSpPr/>
          <p:nvPr/>
        </p:nvSpPr>
        <p:spPr>
          <a:xfrm>
            <a:off x="6071616" y="1280160"/>
            <a:ext cx="2743200" cy="237744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071616" y="1280160"/>
            <a:ext cx="2743200" cy="45720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071616" y="1280160"/>
            <a:ext cx="2743200" cy="457200"/>
          </a:xfrm>
          <a:prstGeom prst="rect">
            <a:avLst/>
          </a:prstGeom>
          <a:noFill/>
        </p:spPr>
        <p:txBody>
          <a:bodyPr wrap="square" lIns="45720" tIns="18288" rIns="45720" bIns="18288" anchor="ctr">
            <a:spAutoFit/>
          </a:bodyPr>
          <a:lstStyle/>
          <a:p>
            <a:pPr algn="ctr">
              <a:lnSpc>
                <a:spcPct val="115000"/>
              </a:lnSpc>
            </a:pPr>
            <a:r>
              <a:rPr sz="1200" b="1">
                <a:solidFill>
                  <a:srgbClr val="FFFFFF"/>
                </a:solidFill>
                <a:latin typeface="Yu Gothic UI"/>
              </a:rPr>
              <a:t>通常のクリック</a:t>
            </a:r>
          </a:p>
        </p:txBody>
      </p:sp>
      <p:sp>
        <p:nvSpPr>
          <p:cNvPr id="21" name="Rounded Rectangle 20"/>
          <p:cNvSpPr/>
          <p:nvPr/>
        </p:nvSpPr>
        <p:spPr>
          <a:xfrm>
            <a:off x="6208776" y="1828800"/>
            <a:ext cx="2468880" cy="384048"/>
          </a:xfrm>
          <a:prstGeom prst="roundRect">
            <a:avLst>
              <a:gd name="adj" fmla="val 2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08776" y="1828800"/>
            <a:ext cx="2468880" cy="384048"/>
          </a:xfrm>
          <a:prstGeom prst="rect">
            <a:avLst/>
          </a:prstGeom>
          <a:noFill/>
        </p:spPr>
        <p:txBody>
          <a:bodyPr wrap="square" lIns="45720" tIns="18288" rIns="45720" bIns="18288" anchor="ctr">
            <a:spAutoFit/>
          </a:bodyPr>
          <a:lstStyle/>
          <a:p>
            <a:pPr algn="ctr">
              <a:lnSpc>
                <a:spcPct val="115000"/>
              </a:lnSpc>
            </a:pPr>
            <a:r>
              <a:rPr sz="1100" b="1">
                <a:solidFill>
                  <a:srgbClr val="FFFFFF"/>
                </a:solidFill>
                <a:latin typeface="Yu Gothic UI"/>
              </a:rPr>
              <a:t>選択をリセット</a:t>
            </a:r>
          </a:p>
        </p:txBody>
      </p:sp>
      <p:sp>
        <p:nvSpPr>
          <p:cNvPr id="23" name="TextBox 22"/>
          <p:cNvSpPr txBox="1"/>
          <p:nvPr/>
        </p:nvSpPr>
        <p:spPr>
          <a:xfrm>
            <a:off x="6254496" y="2331720"/>
            <a:ext cx="2377440" cy="1188720"/>
          </a:xfrm>
          <a:prstGeom prst="rect">
            <a:avLst/>
          </a:prstGeom>
          <a:noFill/>
        </p:spPr>
        <p:txBody>
          <a:bodyPr wrap="square" lIns="45720" tIns="18288" rIns="45720" bIns="18288" anchor="t">
            <a:spAutoFit/>
          </a:bodyPr>
          <a:lstStyle/>
          <a:p>
            <a:pPr algn="l">
              <a:lnSpc>
                <a:spcPct val="140000"/>
              </a:lnSpc>
            </a:pPr>
            <a:r>
              <a:rPr sz="1000" b="0">
                <a:solidFill>
                  <a:srgbClr val="36454F"/>
                </a:solidFill>
                <a:latin typeface="Yu Gothic UI"/>
              </a:rPr>
              <a:t>Ctrl も Shift も押さずに通常クリックすると、複数選択の状態が解除され、クリックしたタブのみが選択されます。</a:t>
            </a:r>
          </a:p>
        </p:txBody>
      </p:sp>
      <p:sp>
        <p:nvSpPr>
          <p:cNvPr id="24" name="Rounded Rectangle 23"/>
          <p:cNvSpPr/>
          <p:nvPr/>
        </p:nvSpPr>
        <p:spPr>
          <a:xfrm>
            <a:off x="457200" y="3840480"/>
            <a:ext cx="8321040" cy="77724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 y="3931920"/>
            <a:ext cx="7955280" cy="594360"/>
          </a:xfrm>
          <a:prstGeom prst="rect">
            <a:avLst/>
          </a:prstGeom>
          <a:noFill/>
        </p:spPr>
        <p:txBody>
          <a:bodyPr wrap="square" lIns="45720" tIns="18288" rIns="45720" bIns="18288" anchor="ctr">
            <a:spAutoFit/>
          </a:bodyPr>
          <a:lstStyle/>
          <a:p>
            <a:pPr algn="l">
              <a:lnSpc>
                <a:spcPct val="135000"/>
              </a:lnSpc>
            </a:pPr>
            <a:r>
              <a:rPr sz="1300" b="0">
                <a:solidFill>
                  <a:srgbClr val="E88B3A"/>
                </a:solidFill>
                <a:latin typeface="Yu Gothic UI"/>
              </a:rPr>
              <a:t>💡  </a:t>
            </a:r>
            <a:r>
              <a:rPr sz="1100" b="1">
                <a:solidFill>
                  <a:srgbClr val="3457D5"/>
                </a:solidFill>
                <a:latin typeface="Yu Gothic UI"/>
              </a:rPr>
              <a:t>ポイント：</a:t>
            </a:r>
            <a:r>
              <a:rPr sz="1050" b="0">
                <a:solidFill>
                  <a:srgbClr val="36454F"/>
                </a:solidFill>
                <a:latin typeface="Yu Gothic UI"/>
              </a:rPr>
              <a:t>選択中のタブはハイライト表示されます。複数選択したまま右クリックすると、一括属性変更・一括アーカイブのメニューが追加で表示されます。</a:t>
            </a:r>
          </a:p>
        </p:txBody>
      </p:sp>
      <p:sp>
        <p:nvSpPr>
          <p:cNvPr id="26" name="TextBox 25"/>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27" name="TextBox 26"/>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25 / 53</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05</a:t>
            </a:r>
            <a:r>
              <a:rPr sz="2000" b="0">
                <a:solidFill>
                  <a:srgbClr val="3457D5"/>
                </a:solidFill>
                <a:latin typeface="Yu Gothic UI"/>
              </a:rPr>
              <a:t>　</a:t>
            </a:r>
            <a:r>
              <a:rPr sz="2000" b="1">
                <a:solidFill>
                  <a:srgbClr val="36454F"/>
                </a:solidFill>
                <a:latin typeface="Yu Gothic UI"/>
              </a:rPr>
              <a:t>現場タブの操作</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複数のタブの属性をまとめて変更できます。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1908810" cy="23317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190881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280160"/>
            <a:ext cx="190881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1</a:t>
            </a:r>
          </a:p>
        </p:txBody>
      </p:sp>
      <p:sp>
        <p:nvSpPr>
          <p:cNvPr id="9" name="TextBox 8"/>
          <p:cNvSpPr txBox="1"/>
          <p:nvPr/>
        </p:nvSpPr>
        <p:spPr>
          <a:xfrm>
            <a:off x="548640" y="1664208"/>
            <a:ext cx="172593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複数タブを選択</a:t>
            </a:r>
          </a:p>
        </p:txBody>
      </p:sp>
      <p:sp>
        <p:nvSpPr>
          <p:cNvPr id="10" name="TextBox 9"/>
          <p:cNvSpPr txBox="1"/>
          <p:nvPr/>
        </p:nvSpPr>
        <p:spPr>
          <a:xfrm>
            <a:off x="548640" y="2057400"/>
            <a:ext cx="1725930" cy="146304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Ctrl + クリックや Shift + クリックで、属性を変更したいタブを複数選択します。</a:t>
            </a:r>
          </a:p>
        </p:txBody>
      </p:sp>
      <p:sp>
        <p:nvSpPr>
          <p:cNvPr id="11" name="Right Arrow 10"/>
          <p:cNvSpPr/>
          <p:nvPr/>
        </p:nvSpPr>
        <p:spPr>
          <a:xfrm>
            <a:off x="2384298" y="2336292"/>
            <a:ext cx="201168" cy="219456"/>
          </a:xfrm>
          <a:prstGeom prst="rightArrow">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594610" y="1280160"/>
            <a:ext cx="1908810" cy="23317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94610" y="1280160"/>
            <a:ext cx="190881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94610" y="1280160"/>
            <a:ext cx="190881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2</a:t>
            </a:r>
          </a:p>
        </p:txBody>
      </p:sp>
      <p:sp>
        <p:nvSpPr>
          <p:cNvPr id="15" name="TextBox 14"/>
          <p:cNvSpPr txBox="1"/>
          <p:nvPr/>
        </p:nvSpPr>
        <p:spPr>
          <a:xfrm>
            <a:off x="2686050" y="1664208"/>
            <a:ext cx="172593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右クリックでメニュー</a:t>
            </a:r>
          </a:p>
        </p:txBody>
      </p:sp>
      <p:sp>
        <p:nvSpPr>
          <p:cNvPr id="16" name="TextBox 15"/>
          <p:cNvSpPr txBox="1"/>
          <p:nvPr/>
        </p:nvSpPr>
        <p:spPr>
          <a:xfrm>
            <a:off x="2686050" y="2057400"/>
            <a:ext cx="1725930" cy="146304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選択中のタブのいずれかを右クリックすると、操作メニューが開きます。</a:t>
            </a:r>
          </a:p>
        </p:txBody>
      </p:sp>
      <p:sp>
        <p:nvSpPr>
          <p:cNvPr id="17" name="Right Arrow 16"/>
          <p:cNvSpPr/>
          <p:nvPr/>
        </p:nvSpPr>
        <p:spPr>
          <a:xfrm>
            <a:off x="4521708" y="2336292"/>
            <a:ext cx="201168" cy="219456"/>
          </a:xfrm>
          <a:prstGeom prst="rightArrow">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732020" y="1280160"/>
            <a:ext cx="1908810" cy="23317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732020" y="1280160"/>
            <a:ext cx="190881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732020" y="1280160"/>
            <a:ext cx="190881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3</a:t>
            </a:r>
          </a:p>
        </p:txBody>
      </p:sp>
      <p:sp>
        <p:nvSpPr>
          <p:cNvPr id="21" name="TextBox 20"/>
          <p:cNvSpPr txBox="1"/>
          <p:nvPr/>
        </p:nvSpPr>
        <p:spPr>
          <a:xfrm>
            <a:off x="4823460" y="1664208"/>
            <a:ext cx="172593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「一括属性変更」を選択</a:t>
            </a:r>
          </a:p>
        </p:txBody>
      </p:sp>
      <p:sp>
        <p:nvSpPr>
          <p:cNvPr id="22" name="TextBox 21"/>
          <p:cNvSpPr txBox="1"/>
          <p:nvPr/>
        </p:nvSpPr>
        <p:spPr>
          <a:xfrm>
            <a:off x="4823460" y="2057400"/>
            <a:ext cx="1725930" cy="146304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メニュー内の「一括属性変更」をクリックすると、専用のダイアログが開きます。</a:t>
            </a:r>
          </a:p>
        </p:txBody>
      </p:sp>
      <p:sp>
        <p:nvSpPr>
          <p:cNvPr id="23" name="Right Arrow 22"/>
          <p:cNvSpPr/>
          <p:nvPr/>
        </p:nvSpPr>
        <p:spPr>
          <a:xfrm>
            <a:off x="6659118" y="2336292"/>
            <a:ext cx="201168" cy="219456"/>
          </a:xfrm>
          <a:prstGeom prst="rightArrow">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869430" y="1280160"/>
            <a:ext cx="1908810" cy="23317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869430" y="1280160"/>
            <a:ext cx="190881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69430" y="1280160"/>
            <a:ext cx="190881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4</a:t>
            </a:r>
          </a:p>
        </p:txBody>
      </p:sp>
      <p:sp>
        <p:nvSpPr>
          <p:cNvPr id="27" name="TextBox 26"/>
          <p:cNvSpPr txBox="1"/>
          <p:nvPr/>
        </p:nvSpPr>
        <p:spPr>
          <a:xfrm>
            <a:off x="6960870" y="1664208"/>
            <a:ext cx="172593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属性を選んで適用</a:t>
            </a:r>
          </a:p>
        </p:txBody>
      </p:sp>
      <p:sp>
        <p:nvSpPr>
          <p:cNvPr id="28" name="TextBox 27"/>
          <p:cNvSpPr txBox="1"/>
          <p:nvPr/>
        </p:nvSpPr>
        <p:spPr>
          <a:xfrm>
            <a:off x="6960870" y="2057400"/>
            <a:ext cx="1725930" cy="146304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ダイアログで新しい属性を選択して「適用」を押すと、選択中の全タブの属性とタブ色が一括で変わります。</a:t>
            </a:r>
          </a:p>
        </p:txBody>
      </p:sp>
      <p:sp>
        <p:nvSpPr>
          <p:cNvPr id="29" name="Rounded Rectangle 28"/>
          <p:cNvSpPr/>
          <p:nvPr/>
        </p:nvSpPr>
        <p:spPr>
          <a:xfrm>
            <a:off x="457200" y="3749039"/>
            <a:ext cx="8321040" cy="914400"/>
          </a:xfrm>
          <a:prstGeom prst="roundRect">
            <a:avLst>
              <a:gd name="adj" fmla="val 5000"/>
            </a:avLst>
          </a:prstGeom>
          <a:solidFill>
            <a:srgbClr val="FAFBFD"/>
          </a:solidFill>
          <a:ln w="19050">
            <a:solidFill>
              <a:srgbClr val="C43D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548640" y="3840479"/>
            <a:ext cx="2779776" cy="292608"/>
          </a:xfrm>
          <a:prstGeom prst="roundRect">
            <a:avLst>
              <a:gd name="adj" fmla="val 40000"/>
            </a:avLst>
          </a:prstGeom>
          <a:solidFill>
            <a:srgbClr val="C43D4A"/>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l"/>
            <a:r>
              <a:rPr sz="1000" b="1">
                <a:solidFill>
                  <a:srgbClr val="FFFFFF"/>
                </a:solidFill>
                <a:latin typeface="Yu Gothic UI"/>
              </a:rPr>
              <a:t>📷 スクショ：一括属性変更ダイアログ</a:t>
            </a:r>
          </a:p>
        </p:txBody>
      </p:sp>
      <p:sp>
        <p:nvSpPr>
          <p:cNvPr id="31" name="TextBox 30"/>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32" name="TextBox 31"/>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26 / 53</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05</a:t>
            </a:r>
            <a:r>
              <a:rPr sz="2000" b="0">
                <a:solidFill>
                  <a:srgbClr val="3457D5"/>
                </a:solidFill>
                <a:latin typeface="Yu Gothic UI"/>
              </a:rPr>
              <a:t>　</a:t>
            </a:r>
            <a:r>
              <a:rPr sz="2000" b="1">
                <a:solidFill>
                  <a:srgbClr val="36454F"/>
                </a:solidFill>
                <a:latin typeface="Yu Gothic UI"/>
              </a:rPr>
              <a:t>現場タブの操作</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複数のタブをまとめてアーカイブ（非表示）できます。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2621280" cy="23317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262128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280160"/>
            <a:ext cx="262128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1</a:t>
            </a:r>
          </a:p>
        </p:txBody>
      </p:sp>
      <p:sp>
        <p:nvSpPr>
          <p:cNvPr id="9" name="TextBox 8"/>
          <p:cNvSpPr txBox="1"/>
          <p:nvPr/>
        </p:nvSpPr>
        <p:spPr>
          <a:xfrm>
            <a:off x="548640" y="1664208"/>
            <a:ext cx="243840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複数タブを選択</a:t>
            </a:r>
          </a:p>
        </p:txBody>
      </p:sp>
      <p:sp>
        <p:nvSpPr>
          <p:cNvPr id="10" name="TextBox 9"/>
          <p:cNvSpPr txBox="1"/>
          <p:nvPr/>
        </p:nvSpPr>
        <p:spPr>
          <a:xfrm>
            <a:off x="548640" y="2057400"/>
            <a:ext cx="2438400" cy="146304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Ctrl + クリックや Shift + クリックで、アーカイブしたいタブを複数選択します。</a:t>
            </a:r>
          </a:p>
        </p:txBody>
      </p:sp>
      <p:sp>
        <p:nvSpPr>
          <p:cNvPr id="11" name="Right Arrow 10"/>
          <p:cNvSpPr/>
          <p:nvPr/>
        </p:nvSpPr>
        <p:spPr>
          <a:xfrm>
            <a:off x="3096768" y="2336292"/>
            <a:ext cx="201168" cy="219456"/>
          </a:xfrm>
          <a:prstGeom prst="rightArrow">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307080" y="1280160"/>
            <a:ext cx="2621280" cy="23317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307080" y="1280160"/>
            <a:ext cx="262128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07080" y="1280160"/>
            <a:ext cx="262128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2</a:t>
            </a:r>
          </a:p>
        </p:txBody>
      </p:sp>
      <p:sp>
        <p:nvSpPr>
          <p:cNvPr id="15" name="TextBox 14"/>
          <p:cNvSpPr txBox="1"/>
          <p:nvPr/>
        </p:nvSpPr>
        <p:spPr>
          <a:xfrm>
            <a:off x="3398520" y="1664208"/>
            <a:ext cx="243840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右クリックでメニュー</a:t>
            </a:r>
          </a:p>
        </p:txBody>
      </p:sp>
      <p:sp>
        <p:nvSpPr>
          <p:cNvPr id="16" name="TextBox 15"/>
          <p:cNvSpPr txBox="1"/>
          <p:nvPr/>
        </p:nvSpPr>
        <p:spPr>
          <a:xfrm>
            <a:off x="3398520" y="2057400"/>
            <a:ext cx="2438400" cy="146304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選択中のタブを右クリックすると、操作メニューが開きます。</a:t>
            </a:r>
          </a:p>
        </p:txBody>
      </p:sp>
      <p:sp>
        <p:nvSpPr>
          <p:cNvPr id="17" name="Right Arrow 16"/>
          <p:cNvSpPr/>
          <p:nvPr/>
        </p:nvSpPr>
        <p:spPr>
          <a:xfrm>
            <a:off x="5946648" y="2336292"/>
            <a:ext cx="201168" cy="219456"/>
          </a:xfrm>
          <a:prstGeom prst="rightArrow">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156960" y="1280160"/>
            <a:ext cx="2621280" cy="23317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56960" y="1280160"/>
            <a:ext cx="262128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56960" y="1280160"/>
            <a:ext cx="262128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3</a:t>
            </a:r>
          </a:p>
        </p:txBody>
      </p:sp>
      <p:sp>
        <p:nvSpPr>
          <p:cNvPr id="21" name="TextBox 20"/>
          <p:cNvSpPr txBox="1"/>
          <p:nvPr/>
        </p:nvSpPr>
        <p:spPr>
          <a:xfrm>
            <a:off x="6248400" y="1664208"/>
            <a:ext cx="243840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「一括アーカイブ」を選択</a:t>
            </a:r>
          </a:p>
        </p:txBody>
      </p:sp>
      <p:sp>
        <p:nvSpPr>
          <p:cNvPr id="22" name="TextBox 21"/>
          <p:cNvSpPr txBox="1"/>
          <p:nvPr/>
        </p:nvSpPr>
        <p:spPr>
          <a:xfrm>
            <a:off x="6248400" y="2057400"/>
            <a:ext cx="2438400" cy="146304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メニュー内の「一括アーカイブ」をクリックすると、選択中の全タブが一度にアーカイブされます。</a:t>
            </a:r>
          </a:p>
        </p:txBody>
      </p:sp>
      <p:sp>
        <p:nvSpPr>
          <p:cNvPr id="23" name="Rounded Rectangle 22"/>
          <p:cNvSpPr/>
          <p:nvPr/>
        </p:nvSpPr>
        <p:spPr>
          <a:xfrm>
            <a:off x="457200" y="3749039"/>
            <a:ext cx="8321040" cy="86868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3840479"/>
            <a:ext cx="7955280" cy="685800"/>
          </a:xfrm>
          <a:prstGeom prst="rect">
            <a:avLst/>
          </a:prstGeom>
          <a:noFill/>
        </p:spPr>
        <p:txBody>
          <a:bodyPr wrap="square" lIns="45720" tIns="18288" rIns="45720" bIns="18288" anchor="ctr">
            <a:spAutoFit/>
          </a:bodyPr>
          <a:lstStyle/>
          <a:p>
            <a:pPr algn="l">
              <a:lnSpc>
                <a:spcPct val="135000"/>
              </a:lnSpc>
            </a:pPr>
            <a:r>
              <a:rPr sz="1300" b="0">
                <a:solidFill>
                  <a:srgbClr val="E88B3A"/>
                </a:solidFill>
                <a:latin typeface="Yu Gothic UI"/>
              </a:rPr>
              <a:t>💡  </a:t>
            </a:r>
            <a:r>
              <a:rPr sz="1100" b="1">
                <a:solidFill>
                  <a:srgbClr val="3457D5"/>
                </a:solidFill>
                <a:latin typeface="Yu Gothic UI"/>
              </a:rPr>
              <a:t>復元方法：</a:t>
            </a:r>
            <a:r>
              <a:rPr sz="1050" b="0">
                <a:solidFill>
                  <a:srgbClr val="36454F"/>
                </a:solidFill>
                <a:latin typeface="Yu Gothic UI"/>
              </a:rPr>
              <a:t>アーカイブしたタブのデータは消えていません。</a:t>
            </a:r>
          </a:p>
          <a:p>
            <a:pPr algn="l">
              <a:lnSpc>
                <a:spcPct val="135000"/>
              </a:lnSpc>
            </a:pPr>
            <a:r>
              <a:rPr sz="1050" b="0">
                <a:solidFill>
                  <a:srgbClr val="36454F"/>
                </a:solidFill>
                <a:latin typeface="Yu Gothic UI"/>
              </a:rPr>
              <a:t>「設定 → アーカイブ済み現場」の画面から、チェックボックスで複数選択して「復元」ボタンを押すと、現場タブに戻すことができます。</a:t>
            </a:r>
          </a:p>
        </p:txBody>
      </p:sp>
      <p:sp>
        <p:nvSpPr>
          <p:cNvPr id="25" name="TextBox 24"/>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26" name="TextBox 25"/>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27 / 53</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06</a:t>
            </a:r>
            <a:r>
              <a:rPr sz="2000" b="0">
                <a:solidFill>
                  <a:srgbClr val="3457D5"/>
                </a:solidFill>
                <a:latin typeface="Yu Gothic UI"/>
              </a:rPr>
              <a:t>　</a:t>
            </a:r>
            <a:r>
              <a:rPr sz="2000" b="1">
                <a:solidFill>
                  <a:srgbClr val="36454F"/>
                </a:solidFill>
                <a:latin typeface="Yu Gothic UI"/>
              </a:rPr>
              <a:t>絞り込みタブ</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絞り込みタブとは、現場タブの中に作る条件付きのサブタブです。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5029200" cy="3200400"/>
          </a:xfrm>
          <a:prstGeom prst="roundRect">
            <a:avLst>
              <a:gd name="adj" fmla="val 3000"/>
            </a:avLst>
          </a:prstGeom>
          <a:solidFill>
            <a:srgbClr val="FFFFFF"/>
          </a:solidFill>
          <a:ln w="12700">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5029200" cy="36576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280160"/>
            <a:ext cx="4663440" cy="365760"/>
          </a:xfrm>
          <a:prstGeom prst="rect">
            <a:avLst/>
          </a:prstGeom>
          <a:noFill/>
        </p:spPr>
        <p:txBody>
          <a:bodyPr wrap="square" lIns="45720" tIns="18288" rIns="45720" bIns="18288" anchor="ctr">
            <a:spAutoFit/>
          </a:bodyPr>
          <a:lstStyle/>
          <a:p>
            <a:pPr algn="l">
              <a:lnSpc>
                <a:spcPct val="115000"/>
              </a:lnSpc>
            </a:pPr>
            <a:r>
              <a:rPr sz="1100" b="1" dirty="0" err="1">
                <a:solidFill>
                  <a:srgbClr val="FFFFFF"/>
                </a:solidFill>
                <a:latin typeface="Yu Gothic UI"/>
              </a:rPr>
              <a:t>現場タブ：第一土木A</a:t>
            </a:r>
            <a:endParaRPr sz="1100" b="1" dirty="0">
              <a:solidFill>
                <a:srgbClr val="FFFFFF"/>
              </a:solidFill>
              <a:latin typeface="Yu Gothic UI"/>
            </a:endParaRPr>
          </a:p>
        </p:txBody>
      </p:sp>
      <p:sp>
        <p:nvSpPr>
          <p:cNvPr id="9" name="Rounded Rectangle 8"/>
          <p:cNvSpPr/>
          <p:nvPr/>
        </p:nvSpPr>
        <p:spPr>
          <a:xfrm>
            <a:off x="640080" y="1783080"/>
            <a:ext cx="1051560" cy="292608"/>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783080"/>
            <a:ext cx="1051560" cy="292608"/>
          </a:xfrm>
          <a:prstGeom prst="rect">
            <a:avLst/>
          </a:prstGeom>
          <a:noFill/>
        </p:spPr>
        <p:txBody>
          <a:bodyPr wrap="square" lIns="45720" tIns="18288" rIns="45720" bIns="18288" anchor="ctr">
            <a:spAutoFit/>
          </a:bodyPr>
          <a:lstStyle/>
          <a:p>
            <a:pPr algn="ctr">
              <a:lnSpc>
                <a:spcPct val="115000"/>
              </a:lnSpc>
            </a:pPr>
            <a:r>
              <a:rPr sz="900" b="1">
                <a:solidFill>
                  <a:srgbClr val="FFFFFF"/>
                </a:solidFill>
                <a:latin typeface="Yu Gothic UI"/>
              </a:rPr>
              <a:t>全体</a:t>
            </a:r>
          </a:p>
        </p:txBody>
      </p:sp>
      <p:sp>
        <p:nvSpPr>
          <p:cNvPr id="11" name="Rounded Rectangle 10"/>
          <p:cNvSpPr/>
          <p:nvPr/>
        </p:nvSpPr>
        <p:spPr>
          <a:xfrm>
            <a:off x="1737360" y="1783080"/>
            <a:ext cx="1051560" cy="292608"/>
          </a:xfrm>
          <a:prstGeom prst="roundRect">
            <a:avLst>
              <a:gd name="adj" fmla="val 15000"/>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737360" y="1783080"/>
            <a:ext cx="1051560" cy="292608"/>
          </a:xfrm>
          <a:prstGeom prst="rect">
            <a:avLst/>
          </a:prstGeom>
          <a:noFill/>
        </p:spPr>
        <p:txBody>
          <a:bodyPr wrap="square" lIns="45720" tIns="18288" rIns="45720" bIns="18288" anchor="ctr">
            <a:spAutoFit/>
          </a:bodyPr>
          <a:lstStyle/>
          <a:p>
            <a:pPr algn="ctr">
              <a:lnSpc>
                <a:spcPct val="115000"/>
              </a:lnSpc>
            </a:pPr>
            <a:r>
              <a:rPr sz="900" b="1">
                <a:solidFill>
                  <a:srgbClr val="3457D5"/>
                </a:solidFill>
                <a:latin typeface="Yu Gothic UI"/>
              </a:rPr>
              <a:t>4月度のみ</a:t>
            </a:r>
          </a:p>
        </p:txBody>
      </p:sp>
      <p:sp>
        <p:nvSpPr>
          <p:cNvPr id="13" name="Rounded Rectangle 12"/>
          <p:cNvSpPr/>
          <p:nvPr/>
        </p:nvSpPr>
        <p:spPr>
          <a:xfrm>
            <a:off x="2834640" y="1783080"/>
            <a:ext cx="1051560" cy="292608"/>
          </a:xfrm>
          <a:prstGeom prst="roundRect">
            <a:avLst>
              <a:gd name="adj" fmla="val 15000"/>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834640" y="1783080"/>
            <a:ext cx="1051560" cy="292608"/>
          </a:xfrm>
          <a:prstGeom prst="rect">
            <a:avLst/>
          </a:prstGeom>
          <a:noFill/>
        </p:spPr>
        <p:txBody>
          <a:bodyPr wrap="square" lIns="45720" tIns="18288" rIns="45720" bIns="18288" anchor="ctr">
            <a:spAutoFit/>
          </a:bodyPr>
          <a:lstStyle/>
          <a:p>
            <a:pPr algn="ctr">
              <a:lnSpc>
                <a:spcPct val="115000"/>
              </a:lnSpc>
            </a:pPr>
            <a:r>
              <a:rPr sz="900" b="1">
                <a:solidFill>
                  <a:srgbClr val="3457D5"/>
                </a:solidFill>
                <a:latin typeface="Yu Gothic UI"/>
              </a:rPr>
              <a:t>仲 良智</a:t>
            </a:r>
          </a:p>
        </p:txBody>
      </p:sp>
      <p:sp>
        <p:nvSpPr>
          <p:cNvPr id="15" name="Rounded Rectangle 14"/>
          <p:cNvSpPr/>
          <p:nvPr/>
        </p:nvSpPr>
        <p:spPr>
          <a:xfrm>
            <a:off x="3931920" y="1783080"/>
            <a:ext cx="1051560" cy="292608"/>
          </a:xfrm>
          <a:prstGeom prst="roundRect">
            <a:avLst>
              <a:gd name="adj" fmla="val 15000"/>
            </a:avLst>
          </a:prstGeom>
          <a:solidFill>
            <a:srgbClr val="FFFFFF"/>
          </a:solidFill>
          <a:ln w="9525">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931920" y="1783080"/>
            <a:ext cx="1051560" cy="292608"/>
          </a:xfrm>
          <a:prstGeom prst="rect">
            <a:avLst/>
          </a:prstGeom>
          <a:noFill/>
        </p:spPr>
        <p:txBody>
          <a:bodyPr wrap="square" lIns="45720" tIns="18288" rIns="45720" bIns="18288" anchor="ctr">
            <a:spAutoFit/>
          </a:bodyPr>
          <a:lstStyle/>
          <a:p>
            <a:pPr algn="ctr">
              <a:lnSpc>
                <a:spcPct val="115000"/>
              </a:lnSpc>
            </a:pPr>
            <a:r>
              <a:rPr sz="900" b="1">
                <a:solidFill>
                  <a:srgbClr val="7A8899"/>
                </a:solidFill>
                <a:latin typeface="Yu Gothic UI"/>
              </a:rPr>
              <a:t>＋追加</a:t>
            </a:r>
          </a:p>
        </p:txBody>
      </p:sp>
      <p:sp>
        <p:nvSpPr>
          <p:cNvPr id="17" name="Rectangle 16"/>
          <p:cNvSpPr/>
          <p:nvPr/>
        </p:nvSpPr>
        <p:spPr>
          <a:xfrm>
            <a:off x="640080" y="2194560"/>
            <a:ext cx="4663440" cy="2148840"/>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2194560"/>
            <a:ext cx="4663440" cy="2148840"/>
          </a:xfrm>
          <a:prstGeom prst="rect">
            <a:avLst/>
          </a:prstGeom>
          <a:noFill/>
        </p:spPr>
        <p:txBody>
          <a:bodyPr wrap="square" lIns="45720" tIns="18288" rIns="45720" bIns="18288" anchor="ctr">
            <a:spAutoFit/>
          </a:bodyPr>
          <a:lstStyle/>
          <a:p>
            <a:pPr algn="ctr">
              <a:lnSpc>
                <a:spcPct val="140000"/>
              </a:lnSpc>
            </a:pPr>
            <a:r>
              <a:rPr sz="1100" b="1">
                <a:solidFill>
                  <a:srgbClr val="1E3A8A"/>
                </a:solidFill>
                <a:latin typeface="Yu Gothic UI"/>
              </a:rPr>
              <a:t>選択中の絞り込みタブの条件で</a:t>
            </a:r>
          </a:p>
          <a:p>
            <a:pPr algn="ctr">
              <a:lnSpc>
                <a:spcPct val="140000"/>
              </a:lnSpc>
            </a:pPr>
            <a:r>
              <a:rPr sz="1100" b="1">
                <a:solidFill>
                  <a:srgbClr val="1E3A8A"/>
                </a:solidFill>
                <a:latin typeface="Yu Gothic UI"/>
              </a:rPr>
              <a:t>絞り込まれた原価明細</a:t>
            </a:r>
          </a:p>
        </p:txBody>
      </p:sp>
      <p:sp>
        <p:nvSpPr>
          <p:cNvPr id="19" name="TextBox 18"/>
          <p:cNvSpPr txBox="1"/>
          <p:nvPr/>
        </p:nvSpPr>
        <p:spPr>
          <a:xfrm>
            <a:off x="5623560" y="1280160"/>
            <a:ext cx="3154680" cy="292608"/>
          </a:xfrm>
          <a:prstGeom prst="rect">
            <a:avLst/>
          </a:prstGeom>
          <a:noFill/>
        </p:spPr>
        <p:txBody>
          <a:bodyPr wrap="square" lIns="45720" tIns="18288" rIns="45720" bIns="18288" anchor="t">
            <a:spAutoFit/>
          </a:bodyPr>
          <a:lstStyle/>
          <a:p>
            <a:pPr algn="l">
              <a:lnSpc>
                <a:spcPct val="115000"/>
              </a:lnSpc>
            </a:pPr>
            <a:r>
              <a:rPr sz="1400" b="1">
                <a:solidFill>
                  <a:srgbClr val="3457D5"/>
                </a:solidFill>
                <a:latin typeface="Yu Gothic UI"/>
              </a:rPr>
              <a:t>絞り込みタブとは</a:t>
            </a:r>
          </a:p>
        </p:txBody>
      </p:sp>
      <p:sp>
        <p:nvSpPr>
          <p:cNvPr id="20" name="TextBox 19"/>
          <p:cNvSpPr txBox="1"/>
          <p:nvPr/>
        </p:nvSpPr>
        <p:spPr>
          <a:xfrm>
            <a:off x="5623560" y="1664208"/>
            <a:ext cx="3154680" cy="1828800"/>
          </a:xfrm>
          <a:prstGeom prst="rect">
            <a:avLst/>
          </a:prstGeom>
          <a:noFill/>
        </p:spPr>
        <p:txBody>
          <a:bodyPr wrap="square" lIns="45720" tIns="18288" rIns="45720" bIns="18288" anchor="t">
            <a:spAutoFit/>
          </a:bodyPr>
          <a:lstStyle/>
          <a:p>
            <a:pPr algn="l">
              <a:lnSpc>
                <a:spcPct val="140000"/>
              </a:lnSpc>
            </a:pPr>
            <a:r>
              <a:rPr sz="1050" b="0">
                <a:solidFill>
                  <a:srgbClr val="36454F"/>
                </a:solidFill>
                <a:latin typeface="Yu Gothic UI"/>
              </a:rPr>
              <a:t>現場タブの中に追加できるサブタブです。</a:t>
            </a:r>
          </a:p>
          <a:p>
            <a:pPr algn="l">
              <a:lnSpc>
                <a:spcPct val="140000"/>
              </a:lnSpc>
            </a:pPr>
            <a:endParaRPr sz="1050" b="0">
              <a:solidFill>
                <a:srgbClr val="36454F"/>
              </a:solidFill>
              <a:latin typeface="Yu Gothic UI"/>
            </a:endParaRPr>
          </a:p>
          <a:p>
            <a:pPr algn="l">
              <a:lnSpc>
                <a:spcPct val="140000"/>
              </a:lnSpc>
            </a:pPr>
            <a:r>
              <a:rPr sz="1050" b="0">
                <a:solidFill>
                  <a:srgbClr val="36454F"/>
                </a:solidFill>
                <a:latin typeface="Yu Gothic UI"/>
              </a:rPr>
              <a:t>月度・作業内容・氏名で条件を指定して、特定の期間や担当者の原価だけを表示できます。</a:t>
            </a:r>
          </a:p>
          <a:p>
            <a:pPr algn="l">
              <a:lnSpc>
                <a:spcPct val="140000"/>
              </a:lnSpc>
            </a:pPr>
            <a:endParaRPr sz="1050" b="0">
              <a:solidFill>
                <a:srgbClr val="36454F"/>
              </a:solidFill>
              <a:latin typeface="Yu Gothic UI"/>
            </a:endParaRPr>
          </a:p>
          <a:p>
            <a:pPr algn="l">
              <a:lnSpc>
                <a:spcPct val="140000"/>
              </a:lnSpc>
            </a:pPr>
            <a:r>
              <a:rPr sz="1050" b="0">
                <a:solidFill>
                  <a:srgbClr val="36454F"/>
                </a:solidFill>
                <a:latin typeface="Yu Gothic UI"/>
              </a:rPr>
              <a:t>複数の絞り込みタブを並べて、条件を切り替えながら確認することもできます。</a:t>
            </a:r>
          </a:p>
        </p:txBody>
      </p:sp>
      <p:sp>
        <p:nvSpPr>
          <p:cNvPr id="21" name="Rounded Rectangle 20"/>
          <p:cNvSpPr/>
          <p:nvPr/>
        </p:nvSpPr>
        <p:spPr>
          <a:xfrm>
            <a:off x="5623560" y="3611880"/>
            <a:ext cx="3154680" cy="777240"/>
          </a:xfrm>
          <a:prstGeom prst="roundRect">
            <a:avLst>
              <a:gd name="adj" fmla="val 4000"/>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760720" y="3703320"/>
            <a:ext cx="2880360" cy="594360"/>
          </a:xfrm>
          <a:prstGeom prst="rect">
            <a:avLst/>
          </a:prstGeom>
          <a:noFill/>
        </p:spPr>
        <p:txBody>
          <a:bodyPr wrap="square" lIns="45720" tIns="18288" rIns="45720" bIns="18288" anchor="t">
            <a:spAutoFit/>
          </a:bodyPr>
          <a:lstStyle/>
          <a:p>
            <a:pPr algn="l">
              <a:lnSpc>
                <a:spcPct val="135000"/>
              </a:lnSpc>
            </a:pPr>
            <a:r>
              <a:rPr sz="1200" b="0">
                <a:solidFill>
                  <a:srgbClr val="E88B3A"/>
                </a:solidFill>
                <a:latin typeface="Yu Gothic UI"/>
              </a:rPr>
              <a:t>💡  </a:t>
            </a:r>
            <a:r>
              <a:rPr sz="1050" b="1">
                <a:solidFill>
                  <a:srgbClr val="3457D5"/>
                </a:solidFill>
                <a:latin typeface="Yu Gothic UI"/>
              </a:rPr>
              <a:t>ショートカット：</a:t>
            </a:r>
          </a:p>
          <a:p>
            <a:pPr algn="l">
              <a:lnSpc>
                <a:spcPct val="135000"/>
              </a:lnSpc>
            </a:pPr>
            <a:r>
              <a:rPr sz="1000" b="0">
                <a:solidFill>
                  <a:srgbClr val="36454F"/>
                </a:solidFill>
                <a:latin typeface="Yu Gothic UI"/>
              </a:rPr>
              <a:t>Ctrl + N で新しい絞り込みタブを追加できます。</a:t>
            </a:r>
          </a:p>
        </p:txBody>
      </p:sp>
      <p:sp>
        <p:nvSpPr>
          <p:cNvPr id="23" name="TextBox 22"/>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24" name="TextBox 23"/>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28 / 53</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06</a:t>
            </a:r>
            <a:r>
              <a:rPr sz="2000" b="0">
                <a:solidFill>
                  <a:srgbClr val="3457D5"/>
                </a:solidFill>
                <a:latin typeface="Yu Gothic UI"/>
              </a:rPr>
              <a:t>　</a:t>
            </a:r>
            <a:r>
              <a:rPr sz="2000" b="1">
                <a:solidFill>
                  <a:srgbClr val="36454F"/>
                </a:solidFill>
                <a:latin typeface="Yu Gothic UI"/>
              </a:rPr>
              <a:t>絞り込みタブ</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3種類の条件で絞り込みができます。条件は組み合わせも可能です。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2743200" cy="310896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2743200" cy="77724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325880"/>
            <a:ext cx="2743200" cy="365760"/>
          </a:xfrm>
          <a:prstGeom prst="rect">
            <a:avLst/>
          </a:prstGeom>
          <a:noFill/>
        </p:spPr>
        <p:txBody>
          <a:bodyPr wrap="square" lIns="45720" tIns="18288" rIns="45720" bIns="18288" anchor="ctr">
            <a:spAutoFit/>
          </a:bodyPr>
          <a:lstStyle/>
          <a:p>
            <a:pPr algn="ctr">
              <a:lnSpc>
                <a:spcPct val="115000"/>
              </a:lnSpc>
            </a:pPr>
            <a:r>
              <a:rPr sz="2400" b="0">
                <a:solidFill>
                  <a:srgbClr val="FFFFFF"/>
                </a:solidFill>
                <a:latin typeface="Yu Gothic UI"/>
              </a:rPr>
              <a:t>📅</a:t>
            </a:r>
          </a:p>
        </p:txBody>
      </p:sp>
      <p:sp>
        <p:nvSpPr>
          <p:cNvPr id="9" name="TextBox 8"/>
          <p:cNvSpPr txBox="1"/>
          <p:nvPr/>
        </p:nvSpPr>
        <p:spPr>
          <a:xfrm>
            <a:off x="457200" y="1737360"/>
            <a:ext cx="2743200" cy="292608"/>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月度</a:t>
            </a:r>
          </a:p>
        </p:txBody>
      </p:sp>
      <p:sp>
        <p:nvSpPr>
          <p:cNvPr id="10" name="TextBox 9"/>
          <p:cNvSpPr txBox="1"/>
          <p:nvPr/>
        </p:nvSpPr>
        <p:spPr>
          <a:xfrm>
            <a:off x="640080" y="2194560"/>
            <a:ext cx="2377440" cy="2057400"/>
          </a:xfrm>
          <a:prstGeom prst="rect">
            <a:avLst/>
          </a:prstGeom>
          <a:noFill/>
        </p:spPr>
        <p:txBody>
          <a:bodyPr wrap="square" lIns="45720" tIns="18288" rIns="45720" bIns="18288" anchor="t">
            <a:spAutoFit/>
          </a:bodyPr>
          <a:lstStyle/>
          <a:p>
            <a:pPr algn="l">
              <a:lnSpc>
                <a:spcPct val="145000"/>
              </a:lnSpc>
            </a:pPr>
            <a:r>
              <a:rPr sz="1050" b="0">
                <a:solidFill>
                  <a:srgbClr val="36454F"/>
                </a:solidFill>
                <a:latin typeface="Yu Gothic UI"/>
              </a:rPr>
              <a:t>特定の月度を指定して絞り込みます。</a:t>
            </a:r>
          </a:p>
          <a:p>
            <a:pPr algn="l">
              <a:lnSpc>
                <a:spcPct val="145000"/>
              </a:lnSpc>
            </a:pPr>
            <a:endParaRPr sz="1050" b="0">
              <a:solidFill>
                <a:srgbClr val="36454F"/>
              </a:solidFill>
              <a:latin typeface="Yu Gothic UI"/>
            </a:endParaRPr>
          </a:p>
          <a:p>
            <a:pPr algn="l">
              <a:lnSpc>
                <a:spcPct val="145000"/>
              </a:lnSpc>
            </a:pPr>
            <a:r>
              <a:rPr sz="1050" b="0">
                <a:solidFill>
                  <a:srgbClr val="36454F"/>
                </a:solidFill>
                <a:latin typeface="Yu Gothic UI"/>
              </a:rPr>
              <a:t>例：「2026年4月度」のみ表示することで、その月の作業のみを集計できます。</a:t>
            </a:r>
          </a:p>
        </p:txBody>
      </p:sp>
      <p:sp>
        <p:nvSpPr>
          <p:cNvPr id="11" name="Rounded Rectangle 10"/>
          <p:cNvSpPr/>
          <p:nvPr/>
        </p:nvSpPr>
        <p:spPr>
          <a:xfrm>
            <a:off x="3264408" y="1280160"/>
            <a:ext cx="2743200" cy="310896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64408" y="1280160"/>
            <a:ext cx="2743200" cy="77724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64408" y="1325880"/>
            <a:ext cx="2743200" cy="365760"/>
          </a:xfrm>
          <a:prstGeom prst="rect">
            <a:avLst/>
          </a:prstGeom>
          <a:noFill/>
        </p:spPr>
        <p:txBody>
          <a:bodyPr wrap="square" lIns="45720" tIns="18288" rIns="45720" bIns="18288" anchor="ctr">
            <a:spAutoFit/>
          </a:bodyPr>
          <a:lstStyle/>
          <a:p>
            <a:pPr algn="ctr">
              <a:lnSpc>
                <a:spcPct val="115000"/>
              </a:lnSpc>
            </a:pPr>
            <a:r>
              <a:rPr sz="2400" b="0">
                <a:solidFill>
                  <a:srgbClr val="FFFFFF"/>
                </a:solidFill>
                <a:latin typeface="Yu Gothic UI"/>
              </a:rPr>
              <a:t>📝</a:t>
            </a:r>
          </a:p>
        </p:txBody>
      </p:sp>
      <p:sp>
        <p:nvSpPr>
          <p:cNvPr id="14" name="TextBox 13"/>
          <p:cNvSpPr txBox="1"/>
          <p:nvPr/>
        </p:nvSpPr>
        <p:spPr>
          <a:xfrm>
            <a:off x="3264408" y="1737360"/>
            <a:ext cx="2743200" cy="292608"/>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作業内容</a:t>
            </a:r>
          </a:p>
        </p:txBody>
      </p:sp>
      <p:sp>
        <p:nvSpPr>
          <p:cNvPr id="15" name="TextBox 14"/>
          <p:cNvSpPr txBox="1"/>
          <p:nvPr/>
        </p:nvSpPr>
        <p:spPr>
          <a:xfrm>
            <a:off x="3447288" y="2194560"/>
            <a:ext cx="2377440" cy="2057400"/>
          </a:xfrm>
          <a:prstGeom prst="rect">
            <a:avLst/>
          </a:prstGeom>
          <a:noFill/>
        </p:spPr>
        <p:txBody>
          <a:bodyPr wrap="square" lIns="45720" tIns="18288" rIns="45720" bIns="18288" anchor="t">
            <a:spAutoFit/>
          </a:bodyPr>
          <a:lstStyle/>
          <a:p>
            <a:pPr algn="l">
              <a:lnSpc>
                <a:spcPct val="145000"/>
              </a:lnSpc>
            </a:pPr>
            <a:r>
              <a:rPr sz="1050" b="0">
                <a:solidFill>
                  <a:srgbClr val="36454F"/>
                </a:solidFill>
                <a:latin typeface="Yu Gothic UI"/>
              </a:rPr>
              <a:t>作業内容のキーワードで絞り込みます。</a:t>
            </a:r>
          </a:p>
          <a:p>
            <a:pPr algn="l">
              <a:lnSpc>
                <a:spcPct val="145000"/>
              </a:lnSpc>
            </a:pPr>
            <a:endParaRPr sz="1050" b="0">
              <a:solidFill>
                <a:srgbClr val="36454F"/>
              </a:solidFill>
              <a:latin typeface="Yu Gothic UI"/>
            </a:endParaRPr>
          </a:p>
          <a:p>
            <a:pPr algn="l">
              <a:lnSpc>
                <a:spcPct val="145000"/>
              </a:lnSpc>
            </a:pPr>
            <a:r>
              <a:rPr sz="1050" b="0">
                <a:solidFill>
                  <a:srgbClr val="36454F"/>
                </a:solidFill>
                <a:latin typeface="Yu Gothic UI"/>
              </a:rPr>
              <a:t>部分一致（含む）または完全一致を選べるので、「測量」を含む作業だけを抽出するなどが可能です。</a:t>
            </a:r>
          </a:p>
        </p:txBody>
      </p:sp>
      <p:sp>
        <p:nvSpPr>
          <p:cNvPr id="16" name="Rounded Rectangle 15"/>
          <p:cNvSpPr/>
          <p:nvPr/>
        </p:nvSpPr>
        <p:spPr>
          <a:xfrm>
            <a:off x="6071616" y="1280160"/>
            <a:ext cx="2743200" cy="310896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071616" y="1280160"/>
            <a:ext cx="2743200" cy="77724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71616" y="1325880"/>
            <a:ext cx="2743200" cy="365760"/>
          </a:xfrm>
          <a:prstGeom prst="rect">
            <a:avLst/>
          </a:prstGeom>
          <a:noFill/>
        </p:spPr>
        <p:txBody>
          <a:bodyPr wrap="square" lIns="45720" tIns="18288" rIns="45720" bIns="18288" anchor="ctr">
            <a:spAutoFit/>
          </a:bodyPr>
          <a:lstStyle/>
          <a:p>
            <a:pPr algn="ctr">
              <a:lnSpc>
                <a:spcPct val="115000"/>
              </a:lnSpc>
            </a:pPr>
            <a:r>
              <a:rPr sz="2400" b="0">
                <a:solidFill>
                  <a:srgbClr val="FFFFFF"/>
                </a:solidFill>
                <a:latin typeface="Yu Gothic UI"/>
              </a:rPr>
              <a:t>👤</a:t>
            </a:r>
          </a:p>
        </p:txBody>
      </p:sp>
      <p:sp>
        <p:nvSpPr>
          <p:cNvPr id="19" name="TextBox 18"/>
          <p:cNvSpPr txBox="1"/>
          <p:nvPr/>
        </p:nvSpPr>
        <p:spPr>
          <a:xfrm>
            <a:off x="6071616" y="1737360"/>
            <a:ext cx="2743200" cy="292608"/>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氏名</a:t>
            </a:r>
          </a:p>
        </p:txBody>
      </p:sp>
      <p:sp>
        <p:nvSpPr>
          <p:cNvPr id="20" name="TextBox 19"/>
          <p:cNvSpPr txBox="1"/>
          <p:nvPr/>
        </p:nvSpPr>
        <p:spPr>
          <a:xfrm>
            <a:off x="6254496" y="2194560"/>
            <a:ext cx="2377440" cy="2057400"/>
          </a:xfrm>
          <a:prstGeom prst="rect">
            <a:avLst/>
          </a:prstGeom>
          <a:noFill/>
        </p:spPr>
        <p:txBody>
          <a:bodyPr wrap="square" lIns="45720" tIns="18288" rIns="45720" bIns="18288" anchor="t">
            <a:spAutoFit/>
          </a:bodyPr>
          <a:lstStyle/>
          <a:p>
            <a:pPr algn="l">
              <a:lnSpc>
                <a:spcPct val="145000"/>
              </a:lnSpc>
            </a:pPr>
            <a:r>
              <a:rPr sz="1050" b="0">
                <a:solidFill>
                  <a:srgbClr val="36454F"/>
                </a:solidFill>
                <a:latin typeface="Yu Gothic UI"/>
              </a:rPr>
              <a:t>特定の担当者のデータだけを表示します。</a:t>
            </a:r>
          </a:p>
          <a:p>
            <a:pPr algn="l">
              <a:lnSpc>
                <a:spcPct val="145000"/>
              </a:lnSpc>
            </a:pPr>
            <a:endParaRPr sz="1050" b="0">
              <a:solidFill>
                <a:srgbClr val="36454F"/>
              </a:solidFill>
              <a:latin typeface="Yu Gothic UI"/>
            </a:endParaRPr>
          </a:p>
          <a:p>
            <a:pPr algn="l">
              <a:lnSpc>
                <a:spcPct val="145000"/>
              </a:lnSpc>
            </a:pPr>
            <a:r>
              <a:rPr sz="1050" b="0">
                <a:solidFill>
                  <a:srgbClr val="36454F"/>
                </a:solidFill>
                <a:latin typeface="Yu Gothic UI"/>
              </a:rPr>
              <a:t>氏名で絞り込んだタブでは「個人別集計モード」が有効になり、その人の人工日数を確認できます。</a:t>
            </a:r>
          </a:p>
        </p:txBody>
      </p:sp>
      <p:sp>
        <p:nvSpPr>
          <p:cNvPr id="21" name="TextBox 20"/>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22" name="TextBox 21"/>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29 / 53</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06</a:t>
            </a:r>
            <a:r>
              <a:rPr sz="2000" b="0">
                <a:solidFill>
                  <a:srgbClr val="3457D5"/>
                </a:solidFill>
                <a:latin typeface="Yu Gothic UI"/>
              </a:rPr>
              <a:t>　</a:t>
            </a:r>
            <a:r>
              <a:rPr sz="2000" b="1">
                <a:solidFill>
                  <a:srgbClr val="36454F"/>
                </a:solidFill>
                <a:latin typeface="Yu Gothic UI"/>
              </a:rPr>
              <a:t>絞り込みタブ</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絞り込みタブの追加方法を説明します。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1908810" cy="237744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190881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280160"/>
            <a:ext cx="190881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1</a:t>
            </a:r>
          </a:p>
        </p:txBody>
      </p:sp>
      <p:sp>
        <p:nvSpPr>
          <p:cNvPr id="9" name="TextBox 8"/>
          <p:cNvSpPr txBox="1"/>
          <p:nvPr/>
        </p:nvSpPr>
        <p:spPr>
          <a:xfrm>
            <a:off x="548640" y="1664208"/>
            <a:ext cx="172593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現場タブを選択</a:t>
            </a:r>
          </a:p>
        </p:txBody>
      </p:sp>
      <p:sp>
        <p:nvSpPr>
          <p:cNvPr id="10" name="TextBox 9"/>
          <p:cNvSpPr txBox="1"/>
          <p:nvPr/>
        </p:nvSpPr>
        <p:spPr>
          <a:xfrm>
            <a:off x="548640" y="2057400"/>
            <a:ext cx="1725930" cy="150876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絞り込みタブを追加したい現場タブを選択します。</a:t>
            </a:r>
          </a:p>
        </p:txBody>
      </p:sp>
      <p:sp>
        <p:nvSpPr>
          <p:cNvPr id="11" name="Right Arrow 10"/>
          <p:cNvSpPr/>
          <p:nvPr/>
        </p:nvSpPr>
        <p:spPr>
          <a:xfrm>
            <a:off x="2384298" y="2359152"/>
            <a:ext cx="201168" cy="219456"/>
          </a:xfrm>
          <a:prstGeom prst="rightArrow">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594610" y="1280160"/>
            <a:ext cx="1908810" cy="237744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94610" y="1280160"/>
            <a:ext cx="190881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94610" y="1280160"/>
            <a:ext cx="190881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2</a:t>
            </a:r>
          </a:p>
        </p:txBody>
      </p:sp>
      <p:sp>
        <p:nvSpPr>
          <p:cNvPr id="15" name="TextBox 14"/>
          <p:cNvSpPr txBox="1"/>
          <p:nvPr/>
        </p:nvSpPr>
        <p:spPr>
          <a:xfrm>
            <a:off x="2686050" y="1664208"/>
            <a:ext cx="172593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 絞り込みタブ追加」をクリック</a:t>
            </a:r>
          </a:p>
        </p:txBody>
      </p:sp>
      <p:sp>
        <p:nvSpPr>
          <p:cNvPr id="16" name="TextBox 15"/>
          <p:cNvSpPr txBox="1"/>
          <p:nvPr/>
        </p:nvSpPr>
        <p:spPr>
          <a:xfrm>
            <a:off x="2686050" y="2057400"/>
            <a:ext cx="1725930" cy="150876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現場タブの右にある「＋」ボタンをクリックします。Ctrl + N でも開けます。</a:t>
            </a:r>
          </a:p>
        </p:txBody>
      </p:sp>
      <p:sp>
        <p:nvSpPr>
          <p:cNvPr id="17" name="Right Arrow 16"/>
          <p:cNvSpPr/>
          <p:nvPr/>
        </p:nvSpPr>
        <p:spPr>
          <a:xfrm>
            <a:off x="4521708" y="2359152"/>
            <a:ext cx="201168" cy="219456"/>
          </a:xfrm>
          <a:prstGeom prst="rightArrow">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732020" y="1280160"/>
            <a:ext cx="1908810" cy="237744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732020" y="1280160"/>
            <a:ext cx="190881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732020" y="1280160"/>
            <a:ext cx="190881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3</a:t>
            </a:r>
          </a:p>
        </p:txBody>
      </p:sp>
      <p:sp>
        <p:nvSpPr>
          <p:cNvPr id="21" name="TextBox 20"/>
          <p:cNvSpPr txBox="1"/>
          <p:nvPr/>
        </p:nvSpPr>
        <p:spPr>
          <a:xfrm>
            <a:off x="4823460" y="1664208"/>
            <a:ext cx="172593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条件を入力</a:t>
            </a:r>
          </a:p>
        </p:txBody>
      </p:sp>
      <p:sp>
        <p:nvSpPr>
          <p:cNvPr id="22" name="TextBox 21"/>
          <p:cNvSpPr txBox="1"/>
          <p:nvPr/>
        </p:nvSpPr>
        <p:spPr>
          <a:xfrm>
            <a:off x="4823460" y="2057400"/>
            <a:ext cx="1725930" cy="150876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ダイアログで、タブ名・月度・作業内容・氏名などの条件を入力します。</a:t>
            </a:r>
          </a:p>
        </p:txBody>
      </p:sp>
      <p:sp>
        <p:nvSpPr>
          <p:cNvPr id="23" name="Right Arrow 22"/>
          <p:cNvSpPr/>
          <p:nvPr/>
        </p:nvSpPr>
        <p:spPr>
          <a:xfrm>
            <a:off x="6659118" y="2359152"/>
            <a:ext cx="201168" cy="219456"/>
          </a:xfrm>
          <a:prstGeom prst="rightArrow">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869430" y="1280160"/>
            <a:ext cx="1908810" cy="237744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869430" y="1280160"/>
            <a:ext cx="190881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69430" y="1280160"/>
            <a:ext cx="190881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4</a:t>
            </a:r>
          </a:p>
        </p:txBody>
      </p:sp>
      <p:sp>
        <p:nvSpPr>
          <p:cNvPr id="27" name="TextBox 26"/>
          <p:cNvSpPr txBox="1"/>
          <p:nvPr/>
        </p:nvSpPr>
        <p:spPr>
          <a:xfrm>
            <a:off x="6960870" y="1664208"/>
            <a:ext cx="172593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「追加」を押して完了</a:t>
            </a:r>
          </a:p>
        </p:txBody>
      </p:sp>
      <p:sp>
        <p:nvSpPr>
          <p:cNvPr id="28" name="TextBox 27"/>
          <p:cNvSpPr txBox="1"/>
          <p:nvPr/>
        </p:nvSpPr>
        <p:spPr>
          <a:xfrm>
            <a:off x="6960870" y="2057400"/>
            <a:ext cx="1725930" cy="150876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「追加」ボタンを押すと、新しい絞り込みタブが作成され、その条件で絞られた原価が表示されます。</a:t>
            </a:r>
          </a:p>
        </p:txBody>
      </p:sp>
      <p:sp>
        <p:nvSpPr>
          <p:cNvPr id="29" name="Rounded Rectangle 28"/>
          <p:cNvSpPr/>
          <p:nvPr/>
        </p:nvSpPr>
        <p:spPr>
          <a:xfrm>
            <a:off x="457200" y="3794760"/>
            <a:ext cx="8321040" cy="914400"/>
          </a:xfrm>
          <a:prstGeom prst="roundRect">
            <a:avLst>
              <a:gd name="adj" fmla="val 5000"/>
            </a:avLst>
          </a:prstGeom>
          <a:solidFill>
            <a:srgbClr val="FAFBFD"/>
          </a:solidFill>
          <a:ln w="19050">
            <a:solidFill>
              <a:srgbClr val="C43D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548640" y="3886200"/>
            <a:ext cx="3063240" cy="292608"/>
          </a:xfrm>
          <a:prstGeom prst="roundRect">
            <a:avLst>
              <a:gd name="adj" fmla="val 40000"/>
            </a:avLst>
          </a:prstGeom>
          <a:solidFill>
            <a:srgbClr val="C43D4A"/>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l"/>
            <a:r>
              <a:rPr sz="1000" b="1">
                <a:solidFill>
                  <a:srgbClr val="FFFFFF"/>
                </a:solidFill>
                <a:latin typeface="Yu Gothic UI"/>
              </a:rPr>
              <a:t>📷 スクショ：絞り込みタブ追加ダイアログ</a:t>
            </a:r>
          </a:p>
        </p:txBody>
      </p:sp>
      <p:sp>
        <p:nvSpPr>
          <p:cNvPr id="31" name="TextBox 30"/>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32" name="TextBox 31"/>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30 / 53</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06</a:t>
            </a:r>
            <a:r>
              <a:rPr sz="2000" b="0">
                <a:solidFill>
                  <a:srgbClr val="3457D5"/>
                </a:solidFill>
                <a:latin typeface="Yu Gothic UI"/>
              </a:rPr>
              <a:t>　</a:t>
            </a:r>
            <a:r>
              <a:rPr sz="2000" b="1">
                <a:solidFill>
                  <a:srgbClr val="36454F"/>
                </a:solidFill>
                <a:latin typeface="Yu Gothic UI"/>
              </a:rPr>
              <a:t>絞り込みタブ</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絞り込みタブを右クリックすると、アーカイブ・削除のメニューが表示されます。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8321040" cy="9601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91440" cy="9601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399032"/>
            <a:ext cx="2560320" cy="292608"/>
          </a:xfrm>
          <a:prstGeom prst="rect">
            <a:avLst/>
          </a:prstGeom>
          <a:noFill/>
        </p:spPr>
        <p:txBody>
          <a:bodyPr wrap="square" lIns="45720" tIns="18288" rIns="45720" bIns="18288" anchor="t">
            <a:spAutoFit/>
          </a:bodyPr>
          <a:lstStyle/>
          <a:p>
            <a:pPr algn="l">
              <a:lnSpc>
                <a:spcPct val="115000"/>
              </a:lnSpc>
            </a:pPr>
            <a:r>
              <a:rPr sz="1300" b="1">
                <a:solidFill>
                  <a:srgbClr val="3457D5"/>
                </a:solidFill>
                <a:latin typeface="Yu Gothic UI"/>
              </a:rPr>
              <a:t>📦 アーカイブ</a:t>
            </a:r>
          </a:p>
        </p:txBody>
      </p:sp>
      <p:sp>
        <p:nvSpPr>
          <p:cNvPr id="9" name="TextBox 8"/>
          <p:cNvSpPr txBox="1"/>
          <p:nvPr/>
        </p:nvSpPr>
        <p:spPr>
          <a:xfrm>
            <a:off x="640080" y="1691640"/>
            <a:ext cx="2560320" cy="457200"/>
          </a:xfrm>
          <a:prstGeom prst="rect">
            <a:avLst/>
          </a:prstGeom>
          <a:noFill/>
        </p:spPr>
        <p:txBody>
          <a:bodyPr wrap="square" lIns="45720" tIns="18288" rIns="45720" bIns="18288" anchor="t">
            <a:spAutoFit/>
          </a:bodyPr>
          <a:lstStyle/>
          <a:p>
            <a:pPr algn="l">
              <a:lnSpc>
                <a:spcPct val="115000"/>
              </a:lnSpc>
            </a:pPr>
            <a:r>
              <a:rPr sz="1000" b="1">
                <a:solidFill>
                  <a:srgbClr val="36454F"/>
                </a:solidFill>
                <a:latin typeface="Yu Gothic UI"/>
              </a:rPr>
              <a:t>非表示にする（後で復元可能）</a:t>
            </a:r>
          </a:p>
        </p:txBody>
      </p:sp>
      <p:sp>
        <p:nvSpPr>
          <p:cNvPr id="10" name="TextBox 9"/>
          <p:cNvSpPr txBox="1"/>
          <p:nvPr/>
        </p:nvSpPr>
        <p:spPr>
          <a:xfrm>
            <a:off x="3337560" y="1444752"/>
            <a:ext cx="5349240" cy="685800"/>
          </a:xfrm>
          <a:prstGeom prst="rect">
            <a:avLst/>
          </a:prstGeom>
          <a:noFill/>
        </p:spPr>
        <p:txBody>
          <a:bodyPr wrap="square" lIns="45720" tIns="18288" rIns="45720" bIns="18288" anchor="ctr">
            <a:spAutoFit/>
          </a:bodyPr>
          <a:lstStyle/>
          <a:p>
            <a:pPr algn="l">
              <a:lnSpc>
                <a:spcPct val="135000"/>
              </a:lnSpc>
            </a:pPr>
            <a:r>
              <a:rPr sz="1050" b="0">
                <a:solidFill>
                  <a:srgbClr val="36454F"/>
                </a:solidFill>
                <a:latin typeface="Yu Gothic UI"/>
              </a:rPr>
              <a:t>絞り込みタブを一時的に非表示にします。条件設定は保存されているので、後から復元できます。</a:t>
            </a:r>
          </a:p>
        </p:txBody>
      </p:sp>
      <p:sp>
        <p:nvSpPr>
          <p:cNvPr id="11" name="Rounded Rectangle 10"/>
          <p:cNvSpPr/>
          <p:nvPr/>
        </p:nvSpPr>
        <p:spPr>
          <a:xfrm>
            <a:off x="457200" y="2359152"/>
            <a:ext cx="8321040" cy="9601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2359152"/>
            <a:ext cx="91440" cy="960120"/>
          </a:xfrm>
          <a:prstGeom prst="rect">
            <a:avLst/>
          </a:prstGeom>
          <a:solidFill>
            <a:srgbClr val="C43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2478024"/>
            <a:ext cx="2560320" cy="292608"/>
          </a:xfrm>
          <a:prstGeom prst="rect">
            <a:avLst/>
          </a:prstGeom>
          <a:noFill/>
        </p:spPr>
        <p:txBody>
          <a:bodyPr wrap="square" lIns="45720" tIns="18288" rIns="45720" bIns="18288" anchor="t">
            <a:spAutoFit/>
          </a:bodyPr>
          <a:lstStyle/>
          <a:p>
            <a:pPr algn="l">
              <a:lnSpc>
                <a:spcPct val="115000"/>
              </a:lnSpc>
            </a:pPr>
            <a:r>
              <a:rPr sz="1300" b="1">
                <a:solidFill>
                  <a:srgbClr val="C43D4A"/>
                </a:solidFill>
                <a:latin typeface="Yu Gothic UI"/>
              </a:rPr>
              <a:t>🗑️ 削除</a:t>
            </a:r>
          </a:p>
        </p:txBody>
      </p:sp>
      <p:sp>
        <p:nvSpPr>
          <p:cNvPr id="14" name="TextBox 13"/>
          <p:cNvSpPr txBox="1"/>
          <p:nvPr/>
        </p:nvSpPr>
        <p:spPr>
          <a:xfrm>
            <a:off x="640080" y="2770632"/>
            <a:ext cx="2560320" cy="457200"/>
          </a:xfrm>
          <a:prstGeom prst="rect">
            <a:avLst/>
          </a:prstGeom>
          <a:noFill/>
        </p:spPr>
        <p:txBody>
          <a:bodyPr wrap="square" lIns="45720" tIns="18288" rIns="45720" bIns="18288" anchor="t">
            <a:spAutoFit/>
          </a:bodyPr>
          <a:lstStyle/>
          <a:p>
            <a:pPr algn="l">
              <a:lnSpc>
                <a:spcPct val="115000"/>
              </a:lnSpc>
            </a:pPr>
            <a:r>
              <a:rPr sz="1000" b="1">
                <a:solidFill>
                  <a:srgbClr val="36454F"/>
                </a:solidFill>
                <a:latin typeface="Yu Gothic UI"/>
              </a:rPr>
              <a:t>完全に消去（元に戻せない）</a:t>
            </a:r>
          </a:p>
        </p:txBody>
      </p:sp>
      <p:sp>
        <p:nvSpPr>
          <p:cNvPr id="15" name="TextBox 14"/>
          <p:cNvSpPr txBox="1"/>
          <p:nvPr/>
        </p:nvSpPr>
        <p:spPr>
          <a:xfrm>
            <a:off x="3337560" y="2523744"/>
            <a:ext cx="5349240" cy="685800"/>
          </a:xfrm>
          <a:prstGeom prst="rect">
            <a:avLst/>
          </a:prstGeom>
          <a:noFill/>
        </p:spPr>
        <p:txBody>
          <a:bodyPr wrap="square" lIns="45720" tIns="18288" rIns="45720" bIns="18288" anchor="ctr">
            <a:spAutoFit/>
          </a:bodyPr>
          <a:lstStyle/>
          <a:p>
            <a:pPr algn="l">
              <a:lnSpc>
                <a:spcPct val="135000"/>
              </a:lnSpc>
            </a:pPr>
            <a:r>
              <a:rPr sz="1050" b="0">
                <a:solidFill>
                  <a:srgbClr val="36454F"/>
                </a:solidFill>
                <a:latin typeface="Yu Gothic UI"/>
              </a:rPr>
              <a:t>絞り込みタブを完全に削除します。この操作は元に戻せないので、確認のうえ実行してください。</a:t>
            </a:r>
          </a:p>
        </p:txBody>
      </p:sp>
      <p:sp>
        <p:nvSpPr>
          <p:cNvPr id="16" name="Rounded Rectangle 15"/>
          <p:cNvSpPr/>
          <p:nvPr/>
        </p:nvSpPr>
        <p:spPr>
          <a:xfrm>
            <a:off x="457200" y="3438144"/>
            <a:ext cx="8321040" cy="9601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3438144"/>
            <a:ext cx="91440" cy="960120"/>
          </a:xfrm>
          <a:prstGeom prst="rect">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3557016"/>
            <a:ext cx="2560320" cy="292608"/>
          </a:xfrm>
          <a:prstGeom prst="rect">
            <a:avLst/>
          </a:prstGeom>
          <a:noFill/>
        </p:spPr>
        <p:txBody>
          <a:bodyPr wrap="square" lIns="45720" tIns="18288" rIns="45720" bIns="18288" anchor="t">
            <a:spAutoFit/>
          </a:bodyPr>
          <a:lstStyle/>
          <a:p>
            <a:pPr algn="l">
              <a:lnSpc>
                <a:spcPct val="115000"/>
              </a:lnSpc>
            </a:pPr>
            <a:r>
              <a:rPr sz="1300" b="1">
                <a:solidFill>
                  <a:srgbClr val="E88B3A"/>
                </a:solidFill>
                <a:latin typeface="Yu Gothic UI"/>
              </a:rPr>
              <a:t>📋 アーカイブ済みを表示</a:t>
            </a:r>
          </a:p>
        </p:txBody>
      </p:sp>
      <p:sp>
        <p:nvSpPr>
          <p:cNvPr id="19" name="TextBox 18"/>
          <p:cNvSpPr txBox="1"/>
          <p:nvPr/>
        </p:nvSpPr>
        <p:spPr>
          <a:xfrm>
            <a:off x="640080" y="3849624"/>
            <a:ext cx="2560320" cy="457200"/>
          </a:xfrm>
          <a:prstGeom prst="rect">
            <a:avLst/>
          </a:prstGeom>
          <a:noFill/>
        </p:spPr>
        <p:txBody>
          <a:bodyPr wrap="square" lIns="45720" tIns="18288" rIns="45720" bIns="18288" anchor="t">
            <a:spAutoFit/>
          </a:bodyPr>
          <a:lstStyle/>
          <a:p>
            <a:pPr algn="l">
              <a:lnSpc>
                <a:spcPct val="115000"/>
              </a:lnSpc>
            </a:pPr>
            <a:r>
              <a:rPr sz="1000" b="1">
                <a:solidFill>
                  <a:srgbClr val="36454F"/>
                </a:solidFill>
                <a:latin typeface="Yu Gothic UI"/>
              </a:rPr>
              <a:t>復元する</a:t>
            </a:r>
          </a:p>
        </p:txBody>
      </p:sp>
      <p:sp>
        <p:nvSpPr>
          <p:cNvPr id="20" name="TextBox 19"/>
          <p:cNvSpPr txBox="1"/>
          <p:nvPr/>
        </p:nvSpPr>
        <p:spPr>
          <a:xfrm>
            <a:off x="3337560" y="3602736"/>
            <a:ext cx="5349240" cy="685800"/>
          </a:xfrm>
          <a:prstGeom prst="rect">
            <a:avLst/>
          </a:prstGeom>
          <a:noFill/>
        </p:spPr>
        <p:txBody>
          <a:bodyPr wrap="square" lIns="45720" tIns="18288" rIns="45720" bIns="18288" anchor="ctr">
            <a:spAutoFit/>
          </a:bodyPr>
          <a:lstStyle/>
          <a:p>
            <a:pPr algn="l">
              <a:lnSpc>
                <a:spcPct val="135000"/>
              </a:lnSpc>
            </a:pPr>
            <a:r>
              <a:rPr sz="1050" b="0">
                <a:solidFill>
                  <a:srgbClr val="36454F"/>
                </a:solidFill>
                <a:latin typeface="Yu Gothic UI"/>
              </a:rPr>
              <a:t>「アーカイブ済みを表示」をオンにすると、非表示のタブがチェックボックス付きで表示されます。</a:t>
            </a:r>
          </a:p>
          <a:p>
            <a:pPr algn="l">
              <a:lnSpc>
                <a:spcPct val="135000"/>
              </a:lnSpc>
            </a:pPr>
            <a:r>
              <a:rPr sz="1050" b="0">
                <a:solidFill>
                  <a:srgbClr val="36454F"/>
                </a:solidFill>
                <a:latin typeface="Yu Gothic UI"/>
              </a:rPr>
              <a:t>チェックを入れて「復元」ボタンを押すと、元の絞り込みタブに戻せます。</a:t>
            </a:r>
          </a:p>
        </p:txBody>
      </p:sp>
      <p:sp>
        <p:nvSpPr>
          <p:cNvPr id="21" name="TextBox 20"/>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22" name="TextBox 21"/>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31 / 53</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07</a:t>
            </a:r>
            <a:r>
              <a:rPr sz="2000" b="0">
                <a:solidFill>
                  <a:srgbClr val="3457D5"/>
                </a:solidFill>
                <a:latin typeface="Yu Gothic UI"/>
              </a:rPr>
              <a:t>　</a:t>
            </a:r>
            <a:r>
              <a:rPr sz="2000" b="1">
                <a:solidFill>
                  <a:srgbClr val="36454F"/>
                </a:solidFill>
                <a:latin typeface="Yu Gothic UI"/>
              </a:rPr>
              <a:t>Excel書き出し・印刷</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原価集計の結果を Excel に書き出したり、印刷することができます。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4114800" cy="320040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4114800" cy="64008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280160"/>
            <a:ext cx="548640" cy="640080"/>
          </a:xfrm>
          <a:prstGeom prst="rect">
            <a:avLst/>
          </a:prstGeom>
          <a:noFill/>
        </p:spPr>
        <p:txBody>
          <a:bodyPr wrap="square" lIns="45720" tIns="18288" rIns="45720" bIns="18288" anchor="ctr">
            <a:spAutoFit/>
          </a:bodyPr>
          <a:lstStyle/>
          <a:p>
            <a:pPr algn="ctr">
              <a:lnSpc>
                <a:spcPct val="115000"/>
              </a:lnSpc>
            </a:pPr>
            <a:r>
              <a:rPr sz="2200" b="0">
                <a:solidFill>
                  <a:srgbClr val="FFFFFF"/>
                </a:solidFill>
                <a:latin typeface="Yu Gothic UI"/>
              </a:rPr>
              <a:t>📊</a:t>
            </a:r>
          </a:p>
        </p:txBody>
      </p:sp>
      <p:sp>
        <p:nvSpPr>
          <p:cNvPr id="9" name="TextBox 8"/>
          <p:cNvSpPr txBox="1"/>
          <p:nvPr/>
        </p:nvSpPr>
        <p:spPr>
          <a:xfrm>
            <a:off x="1234440" y="1353312"/>
            <a:ext cx="3200400" cy="274320"/>
          </a:xfrm>
          <a:prstGeom prst="rect">
            <a:avLst/>
          </a:prstGeom>
          <a:noFill/>
        </p:spPr>
        <p:txBody>
          <a:bodyPr wrap="square" lIns="45720" tIns="18288" rIns="45720" bIns="18288" anchor="t">
            <a:spAutoFit/>
          </a:bodyPr>
          <a:lstStyle/>
          <a:p>
            <a:pPr algn="l">
              <a:lnSpc>
                <a:spcPct val="115000"/>
              </a:lnSpc>
            </a:pPr>
            <a:r>
              <a:rPr sz="1400" b="1">
                <a:solidFill>
                  <a:srgbClr val="FFFFFF"/>
                </a:solidFill>
                <a:latin typeface="Yu Gothic UI"/>
              </a:rPr>
              <a:t>Excel書き出し</a:t>
            </a:r>
          </a:p>
        </p:txBody>
      </p:sp>
      <p:sp>
        <p:nvSpPr>
          <p:cNvPr id="10" name="TextBox 9"/>
          <p:cNvSpPr txBox="1"/>
          <p:nvPr/>
        </p:nvSpPr>
        <p:spPr>
          <a:xfrm>
            <a:off x="1234440" y="1645920"/>
            <a:ext cx="3200400" cy="228600"/>
          </a:xfrm>
          <a:prstGeom prst="rect">
            <a:avLst/>
          </a:prstGeom>
          <a:noFill/>
        </p:spPr>
        <p:txBody>
          <a:bodyPr wrap="square" lIns="45720" tIns="18288" rIns="45720" bIns="18288" anchor="t">
            <a:spAutoFit/>
          </a:bodyPr>
          <a:lstStyle/>
          <a:p>
            <a:pPr algn="l">
              <a:lnSpc>
                <a:spcPct val="115000"/>
              </a:lnSpc>
            </a:pPr>
            <a:r>
              <a:rPr sz="900" b="0">
                <a:solidFill>
                  <a:srgbClr val="CADCFC"/>
                </a:solidFill>
                <a:latin typeface="Yu Gothic UI"/>
              </a:rPr>
              <a:t>ショートカット：Ctrl + E</a:t>
            </a:r>
          </a:p>
        </p:txBody>
      </p:sp>
      <p:sp>
        <p:nvSpPr>
          <p:cNvPr id="11" name="TextBox 10"/>
          <p:cNvSpPr txBox="1"/>
          <p:nvPr/>
        </p:nvSpPr>
        <p:spPr>
          <a:xfrm>
            <a:off x="640080" y="2057400"/>
            <a:ext cx="3749040" cy="502920"/>
          </a:xfrm>
          <a:prstGeom prst="rect">
            <a:avLst/>
          </a:prstGeom>
          <a:noFill/>
        </p:spPr>
        <p:txBody>
          <a:bodyPr wrap="square" lIns="45720" tIns="18288" rIns="45720" bIns="18288" anchor="t">
            <a:spAutoFit/>
          </a:bodyPr>
          <a:lstStyle/>
          <a:p>
            <a:pPr algn="l">
              <a:lnSpc>
                <a:spcPct val="135000"/>
              </a:lnSpc>
            </a:pPr>
            <a:r>
              <a:rPr sz="1050" b="1">
                <a:solidFill>
                  <a:srgbClr val="36454F"/>
                </a:solidFill>
                <a:latin typeface="Yu Gothic UI"/>
              </a:rPr>
              <a:t>現在表示中の集計結果を Excel ファイル（.xlsx）に書き出せます。</a:t>
            </a:r>
          </a:p>
        </p:txBody>
      </p:sp>
      <p:sp>
        <p:nvSpPr>
          <p:cNvPr id="12" name="Rounded Rectangle 11"/>
          <p:cNvSpPr/>
          <p:nvPr/>
        </p:nvSpPr>
        <p:spPr>
          <a:xfrm>
            <a:off x="685800" y="2651760"/>
            <a:ext cx="292608" cy="292608"/>
          </a:xfrm>
          <a:prstGeom prst="roundRect">
            <a:avLst>
              <a:gd name="adj" fmla="val 5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2651760"/>
            <a:ext cx="292608" cy="292608"/>
          </a:xfrm>
          <a:prstGeom prst="rect">
            <a:avLst/>
          </a:prstGeom>
          <a:noFill/>
        </p:spPr>
        <p:txBody>
          <a:bodyPr wrap="square" lIns="45720" tIns="18288" rIns="45720" bIns="18288" anchor="ctr">
            <a:spAutoFit/>
          </a:bodyPr>
          <a:lstStyle/>
          <a:p>
            <a:pPr algn="ctr">
              <a:lnSpc>
                <a:spcPct val="115000"/>
              </a:lnSpc>
            </a:pPr>
            <a:r>
              <a:rPr sz="1000" b="1">
                <a:solidFill>
                  <a:srgbClr val="FFFFFF"/>
                </a:solidFill>
                <a:latin typeface="Yu Gothic UI"/>
              </a:rPr>
              <a:t>✓</a:t>
            </a:r>
          </a:p>
        </p:txBody>
      </p:sp>
      <p:sp>
        <p:nvSpPr>
          <p:cNvPr id="14" name="TextBox 13"/>
          <p:cNvSpPr txBox="1"/>
          <p:nvPr/>
        </p:nvSpPr>
        <p:spPr>
          <a:xfrm>
            <a:off x="1051560" y="2679192"/>
            <a:ext cx="3337560" cy="457200"/>
          </a:xfrm>
          <a:prstGeom prst="rect">
            <a:avLst/>
          </a:prstGeom>
          <a:noFill/>
        </p:spPr>
        <p:txBody>
          <a:bodyPr wrap="square" lIns="45720" tIns="18288" rIns="45720" bIns="18288" anchor="t">
            <a:spAutoFit/>
          </a:bodyPr>
          <a:lstStyle/>
          <a:p>
            <a:pPr algn="l">
              <a:lnSpc>
                <a:spcPct val="130000"/>
              </a:lnSpc>
            </a:pPr>
            <a:r>
              <a:rPr sz="1000" b="0">
                <a:solidFill>
                  <a:srgbClr val="36454F"/>
                </a:solidFill>
                <a:latin typeface="Yu Gothic UI"/>
              </a:rPr>
              <a:t>プレビュー付きで内容を事前に確認</a:t>
            </a:r>
          </a:p>
        </p:txBody>
      </p:sp>
      <p:sp>
        <p:nvSpPr>
          <p:cNvPr id="15" name="Rounded Rectangle 14"/>
          <p:cNvSpPr/>
          <p:nvPr/>
        </p:nvSpPr>
        <p:spPr>
          <a:xfrm>
            <a:off x="685800" y="3154680"/>
            <a:ext cx="292608" cy="292608"/>
          </a:xfrm>
          <a:prstGeom prst="roundRect">
            <a:avLst>
              <a:gd name="adj" fmla="val 5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154680"/>
            <a:ext cx="292608" cy="292608"/>
          </a:xfrm>
          <a:prstGeom prst="rect">
            <a:avLst/>
          </a:prstGeom>
          <a:noFill/>
        </p:spPr>
        <p:txBody>
          <a:bodyPr wrap="square" lIns="45720" tIns="18288" rIns="45720" bIns="18288" anchor="ctr">
            <a:spAutoFit/>
          </a:bodyPr>
          <a:lstStyle/>
          <a:p>
            <a:pPr algn="ctr">
              <a:lnSpc>
                <a:spcPct val="115000"/>
              </a:lnSpc>
            </a:pPr>
            <a:r>
              <a:rPr sz="1000" b="1">
                <a:solidFill>
                  <a:srgbClr val="FFFFFF"/>
                </a:solidFill>
                <a:latin typeface="Yu Gothic UI"/>
              </a:rPr>
              <a:t>✓</a:t>
            </a:r>
          </a:p>
        </p:txBody>
      </p:sp>
      <p:sp>
        <p:nvSpPr>
          <p:cNvPr id="17" name="TextBox 16"/>
          <p:cNvSpPr txBox="1"/>
          <p:nvPr/>
        </p:nvSpPr>
        <p:spPr>
          <a:xfrm>
            <a:off x="1051560" y="3182112"/>
            <a:ext cx="3337560" cy="457200"/>
          </a:xfrm>
          <a:prstGeom prst="rect">
            <a:avLst/>
          </a:prstGeom>
          <a:noFill/>
        </p:spPr>
        <p:txBody>
          <a:bodyPr wrap="square" lIns="45720" tIns="18288" rIns="45720" bIns="18288" anchor="t">
            <a:spAutoFit/>
          </a:bodyPr>
          <a:lstStyle/>
          <a:p>
            <a:pPr algn="l">
              <a:lnSpc>
                <a:spcPct val="130000"/>
              </a:lnSpc>
            </a:pPr>
            <a:r>
              <a:rPr sz="1000" b="0">
                <a:solidFill>
                  <a:srgbClr val="36454F"/>
                </a:solidFill>
                <a:latin typeface="Yu Gothic UI"/>
              </a:rPr>
              <a:t>出力する列をチェックボックスで選択可能</a:t>
            </a:r>
          </a:p>
        </p:txBody>
      </p:sp>
      <p:sp>
        <p:nvSpPr>
          <p:cNvPr id="18" name="Rounded Rectangle 17"/>
          <p:cNvSpPr/>
          <p:nvPr/>
        </p:nvSpPr>
        <p:spPr>
          <a:xfrm>
            <a:off x="685800" y="3657600"/>
            <a:ext cx="292608" cy="292608"/>
          </a:xfrm>
          <a:prstGeom prst="roundRect">
            <a:avLst>
              <a:gd name="adj" fmla="val 5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3657600"/>
            <a:ext cx="292608" cy="292608"/>
          </a:xfrm>
          <a:prstGeom prst="rect">
            <a:avLst/>
          </a:prstGeom>
          <a:noFill/>
        </p:spPr>
        <p:txBody>
          <a:bodyPr wrap="square" lIns="45720" tIns="18288" rIns="45720" bIns="18288" anchor="ctr">
            <a:spAutoFit/>
          </a:bodyPr>
          <a:lstStyle/>
          <a:p>
            <a:pPr algn="ctr">
              <a:lnSpc>
                <a:spcPct val="115000"/>
              </a:lnSpc>
            </a:pPr>
            <a:r>
              <a:rPr sz="1000" b="1">
                <a:solidFill>
                  <a:srgbClr val="FFFFFF"/>
                </a:solidFill>
                <a:latin typeface="Yu Gothic UI"/>
              </a:rPr>
              <a:t>✓</a:t>
            </a:r>
          </a:p>
        </p:txBody>
      </p:sp>
      <p:sp>
        <p:nvSpPr>
          <p:cNvPr id="20" name="TextBox 19"/>
          <p:cNvSpPr txBox="1"/>
          <p:nvPr/>
        </p:nvSpPr>
        <p:spPr>
          <a:xfrm>
            <a:off x="1051560" y="3685032"/>
            <a:ext cx="3337560" cy="457200"/>
          </a:xfrm>
          <a:prstGeom prst="rect">
            <a:avLst/>
          </a:prstGeom>
          <a:noFill/>
        </p:spPr>
        <p:txBody>
          <a:bodyPr wrap="square" lIns="45720" tIns="18288" rIns="45720" bIns="18288" anchor="t">
            <a:spAutoFit/>
          </a:bodyPr>
          <a:lstStyle/>
          <a:p>
            <a:pPr algn="l">
              <a:lnSpc>
                <a:spcPct val="130000"/>
              </a:lnSpc>
            </a:pPr>
            <a:r>
              <a:rPr sz="1000" b="0">
                <a:solidFill>
                  <a:srgbClr val="36454F"/>
                </a:solidFill>
                <a:latin typeface="Yu Gothic UI"/>
              </a:rPr>
              <a:t>ヘッダー情報の表示／非表示を選択可能</a:t>
            </a:r>
          </a:p>
        </p:txBody>
      </p:sp>
      <p:sp>
        <p:nvSpPr>
          <p:cNvPr id="21" name="Rounded Rectangle 20"/>
          <p:cNvSpPr/>
          <p:nvPr/>
        </p:nvSpPr>
        <p:spPr>
          <a:xfrm>
            <a:off x="4690872" y="1280160"/>
            <a:ext cx="4114800" cy="320040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690872" y="1280160"/>
            <a:ext cx="4114800" cy="64008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873752" y="1280160"/>
            <a:ext cx="548640" cy="640080"/>
          </a:xfrm>
          <a:prstGeom prst="rect">
            <a:avLst/>
          </a:prstGeom>
          <a:noFill/>
        </p:spPr>
        <p:txBody>
          <a:bodyPr wrap="square" lIns="45720" tIns="18288" rIns="45720" bIns="18288" anchor="ctr">
            <a:spAutoFit/>
          </a:bodyPr>
          <a:lstStyle/>
          <a:p>
            <a:pPr algn="ctr">
              <a:lnSpc>
                <a:spcPct val="115000"/>
              </a:lnSpc>
            </a:pPr>
            <a:r>
              <a:rPr sz="2200" b="0">
                <a:solidFill>
                  <a:srgbClr val="FFFFFF"/>
                </a:solidFill>
                <a:latin typeface="Yu Gothic UI"/>
              </a:rPr>
              <a:t>🖨️</a:t>
            </a:r>
          </a:p>
        </p:txBody>
      </p:sp>
      <p:sp>
        <p:nvSpPr>
          <p:cNvPr id="24" name="TextBox 23"/>
          <p:cNvSpPr txBox="1"/>
          <p:nvPr/>
        </p:nvSpPr>
        <p:spPr>
          <a:xfrm>
            <a:off x="5468112" y="1353312"/>
            <a:ext cx="3200400" cy="274320"/>
          </a:xfrm>
          <a:prstGeom prst="rect">
            <a:avLst/>
          </a:prstGeom>
          <a:noFill/>
        </p:spPr>
        <p:txBody>
          <a:bodyPr wrap="square" lIns="45720" tIns="18288" rIns="45720" bIns="18288" anchor="t">
            <a:spAutoFit/>
          </a:bodyPr>
          <a:lstStyle/>
          <a:p>
            <a:pPr algn="l">
              <a:lnSpc>
                <a:spcPct val="115000"/>
              </a:lnSpc>
            </a:pPr>
            <a:r>
              <a:rPr sz="1400" b="1">
                <a:solidFill>
                  <a:srgbClr val="FFFFFF"/>
                </a:solidFill>
                <a:latin typeface="Yu Gothic UI"/>
              </a:rPr>
              <a:t>印刷</a:t>
            </a:r>
          </a:p>
        </p:txBody>
      </p:sp>
      <p:sp>
        <p:nvSpPr>
          <p:cNvPr id="25" name="TextBox 24"/>
          <p:cNvSpPr txBox="1"/>
          <p:nvPr/>
        </p:nvSpPr>
        <p:spPr>
          <a:xfrm>
            <a:off x="5468112" y="1645920"/>
            <a:ext cx="3200400" cy="228600"/>
          </a:xfrm>
          <a:prstGeom prst="rect">
            <a:avLst/>
          </a:prstGeom>
          <a:noFill/>
        </p:spPr>
        <p:txBody>
          <a:bodyPr wrap="square" lIns="45720" tIns="18288" rIns="45720" bIns="18288" anchor="t">
            <a:spAutoFit/>
          </a:bodyPr>
          <a:lstStyle/>
          <a:p>
            <a:pPr algn="l">
              <a:lnSpc>
                <a:spcPct val="115000"/>
              </a:lnSpc>
            </a:pPr>
            <a:r>
              <a:rPr sz="900" b="0">
                <a:solidFill>
                  <a:srgbClr val="CADCFC"/>
                </a:solidFill>
                <a:latin typeface="Yu Gothic UI"/>
              </a:rPr>
              <a:t>ショートカット：Ctrl + P</a:t>
            </a:r>
          </a:p>
        </p:txBody>
      </p:sp>
      <p:sp>
        <p:nvSpPr>
          <p:cNvPr id="26" name="TextBox 25"/>
          <p:cNvSpPr txBox="1"/>
          <p:nvPr/>
        </p:nvSpPr>
        <p:spPr>
          <a:xfrm>
            <a:off x="4873752" y="2057400"/>
            <a:ext cx="3749040" cy="502920"/>
          </a:xfrm>
          <a:prstGeom prst="rect">
            <a:avLst/>
          </a:prstGeom>
          <a:noFill/>
        </p:spPr>
        <p:txBody>
          <a:bodyPr wrap="square" lIns="45720" tIns="18288" rIns="45720" bIns="18288" anchor="t">
            <a:spAutoFit/>
          </a:bodyPr>
          <a:lstStyle/>
          <a:p>
            <a:pPr algn="l">
              <a:lnSpc>
                <a:spcPct val="135000"/>
              </a:lnSpc>
            </a:pPr>
            <a:r>
              <a:rPr sz="1050" b="1">
                <a:solidFill>
                  <a:srgbClr val="36454F"/>
                </a:solidFill>
                <a:latin typeface="Yu Gothic UI"/>
              </a:rPr>
              <a:t>現在表示中の集計結果をプリンターで印刷できます。</a:t>
            </a:r>
          </a:p>
        </p:txBody>
      </p:sp>
      <p:sp>
        <p:nvSpPr>
          <p:cNvPr id="27" name="Rounded Rectangle 26"/>
          <p:cNvSpPr/>
          <p:nvPr/>
        </p:nvSpPr>
        <p:spPr>
          <a:xfrm>
            <a:off x="4919472" y="2651760"/>
            <a:ext cx="292608" cy="292608"/>
          </a:xfrm>
          <a:prstGeom prst="roundRect">
            <a:avLst>
              <a:gd name="adj" fmla="val 5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919472" y="2651760"/>
            <a:ext cx="292608" cy="292608"/>
          </a:xfrm>
          <a:prstGeom prst="rect">
            <a:avLst/>
          </a:prstGeom>
          <a:noFill/>
        </p:spPr>
        <p:txBody>
          <a:bodyPr wrap="square" lIns="45720" tIns="18288" rIns="45720" bIns="18288" anchor="ctr">
            <a:spAutoFit/>
          </a:bodyPr>
          <a:lstStyle/>
          <a:p>
            <a:pPr algn="ctr">
              <a:lnSpc>
                <a:spcPct val="115000"/>
              </a:lnSpc>
            </a:pPr>
            <a:r>
              <a:rPr sz="1000" b="1">
                <a:solidFill>
                  <a:srgbClr val="FFFFFF"/>
                </a:solidFill>
                <a:latin typeface="Yu Gothic UI"/>
              </a:rPr>
              <a:t>✓</a:t>
            </a:r>
          </a:p>
        </p:txBody>
      </p:sp>
      <p:sp>
        <p:nvSpPr>
          <p:cNvPr id="29" name="TextBox 28"/>
          <p:cNvSpPr txBox="1"/>
          <p:nvPr/>
        </p:nvSpPr>
        <p:spPr>
          <a:xfrm>
            <a:off x="5285232" y="2679192"/>
            <a:ext cx="3337560" cy="457200"/>
          </a:xfrm>
          <a:prstGeom prst="rect">
            <a:avLst/>
          </a:prstGeom>
          <a:noFill/>
        </p:spPr>
        <p:txBody>
          <a:bodyPr wrap="square" lIns="45720" tIns="18288" rIns="45720" bIns="18288" anchor="t">
            <a:spAutoFit/>
          </a:bodyPr>
          <a:lstStyle/>
          <a:p>
            <a:pPr algn="l">
              <a:lnSpc>
                <a:spcPct val="130000"/>
              </a:lnSpc>
            </a:pPr>
            <a:r>
              <a:rPr sz="1000" b="0">
                <a:solidFill>
                  <a:srgbClr val="36454F"/>
                </a:solidFill>
                <a:latin typeface="Yu Gothic UI"/>
              </a:rPr>
              <a:t>プレビュー付きで印刷イメージを確認</a:t>
            </a:r>
          </a:p>
        </p:txBody>
      </p:sp>
      <p:sp>
        <p:nvSpPr>
          <p:cNvPr id="30" name="Rounded Rectangle 29"/>
          <p:cNvSpPr/>
          <p:nvPr/>
        </p:nvSpPr>
        <p:spPr>
          <a:xfrm>
            <a:off x="4919472" y="3154680"/>
            <a:ext cx="292608" cy="292608"/>
          </a:xfrm>
          <a:prstGeom prst="roundRect">
            <a:avLst>
              <a:gd name="adj" fmla="val 5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919472" y="3154680"/>
            <a:ext cx="292608" cy="292608"/>
          </a:xfrm>
          <a:prstGeom prst="rect">
            <a:avLst/>
          </a:prstGeom>
          <a:noFill/>
        </p:spPr>
        <p:txBody>
          <a:bodyPr wrap="square" lIns="45720" tIns="18288" rIns="45720" bIns="18288" anchor="ctr">
            <a:spAutoFit/>
          </a:bodyPr>
          <a:lstStyle/>
          <a:p>
            <a:pPr algn="ctr">
              <a:lnSpc>
                <a:spcPct val="115000"/>
              </a:lnSpc>
            </a:pPr>
            <a:r>
              <a:rPr sz="1000" b="1">
                <a:solidFill>
                  <a:srgbClr val="FFFFFF"/>
                </a:solidFill>
                <a:latin typeface="Yu Gothic UI"/>
              </a:rPr>
              <a:t>✓</a:t>
            </a:r>
          </a:p>
        </p:txBody>
      </p:sp>
      <p:sp>
        <p:nvSpPr>
          <p:cNvPr id="32" name="TextBox 31"/>
          <p:cNvSpPr txBox="1"/>
          <p:nvPr/>
        </p:nvSpPr>
        <p:spPr>
          <a:xfrm>
            <a:off x="5285232" y="3182112"/>
            <a:ext cx="3337560" cy="457200"/>
          </a:xfrm>
          <a:prstGeom prst="rect">
            <a:avLst/>
          </a:prstGeom>
          <a:noFill/>
        </p:spPr>
        <p:txBody>
          <a:bodyPr wrap="square" lIns="45720" tIns="18288" rIns="45720" bIns="18288" anchor="t">
            <a:spAutoFit/>
          </a:bodyPr>
          <a:lstStyle/>
          <a:p>
            <a:pPr algn="l">
              <a:lnSpc>
                <a:spcPct val="130000"/>
              </a:lnSpc>
            </a:pPr>
            <a:r>
              <a:rPr sz="1000" b="0">
                <a:solidFill>
                  <a:srgbClr val="36454F"/>
                </a:solidFill>
                <a:latin typeface="Yu Gothic UI"/>
              </a:rPr>
              <a:t>印刷する列をチェックボックスで選択可能</a:t>
            </a:r>
          </a:p>
        </p:txBody>
      </p:sp>
      <p:sp>
        <p:nvSpPr>
          <p:cNvPr id="33" name="Rounded Rectangle 32"/>
          <p:cNvSpPr/>
          <p:nvPr/>
        </p:nvSpPr>
        <p:spPr>
          <a:xfrm>
            <a:off x="4919472" y="3657600"/>
            <a:ext cx="292608" cy="292608"/>
          </a:xfrm>
          <a:prstGeom prst="roundRect">
            <a:avLst>
              <a:gd name="adj" fmla="val 5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919472" y="3657600"/>
            <a:ext cx="292608" cy="292608"/>
          </a:xfrm>
          <a:prstGeom prst="rect">
            <a:avLst/>
          </a:prstGeom>
          <a:noFill/>
        </p:spPr>
        <p:txBody>
          <a:bodyPr wrap="square" lIns="45720" tIns="18288" rIns="45720" bIns="18288" anchor="ctr">
            <a:spAutoFit/>
          </a:bodyPr>
          <a:lstStyle/>
          <a:p>
            <a:pPr algn="ctr">
              <a:lnSpc>
                <a:spcPct val="115000"/>
              </a:lnSpc>
            </a:pPr>
            <a:r>
              <a:rPr sz="1000" b="1">
                <a:solidFill>
                  <a:srgbClr val="FFFFFF"/>
                </a:solidFill>
                <a:latin typeface="Yu Gothic UI"/>
              </a:rPr>
              <a:t>✓</a:t>
            </a:r>
          </a:p>
        </p:txBody>
      </p:sp>
      <p:sp>
        <p:nvSpPr>
          <p:cNvPr id="35" name="TextBox 34"/>
          <p:cNvSpPr txBox="1"/>
          <p:nvPr/>
        </p:nvSpPr>
        <p:spPr>
          <a:xfrm>
            <a:off x="5285232" y="3685032"/>
            <a:ext cx="3337560" cy="457200"/>
          </a:xfrm>
          <a:prstGeom prst="rect">
            <a:avLst/>
          </a:prstGeom>
          <a:noFill/>
        </p:spPr>
        <p:txBody>
          <a:bodyPr wrap="square" lIns="45720" tIns="18288" rIns="45720" bIns="18288" anchor="t">
            <a:spAutoFit/>
          </a:bodyPr>
          <a:lstStyle/>
          <a:p>
            <a:pPr algn="l">
              <a:lnSpc>
                <a:spcPct val="130000"/>
              </a:lnSpc>
            </a:pPr>
            <a:r>
              <a:rPr sz="1000" b="0">
                <a:solidFill>
                  <a:srgbClr val="36454F"/>
                </a:solidFill>
                <a:latin typeface="Yu Gothic UI"/>
              </a:rPr>
              <a:t>ヘッダー情報の表示／非表示を選択可能</a:t>
            </a:r>
          </a:p>
        </p:txBody>
      </p:sp>
      <p:sp>
        <p:nvSpPr>
          <p:cNvPr id="36" name="TextBox 35"/>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37" name="TextBox 36"/>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32 / 53</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07</a:t>
            </a:r>
            <a:r>
              <a:rPr sz="2000" b="0">
                <a:solidFill>
                  <a:srgbClr val="3457D5"/>
                </a:solidFill>
                <a:latin typeface="Yu Gothic UI"/>
              </a:rPr>
              <a:t>　</a:t>
            </a:r>
            <a:r>
              <a:rPr sz="2000" b="1">
                <a:solidFill>
                  <a:srgbClr val="36454F"/>
                </a:solidFill>
                <a:latin typeface="Yu Gothic UI"/>
              </a:rPr>
              <a:t>Excel書き出し・印刷</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Excel書き出しの操作手順を説明します。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1908810" cy="23317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190881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280160"/>
            <a:ext cx="190881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1</a:t>
            </a:r>
          </a:p>
        </p:txBody>
      </p:sp>
      <p:sp>
        <p:nvSpPr>
          <p:cNvPr id="9" name="TextBox 8"/>
          <p:cNvSpPr txBox="1"/>
          <p:nvPr/>
        </p:nvSpPr>
        <p:spPr>
          <a:xfrm>
            <a:off x="548640" y="1664208"/>
            <a:ext cx="172593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対象を表示</a:t>
            </a:r>
          </a:p>
        </p:txBody>
      </p:sp>
      <p:sp>
        <p:nvSpPr>
          <p:cNvPr id="10" name="TextBox 9"/>
          <p:cNvSpPr txBox="1"/>
          <p:nvPr/>
        </p:nvSpPr>
        <p:spPr>
          <a:xfrm>
            <a:off x="548640" y="2057400"/>
            <a:ext cx="1725930" cy="146304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書き出したい現場タブ・絞り込みタブを開きます。</a:t>
            </a:r>
          </a:p>
        </p:txBody>
      </p:sp>
      <p:sp>
        <p:nvSpPr>
          <p:cNvPr id="11" name="Right Arrow 10"/>
          <p:cNvSpPr/>
          <p:nvPr/>
        </p:nvSpPr>
        <p:spPr>
          <a:xfrm>
            <a:off x="2384298" y="2336292"/>
            <a:ext cx="201168" cy="219456"/>
          </a:xfrm>
          <a:prstGeom prst="rightArrow">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594610" y="1280160"/>
            <a:ext cx="1908810" cy="23317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94610" y="1280160"/>
            <a:ext cx="190881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94610" y="1280160"/>
            <a:ext cx="190881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2</a:t>
            </a:r>
          </a:p>
        </p:txBody>
      </p:sp>
      <p:sp>
        <p:nvSpPr>
          <p:cNvPr id="15" name="TextBox 14"/>
          <p:cNvSpPr txBox="1"/>
          <p:nvPr/>
        </p:nvSpPr>
        <p:spPr>
          <a:xfrm>
            <a:off x="2686050" y="1664208"/>
            <a:ext cx="172593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ボタン or Ctrl+E</a:t>
            </a:r>
          </a:p>
        </p:txBody>
      </p:sp>
      <p:sp>
        <p:nvSpPr>
          <p:cNvPr id="16" name="TextBox 15"/>
          <p:cNvSpPr txBox="1"/>
          <p:nvPr/>
        </p:nvSpPr>
        <p:spPr>
          <a:xfrm>
            <a:off x="2686050" y="2057400"/>
            <a:ext cx="1725930" cy="146304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「Excel書き出し」ボタンをクリック、または Ctrl + E を押します。</a:t>
            </a:r>
          </a:p>
        </p:txBody>
      </p:sp>
      <p:sp>
        <p:nvSpPr>
          <p:cNvPr id="17" name="Right Arrow 16"/>
          <p:cNvSpPr/>
          <p:nvPr/>
        </p:nvSpPr>
        <p:spPr>
          <a:xfrm>
            <a:off x="4521708" y="2336292"/>
            <a:ext cx="201168" cy="219456"/>
          </a:xfrm>
          <a:prstGeom prst="rightArrow">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732020" y="1280160"/>
            <a:ext cx="1908810" cy="23317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732020" y="1280160"/>
            <a:ext cx="190881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732020" y="1280160"/>
            <a:ext cx="190881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3</a:t>
            </a:r>
          </a:p>
        </p:txBody>
      </p:sp>
      <p:sp>
        <p:nvSpPr>
          <p:cNvPr id="21" name="TextBox 20"/>
          <p:cNvSpPr txBox="1"/>
          <p:nvPr/>
        </p:nvSpPr>
        <p:spPr>
          <a:xfrm>
            <a:off x="4823460" y="1664208"/>
            <a:ext cx="172593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プレビュー確認</a:t>
            </a:r>
          </a:p>
        </p:txBody>
      </p:sp>
      <p:sp>
        <p:nvSpPr>
          <p:cNvPr id="22" name="TextBox 21"/>
          <p:cNvSpPr txBox="1"/>
          <p:nvPr/>
        </p:nvSpPr>
        <p:spPr>
          <a:xfrm>
            <a:off x="4823460" y="2057400"/>
            <a:ext cx="1725930" cy="146304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プレビュー画面で内容を確認します。出力する列・ヘッダー情報のオプションを選択します。</a:t>
            </a:r>
          </a:p>
        </p:txBody>
      </p:sp>
      <p:sp>
        <p:nvSpPr>
          <p:cNvPr id="23" name="Right Arrow 22"/>
          <p:cNvSpPr/>
          <p:nvPr/>
        </p:nvSpPr>
        <p:spPr>
          <a:xfrm>
            <a:off x="6659118" y="2336292"/>
            <a:ext cx="201168" cy="219456"/>
          </a:xfrm>
          <a:prstGeom prst="rightArrow">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869430" y="1280160"/>
            <a:ext cx="1908810" cy="23317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869430" y="1280160"/>
            <a:ext cx="190881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69430" y="1280160"/>
            <a:ext cx="190881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4</a:t>
            </a:r>
          </a:p>
        </p:txBody>
      </p:sp>
      <p:sp>
        <p:nvSpPr>
          <p:cNvPr id="27" name="TextBox 26"/>
          <p:cNvSpPr txBox="1"/>
          <p:nvPr/>
        </p:nvSpPr>
        <p:spPr>
          <a:xfrm>
            <a:off x="6960870" y="1664208"/>
            <a:ext cx="172593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保存先を指定</a:t>
            </a:r>
          </a:p>
        </p:txBody>
      </p:sp>
      <p:sp>
        <p:nvSpPr>
          <p:cNvPr id="28" name="TextBox 27"/>
          <p:cNvSpPr txBox="1"/>
          <p:nvPr/>
        </p:nvSpPr>
        <p:spPr>
          <a:xfrm>
            <a:off x="6960870" y="2057400"/>
            <a:ext cx="1725930" cy="146304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「書き出し」ボタンを押し、Excelファイルの保存先を指定すると、ファイルが作成されます。</a:t>
            </a:r>
          </a:p>
        </p:txBody>
      </p:sp>
      <p:sp>
        <p:nvSpPr>
          <p:cNvPr id="31" name="TextBox 30"/>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32" name="TextBox 31"/>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33 / 53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07</a:t>
            </a:r>
            <a:r>
              <a:rPr sz="2000" b="0">
                <a:solidFill>
                  <a:srgbClr val="3457D5"/>
                </a:solidFill>
                <a:latin typeface="Yu Gothic UI"/>
              </a:rPr>
              <a:t>　</a:t>
            </a:r>
            <a:r>
              <a:rPr sz="2000" b="1">
                <a:solidFill>
                  <a:srgbClr val="36454F"/>
                </a:solidFill>
                <a:latin typeface="Yu Gothic UI"/>
              </a:rPr>
              <a:t>Excel書き出し・印刷</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印刷の操作手順を説明します。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1908810" cy="23317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190881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280160"/>
            <a:ext cx="190881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1</a:t>
            </a:r>
          </a:p>
        </p:txBody>
      </p:sp>
      <p:sp>
        <p:nvSpPr>
          <p:cNvPr id="9" name="TextBox 8"/>
          <p:cNvSpPr txBox="1"/>
          <p:nvPr/>
        </p:nvSpPr>
        <p:spPr>
          <a:xfrm>
            <a:off x="548640" y="1664208"/>
            <a:ext cx="172593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対象を表示</a:t>
            </a:r>
          </a:p>
        </p:txBody>
      </p:sp>
      <p:sp>
        <p:nvSpPr>
          <p:cNvPr id="10" name="TextBox 9"/>
          <p:cNvSpPr txBox="1"/>
          <p:nvPr/>
        </p:nvSpPr>
        <p:spPr>
          <a:xfrm>
            <a:off x="548640" y="2057400"/>
            <a:ext cx="1725930" cy="146304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印刷したい現場タブ・絞り込みタブを開きます。</a:t>
            </a:r>
          </a:p>
        </p:txBody>
      </p:sp>
      <p:sp>
        <p:nvSpPr>
          <p:cNvPr id="11" name="Right Arrow 10"/>
          <p:cNvSpPr/>
          <p:nvPr/>
        </p:nvSpPr>
        <p:spPr>
          <a:xfrm>
            <a:off x="2384298" y="2336292"/>
            <a:ext cx="201168" cy="219456"/>
          </a:xfrm>
          <a:prstGeom prst="rightArrow">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594610" y="1280160"/>
            <a:ext cx="1908810" cy="23317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94610" y="1280160"/>
            <a:ext cx="190881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94610" y="1280160"/>
            <a:ext cx="190881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2</a:t>
            </a:r>
          </a:p>
        </p:txBody>
      </p:sp>
      <p:sp>
        <p:nvSpPr>
          <p:cNvPr id="15" name="TextBox 14"/>
          <p:cNvSpPr txBox="1"/>
          <p:nvPr/>
        </p:nvSpPr>
        <p:spPr>
          <a:xfrm>
            <a:off x="2686050" y="1664208"/>
            <a:ext cx="172593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ボタン or Ctrl+P</a:t>
            </a:r>
          </a:p>
        </p:txBody>
      </p:sp>
      <p:sp>
        <p:nvSpPr>
          <p:cNvPr id="16" name="TextBox 15"/>
          <p:cNvSpPr txBox="1"/>
          <p:nvPr/>
        </p:nvSpPr>
        <p:spPr>
          <a:xfrm>
            <a:off x="2686050" y="2057400"/>
            <a:ext cx="1725930" cy="146304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「印刷」ボタンをクリック、または Ctrl + P を押します。</a:t>
            </a:r>
          </a:p>
        </p:txBody>
      </p:sp>
      <p:sp>
        <p:nvSpPr>
          <p:cNvPr id="17" name="Right Arrow 16"/>
          <p:cNvSpPr/>
          <p:nvPr/>
        </p:nvSpPr>
        <p:spPr>
          <a:xfrm>
            <a:off x="4521708" y="2336292"/>
            <a:ext cx="201168" cy="219456"/>
          </a:xfrm>
          <a:prstGeom prst="rightArrow">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732020" y="1280160"/>
            <a:ext cx="1908810" cy="23317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732020" y="1280160"/>
            <a:ext cx="190881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732020" y="1280160"/>
            <a:ext cx="190881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3</a:t>
            </a:r>
          </a:p>
        </p:txBody>
      </p:sp>
      <p:sp>
        <p:nvSpPr>
          <p:cNvPr id="21" name="TextBox 20"/>
          <p:cNvSpPr txBox="1"/>
          <p:nvPr/>
        </p:nvSpPr>
        <p:spPr>
          <a:xfrm>
            <a:off x="4823460" y="1664208"/>
            <a:ext cx="172593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プレビュー確認</a:t>
            </a:r>
          </a:p>
        </p:txBody>
      </p:sp>
      <p:sp>
        <p:nvSpPr>
          <p:cNvPr id="22" name="TextBox 21"/>
          <p:cNvSpPr txBox="1"/>
          <p:nvPr/>
        </p:nvSpPr>
        <p:spPr>
          <a:xfrm>
            <a:off x="4823460" y="2057400"/>
            <a:ext cx="1725930" cy="146304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プレビュー画面で印刷イメージを確認します。印刷する列・ヘッダー情報のオプションを選択します。</a:t>
            </a:r>
          </a:p>
        </p:txBody>
      </p:sp>
      <p:sp>
        <p:nvSpPr>
          <p:cNvPr id="23" name="Right Arrow 22"/>
          <p:cNvSpPr/>
          <p:nvPr/>
        </p:nvSpPr>
        <p:spPr>
          <a:xfrm>
            <a:off x="6659118" y="2336292"/>
            <a:ext cx="201168" cy="219456"/>
          </a:xfrm>
          <a:prstGeom prst="rightArrow">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869430" y="1280160"/>
            <a:ext cx="1908810" cy="23317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869430" y="1280160"/>
            <a:ext cx="190881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69430" y="1280160"/>
            <a:ext cx="190881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4</a:t>
            </a:r>
          </a:p>
        </p:txBody>
      </p:sp>
      <p:sp>
        <p:nvSpPr>
          <p:cNvPr id="27" name="TextBox 26"/>
          <p:cNvSpPr txBox="1"/>
          <p:nvPr/>
        </p:nvSpPr>
        <p:spPr>
          <a:xfrm>
            <a:off x="6960870" y="1664208"/>
            <a:ext cx="172593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プリンターを選択</a:t>
            </a:r>
          </a:p>
        </p:txBody>
      </p:sp>
      <p:sp>
        <p:nvSpPr>
          <p:cNvPr id="28" name="TextBox 27"/>
          <p:cNvSpPr txBox="1"/>
          <p:nvPr/>
        </p:nvSpPr>
        <p:spPr>
          <a:xfrm>
            <a:off x="6960870" y="2057400"/>
            <a:ext cx="1725930" cy="146304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「印刷」ボタンを押し、プリンターを選択して印刷を実行します。</a:t>
            </a:r>
          </a:p>
        </p:txBody>
      </p:sp>
      <p:sp>
        <p:nvSpPr>
          <p:cNvPr id="31" name="TextBox 30"/>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32" name="TextBox 31"/>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34 / 53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07</a:t>
            </a:r>
            <a:r>
              <a:rPr sz="2000" b="0">
                <a:solidFill>
                  <a:srgbClr val="3457D5"/>
                </a:solidFill>
                <a:latin typeface="Yu Gothic UI"/>
              </a:rPr>
              <a:t>　</a:t>
            </a:r>
            <a:r>
              <a:rPr sz="2000" b="1">
                <a:solidFill>
                  <a:srgbClr val="36454F"/>
                </a:solidFill>
                <a:latin typeface="Yu Gothic UI"/>
              </a:rPr>
              <a:t>Excel書き出し・印刷</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出力時に列の選択・ヘッダー情報の表示を選べます。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4114800" cy="320040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4114800" cy="41148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280160"/>
            <a:ext cx="4114800" cy="411480"/>
          </a:xfrm>
          <a:prstGeom prst="rect">
            <a:avLst/>
          </a:prstGeom>
          <a:noFill/>
        </p:spPr>
        <p:txBody>
          <a:bodyPr wrap="square" lIns="45720" tIns="18288" rIns="45720" bIns="18288" anchor="ctr">
            <a:spAutoFit/>
          </a:bodyPr>
          <a:lstStyle/>
          <a:p>
            <a:pPr algn="ctr">
              <a:lnSpc>
                <a:spcPct val="115000"/>
              </a:lnSpc>
            </a:pPr>
            <a:r>
              <a:rPr sz="1250" b="1">
                <a:solidFill>
                  <a:srgbClr val="FFFFFF"/>
                </a:solidFill>
                <a:latin typeface="Yu Gothic UI"/>
              </a:rPr>
              <a:t>📋 列選択</a:t>
            </a:r>
          </a:p>
        </p:txBody>
      </p:sp>
      <p:sp>
        <p:nvSpPr>
          <p:cNvPr id="9" name="TextBox 8"/>
          <p:cNvSpPr txBox="1"/>
          <p:nvPr/>
        </p:nvSpPr>
        <p:spPr>
          <a:xfrm>
            <a:off x="685800" y="1828800"/>
            <a:ext cx="3657600" cy="502920"/>
          </a:xfrm>
          <a:prstGeom prst="rect">
            <a:avLst/>
          </a:prstGeom>
          <a:noFill/>
        </p:spPr>
        <p:txBody>
          <a:bodyPr wrap="square" lIns="45720" tIns="18288" rIns="45720" bIns="18288" anchor="t">
            <a:spAutoFit/>
          </a:bodyPr>
          <a:lstStyle/>
          <a:p>
            <a:pPr algn="l">
              <a:lnSpc>
                <a:spcPct val="135000"/>
              </a:lnSpc>
            </a:pPr>
            <a:r>
              <a:rPr sz="1050" b="1">
                <a:solidFill>
                  <a:srgbClr val="36454F"/>
                </a:solidFill>
                <a:latin typeface="Yu Gothic UI"/>
              </a:rPr>
              <a:t>出力する列をチェックボックスで選択できます。</a:t>
            </a:r>
          </a:p>
        </p:txBody>
      </p:sp>
      <p:sp>
        <p:nvSpPr>
          <p:cNvPr id="10" name="Rounded Rectangle 9"/>
          <p:cNvSpPr/>
          <p:nvPr/>
        </p:nvSpPr>
        <p:spPr>
          <a:xfrm>
            <a:off x="685800" y="2514600"/>
            <a:ext cx="274320" cy="274320"/>
          </a:xfrm>
          <a:prstGeom prst="roundRect">
            <a:avLst>
              <a:gd name="adj" fmla="val 5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514600"/>
            <a:ext cx="274320" cy="274320"/>
          </a:xfrm>
          <a:prstGeom prst="rect">
            <a:avLst/>
          </a:prstGeom>
          <a:noFill/>
        </p:spPr>
        <p:txBody>
          <a:bodyPr wrap="square" lIns="45720" tIns="18288" rIns="45720" bIns="18288" anchor="ctr">
            <a:spAutoFit/>
          </a:bodyPr>
          <a:lstStyle/>
          <a:p>
            <a:pPr algn="ctr">
              <a:lnSpc>
                <a:spcPct val="115000"/>
              </a:lnSpc>
            </a:pPr>
            <a:r>
              <a:rPr sz="1000" b="1">
                <a:solidFill>
                  <a:srgbClr val="FFFFFF"/>
                </a:solidFill>
                <a:latin typeface="Yu Gothic UI"/>
              </a:rPr>
              <a:t>✓</a:t>
            </a:r>
          </a:p>
        </p:txBody>
      </p:sp>
      <p:sp>
        <p:nvSpPr>
          <p:cNvPr id="12" name="TextBox 11"/>
          <p:cNvSpPr txBox="1"/>
          <p:nvPr/>
        </p:nvSpPr>
        <p:spPr>
          <a:xfrm>
            <a:off x="1024128" y="2468880"/>
            <a:ext cx="3337560" cy="54864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日付・氏名・作業内容・人件費・交通費・損料などの列を、必要なものだけに絞れます。</a:t>
            </a:r>
          </a:p>
        </p:txBody>
      </p:sp>
      <p:sp>
        <p:nvSpPr>
          <p:cNvPr id="13" name="Rounded Rectangle 12"/>
          <p:cNvSpPr/>
          <p:nvPr/>
        </p:nvSpPr>
        <p:spPr>
          <a:xfrm>
            <a:off x="685800" y="3108960"/>
            <a:ext cx="274320" cy="274320"/>
          </a:xfrm>
          <a:prstGeom prst="roundRect">
            <a:avLst>
              <a:gd name="adj" fmla="val 5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108960"/>
            <a:ext cx="274320" cy="274320"/>
          </a:xfrm>
          <a:prstGeom prst="rect">
            <a:avLst/>
          </a:prstGeom>
          <a:noFill/>
        </p:spPr>
        <p:txBody>
          <a:bodyPr wrap="square" lIns="45720" tIns="18288" rIns="45720" bIns="18288" anchor="ctr">
            <a:spAutoFit/>
          </a:bodyPr>
          <a:lstStyle/>
          <a:p>
            <a:pPr algn="ctr">
              <a:lnSpc>
                <a:spcPct val="115000"/>
              </a:lnSpc>
            </a:pPr>
            <a:r>
              <a:rPr sz="1000" b="1">
                <a:solidFill>
                  <a:srgbClr val="FFFFFF"/>
                </a:solidFill>
                <a:latin typeface="Yu Gothic UI"/>
              </a:rPr>
              <a:t>✓</a:t>
            </a:r>
          </a:p>
        </p:txBody>
      </p:sp>
      <p:sp>
        <p:nvSpPr>
          <p:cNvPr id="15" name="TextBox 14"/>
          <p:cNvSpPr txBox="1"/>
          <p:nvPr/>
        </p:nvSpPr>
        <p:spPr>
          <a:xfrm>
            <a:off x="1024128" y="3063240"/>
            <a:ext cx="3337560" cy="54864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デフォルトでは全ての列がチェックされた状態です。</a:t>
            </a:r>
          </a:p>
        </p:txBody>
      </p:sp>
      <p:sp>
        <p:nvSpPr>
          <p:cNvPr id="16" name="Rounded Rectangle 15"/>
          <p:cNvSpPr/>
          <p:nvPr/>
        </p:nvSpPr>
        <p:spPr>
          <a:xfrm>
            <a:off x="685800" y="3703320"/>
            <a:ext cx="274320" cy="274320"/>
          </a:xfrm>
          <a:prstGeom prst="roundRect">
            <a:avLst>
              <a:gd name="adj" fmla="val 5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3703320"/>
            <a:ext cx="274320" cy="274320"/>
          </a:xfrm>
          <a:prstGeom prst="rect">
            <a:avLst/>
          </a:prstGeom>
          <a:noFill/>
        </p:spPr>
        <p:txBody>
          <a:bodyPr wrap="square" lIns="45720" tIns="18288" rIns="45720" bIns="18288" anchor="ctr">
            <a:spAutoFit/>
          </a:bodyPr>
          <a:lstStyle/>
          <a:p>
            <a:pPr algn="ctr">
              <a:lnSpc>
                <a:spcPct val="115000"/>
              </a:lnSpc>
            </a:pPr>
            <a:r>
              <a:rPr sz="1000" b="1">
                <a:solidFill>
                  <a:srgbClr val="FFFFFF"/>
                </a:solidFill>
                <a:latin typeface="Yu Gothic UI"/>
              </a:rPr>
              <a:t>✓</a:t>
            </a:r>
          </a:p>
        </p:txBody>
      </p:sp>
      <p:sp>
        <p:nvSpPr>
          <p:cNvPr id="18" name="TextBox 17"/>
          <p:cNvSpPr txBox="1"/>
          <p:nvPr/>
        </p:nvSpPr>
        <p:spPr>
          <a:xfrm>
            <a:off x="1024128" y="3657600"/>
            <a:ext cx="3337560" cy="54864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選択した列の組み合わせは、次回起動時にも記憶されます。</a:t>
            </a:r>
          </a:p>
        </p:txBody>
      </p:sp>
      <p:sp>
        <p:nvSpPr>
          <p:cNvPr id="19" name="Rounded Rectangle 18"/>
          <p:cNvSpPr/>
          <p:nvPr/>
        </p:nvSpPr>
        <p:spPr>
          <a:xfrm>
            <a:off x="4690872" y="1280160"/>
            <a:ext cx="4114800" cy="320040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690872" y="1280160"/>
            <a:ext cx="4114800" cy="41148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690872" y="1280160"/>
            <a:ext cx="4114800" cy="411480"/>
          </a:xfrm>
          <a:prstGeom prst="rect">
            <a:avLst/>
          </a:prstGeom>
          <a:noFill/>
        </p:spPr>
        <p:txBody>
          <a:bodyPr wrap="square" lIns="45720" tIns="18288" rIns="45720" bIns="18288" anchor="ctr">
            <a:spAutoFit/>
          </a:bodyPr>
          <a:lstStyle/>
          <a:p>
            <a:pPr algn="ctr">
              <a:lnSpc>
                <a:spcPct val="115000"/>
              </a:lnSpc>
            </a:pPr>
            <a:r>
              <a:rPr sz="1250" b="1">
                <a:solidFill>
                  <a:srgbClr val="FFFFFF"/>
                </a:solidFill>
                <a:latin typeface="Yu Gothic UI"/>
              </a:rPr>
              <a:t>🏷️ ヘッダー情報の表示</a:t>
            </a:r>
          </a:p>
        </p:txBody>
      </p:sp>
      <p:sp>
        <p:nvSpPr>
          <p:cNvPr id="22" name="TextBox 21"/>
          <p:cNvSpPr txBox="1"/>
          <p:nvPr/>
        </p:nvSpPr>
        <p:spPr>
          <a:xfrm>
            <a:off x="4919472" y="1828800"/>
            <a:ext cx="3657600" cy="502920"/>
          </a:xfrm>
          <a:prstGeom prst="rect">
            <a:avLst/>
          </a:prstGeom>
          <a:noFill/>
        </p:spPr>
        <p:txBody>
          <a:bodyPr wrap="square" lIns="45720" tIns="18288" rIns="45720" bIns="18288" anchor="t">
            <a:spAutoFit/>
          </a:bodyPr>
          <a:lstStyle/>
          <a:p>
            <a:pPr algn="l">
              <a:lnSpc>
                <a:spcPct val="135000"/>
              </a:lnSpc>
            </a:pPr>
            <a:r>
              <a:rPr sz="1050" b="1">
                <a:solidFill>
                  <a:srgbClr val="36454F"/>
                </a:solidFill>
                <a:latin typeface="Yu Gothic UI"/>
              </a:rPr>
              <a:t>絞り込み条件・カスタム単価情報を、出力結果の冒頭に表示できます。</a:t>
            </a:r>
          </a:p>
        </p:txBody>
      </p:sp>
      <p:sp>
        <p:nvSpPr>
          <p:cNvPr id="23" name="Rounded Rectangle 22"/>
          <p:cNvSpPr/>
          <p:nvPr/>
        </p:nvSpPr>
        <p:spPr>
          <a:xfrm>
            <a:off x="4919472" y="2514600"/>
            <a:ext cx="274320" cy="274320"/>
          </a:xfrm>
          <a:prstGeom prst="roundRect">
            <a:avLst>
              <a:gd name="adj" fmla="val 5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919472" y="2514600"/>
            <a:ext cx="274320" cy="274320"/>
          </a:xfrm>
          <a:prstGeom prst="rect">
            <a:avLst/>
          </a:prstGeom>
          <a:noFill/>
        </p:spPr>
        <p:txBody>
          <a:bodyPr wrap="square" lIns="45720" tIns="18288" rIns="45720" bIns="18288" anchor="ctr">
            <a:spAutoFit/>
          </a:bodyPr>
          <a:lstStyle/>
          <a:p>
            <a:pPr algn="ctr">
              <a:lnSpc>
                <a:spcPct val="115000"/>
              </a:lnSpc>
            </a:pPr>
            <a:r>
              <a:rPr sz="1000" b="1">
                <a:solidFill>
                  <a:srgbClr val="FFFFFF"/>
                </a:solidFill>
                <a:latin typeface="Yu Gothic UI"/>
              </a:rPr>
              <a:t>✓</a:t>
            </a:r>
          </a:p>
        </p:txBody>
      </p:sp>
      <p:sp>
        <p:nvSpPr>
          <p:cNvPr id="25" name="TextBox 24"/>
          <p:cNvSpPr txBox="1"/>
          <p:nvPr/>
        </p:nvSpPr>
        <p:spPr>
          <a:xfrm>
            <a:off x="5257800" y="2468880"/>
            <a:ext cx="3337560" cy="54864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絞り込みタブで設定した条件（月度・氏名・作業内容）が出力されます。</a:t>
            </a:r>
          </a:p>
        </p:txBody>
      </p:sp>
      <p:sp>
        <p:nvSpPr>
          <p:cNvPr id="26" name="Rounded Rectangle 25"/>
          <p:cNvSpPr/>
          <p:nvPr/>
        </p:nvSpPr>
        <p:spPr>
          <a:xfrm>
            <a:off x="4919472" y="3108960"/>
            <a:ext cx="274320" cy="274320"/>
          </a:xfrm>
          <a:prstGeom prst="roundRect">
            <a:avLst>
              <a:gd name="adj" fmla="val 5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919472" y="3108960"/>
            <a:ext cx="274320" cy="274320"/>
          </a:xfrm>
          <a:prstGeom prst="rect">
            <a:avLst/>
          </a:prstGeom>
          <a:noFill/>
        </p:spPr>
        <p:txBody>
          <a:bodyPr wrap="square" lIns="45720" tIns="18288" rIns="45720" bIns="18288" anchor="ctr">
            <a:spAutoFit/>
          </a:bodyPr>
          <a:lstStyle/>
          <a:p>
            <a:pPr algn="ctr">
              <a:lnSpc>
                <a:spcPct val="115000"/>
              </a:lnSpc>
            </a:pPr>
            <a:r>
              <a:rPr sz="1000" b="1">
                <a:solidFill>
                  <a:srgbClr val="FFFFFF"/>
                </a:solidFill>
                <a:latin typeface="Yu Gothic UI"/>
              </a:rPr>
              <a:t>✓</a:t>
            </a:r>
          </a:p>
        </p:txBody>
      </p:sp>
      <p:sp>
        <p:nvSpPr>
          <p:cNvPr id="28" name="TextBox 27"/>
          <p:cNvSpPr txBox="1"/>
          <p:nvPr/>
        </p:nvSpPr>
        <p:spPr>
          <a:xfrm>
            <a:off x="5257800" y="3063240"/>
            <a:ext cx="3337560" cy="54864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現場ごとのカスタム単価を設定している場合、その単価情報も表示されます。</a:t>
            </a:r>
          </a:p>
        </p:txBody>
      </p:sp>
      <p:sp>
        <p:nvSpPr>
          <p:cNvPr id="29" name="Rounded Rectangle 28"/>
          <p:cNvSpPr/>
          <p:nvPr/>
        </p:nvSpPr>
        <p:spPr>
          <a:xfrm>
            <a:off x="4919472" y="3703320"/>
            <a:ext cx="274320" cy="274320"/>
          </a:xfrm>
          <a:prstGeom prst="roundRect">
            <a:avLst>
              <a:gd name="adj" fmla="val 5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919472" y="3703320"/>
            <a:ext cx="274320" cy="274320"/>
          </a:xfrm>
          <a:prstGeom prst="rect">
            <a:avLst/>
          </a:prstGeom>
          <a:noFill/>
        </p:spPr>
        <p:txBody>
          <a:bodyPr wrap="square" lIns="45720" tIns="18288" rIns="45720" bIns="18288" anchor="ctr">
            <a:spAutoFit/>
          </a:bodyPr>
          <a:lstStyle/>
          <a:p>
            <a:pPr algn="ctr">
              <a:lnSpc>
                <a:spcPct val="115000"/>
              </a:lnSpc>
            </a:pPr>
            <a:r>
              <a:rPr sz="1000" b="1">
                <a:solidFill>
                  <a:srgbClr val="FFFFFF"/>
                </a:solidFill>
                <a:latin typeface="Yu Gothic UI"/>
              </a:rPr>
              <a:t>✓</a:t>
            </a:r>
          </a:p>
        </p:txBody>
      </p:sp>
      <p:sp>
        <p:nvSpPr>
          <p:cNvPr id="31" name="TextBox 30"/>
          <p:cNvSpPr txBox="1"/>
          <p:nvPr/>
        </p:nvSpPr>
        <p:spPr>
          <a:xfrm>
            <a:off x="5257800" y="3657600"/>
            <a:ext cx="3337560" cy="54864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資料として配布する際に、何の条件で集計したかが一目で分かります。</a:t>
            </a:r>
          </a:p>
        </p:txBody>
      </p:sp>
      <p:sp>
        <p:nvSpPr>
          <p:cNvPr id="32" name="TextBox 31"/>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33" name="TextBox 32"/>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35 / 53</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08</a:t>
            </a:r>
            <a:r>
              <a:rPr sz="2000" b="0">
                <a:solidFill>
                  <a:srgbClr val="3457D5"/>
                </a:solidFill>
                <a:latin typeface="Yu Gothic UI"/>
              </a:rPr>
              <a:t>　</a:t>
            </a:r>
            <a:r>
              <a:rPr sz="2000" b="1">
                <a:solidFill>
                  <a:srgbClr val="36454F"/>
                </a:solidFill>
                <a:latin typeface="Yu Gothic UI"/>
              </a:rPr>
              <a:t>ショートカットキー</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Ctrl 系のショートカットキー一覧です。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1280160"/>
            <a:ext cx="8321040" cy="310896"/>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280160"/>
            <a:ext cx="1371600" cy="310896"/>
          </a:xfrm>
          <a:prstGeom prst="rect">
            <a:avLst/>
          </a:prstGeom>
          <a:noFill/>
        </p:spPr>
        <p:txBody>
          <a:bodyPr wrap="square" lIns="45720" tIns="18288" rIns="45720" bIns="18288" anchor="ctr">
            <a:spAutoFit/>
          </a:bodyPr>
          <a:lstStyle/>
          <a:p>
            <a:pPr algn="l">
              <a:lnSpc>
                <a:spcPct val="115000"/>
              </a:lnSpc>
            </a:pPr>
            <a:r>
              <a:rPr sz="1100" b="1">
                <a:solidFill>
                  <a:srgbClr val="FFFFFF"/>
                </a:solidFill>
                <a:latin typeface="Yu Gothic UI"/>
              </a:rPr>
              <a:t>キー</a:t>
            </a:r>
          </a:p>
        </p:txBody>
      </p:sp>
      <p:sp>
        <p:nvSpPr>
          <p:cNvPr id="8" name="TextBox 7"/>
          <p:cNvSpPr txBox="1"/>
          <p:nvPr/>
        </p:nvSpPr>
        <p:spPr>
          <a:xfrm>
            <a:off x="2011680" y="1280160"/>
            <a:ext cx="2011680" cy="310896"/>
          </a:xfrm>
          <a:prstGeom prst="rect">
            <a:avLst/>
          </a:prstGeom>
          <a:noFill/>
        </p:spPr>
        <p:txBody>
          <a:bodyPr wrap="square" lIns="45720" tIns="18288" rIns="45720" bIns="18288" anchor="ctr">
            <a:spAutoFit/>
          </a:bodyPr>
          <a:lstStyle/>
          <a:p>
            <a:pPr algn="l">
              <a:lnSpc>
                <a:spcPct val="115000"/>
              </a:lnSpc>
            </a:pPr>
            <a:r>
              <a:rPr sz="1100" b="1">
                <a:solidFill>
                  <a:srgbClr val="FFFFFF"/>
                </a:solidFill>
                <a:latin typeface="Yu Gothic UI"/>
              </a:rPr>
              <a:t>操作</a:t>
            </a:r>
          </a:p>
        </p:txBody>
      </p:sp>
      <p:sp>
        <p:nvSpPr>
          <p:cNvPr id="9" name="TextBox 8"/>
          <p:cNvSpPr txBox="1"/>
          <p:nvPr/>
        </p:nvSpPr>
        <p:spPr>
          <a:xfrm>
            <a:off x="4069080" y="1280160"/>
            <a:ext cx="4572001" cy="310896"/>
          </a:xfrm>
          <a:prstGeom prst="rect">
            <a:avLst/>
          </a:prstGeom>
          <a:noFill/>
        </p:spPr>
        <p:txBody>
          <a:bodyPr wrap="square" lIns="45720" tIns="18288" rIns="45720" bIns="18288" anchor="ctr">
            <a:spAutoFit/>
          </a:bodyPr>
          <a:lstStyle/>
          <a:p>
            <a:pPr algn="l">
              <a:lnSpc>
                <a:spcPct val="115000"/>
              </a:lnSpc>
            </a:pPr>
            <a:r>
              <a:rPr sz="1100" b="1">
                <a:solidFill>
                  <a:srgbClr val="FFFFFF"/>
                </a:solidFill>
                <a:latin typeface="Yu Gothic UI"/>
              </a:rPr>
              <a:t>説明</a:t>
            </a:r>
          </a:p>
        </p:txBody>
      </p:sp>
      <p:sp>
        <p:nvSpPr>
          <p:cNvPr id="10" name="Rectangle 9"/>
          <p:cNvSpPr/>
          <p:nvPr/>
        </p:nvSpPr>
        <p:spPr>
          <a:xfrm>
            <a:off x="457200" y="1591056"/>
            <a:ext cx="832104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94360" y="1655064"/>
            <a:ext cx="1280160" cy="256032"/>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1655064"/>
            <a:ext cx="1280160" cy="256032"/>
          </a:xfrm>
          <a:prstGeom prst="rect">
            <a:avLst/>
          </a:prstGeom>
          <a:noFill/>
        </p:spPr>
        <p:txBody>
          <a:bodyPr wrap="square" lIns="45720" tIns="18288" rIns="45720" bIns="18288" anchor="ctr">
            <a:spAutoFit/>
          </a:bodyPr>
          <a:lstStyle/>
          <a:p>
            <a:pPr algn="ctr">
              <a:lnSpc>
                <a:spcPct val="115000"/>
              </a:lnSpc>
            </a:pPr>
            <a:r>
              <a:rPr sz="950" b="1">
                <a:solidFill>
                  <a:srgbClr val="FFFFFF"/>
                </a:solidFill>
                <a:latin typeface="Yu Gothic UI"/>
              </a:rPr>
              <a:t>Ctrl + Z</a:t>
            </a:r>
          </a:p>
        </p:txBody>
      </p:sp>
      <p:sp>
        <p:nvSpPr>
          <p:cNvPr id="13" name="TextBox 12"/>
          <p:cNvSpPr txBox="1"/>
          <p:nvPr/>
        </p:nvSpPr>
        <p:spPr>
          <a:xfrm>
            <a:off x="2011680" y="1591056"/>
            <a:ext cx="2011680" cy="310896"/>
          </a:xfrm>
          <a:prstGeom prst="rect">
            <a:avLst/>
          </a:prstGeom>
          <a:noFill/>
        </p:spPr>
        <p:txBody>
          <a:bodyPr wrap="square" lIns="45720" tIns="18288" rIns="45720" bIns="18288" anchor="ctr">
            <a:spAutoFit/>
          </a:bodyPr>
          <a:lstStyle/>
          <a:p>
            <a:pPr algn="l">
              <a:lnSpc>
                <a:spcPct val="115000"/>
              </a:lnSpc>
            </a:pPr>
            <a:r>
              <a:rPr sz="1000" b="1">
                <a:solidFill>
                  <a:srgbClr val="36454F"/>
                </a:solidFill>
                <a:latin typeface="Yu Gothic UI"/>
              </a:rPr>
              <a:t>元に戻す</a:t>
            </a:r>
          </a:p>
        </p:txBody>
      </p:sp>
      <p:sp>
        <p:nvSpPr>
          <p:cNvPr id="14" name="TextBox 13"/>
          <p:cNvSpPr txBox="1"/>
          <p:nvPr/>
        </p:nvSpPr>
        <p:spPr>
          <a:xfrm>
            <a:off x="4069080" y="1591056"/>
            <a:ext cx="4572001" cy="310896"/>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属性変更・区分コード・現場名/詳細を最大10回戻せます</a:t>
            </a:r>
          </a:p>
        </p:txBody>
      </p:sp>
      <p:sp>
        <p:nvSpPr>
          <p:cNvPr id="15" name="Rectangle 14"/>
          <p:cNvSpPr/>
          <p:nvPr/>
        </p:nvSpPr>
        <p:spPr>
          <a:xfrm>
            <a:off x="457200" y="1901952"/>
            <a:ext cx="8321040" cy="31089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94360" y="1965960"/>
            <a:ext cx="1280160" cy="256032"/>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1965960"/>
            <a:ext cx="1280160" cy="256032"/>
          </a:xfrm>
          <a:prstGeom prst="rect">
            <a:avLst/>
          </a:prstGeom>
          <a:noFill/>
        </p:spPr>
        <p:txBody>
          <a:bodyPr wrap="square" lIns="45720" tIns="18288" rIns="45720" bIns="18288" anchor="ctr">
            <a:spAutoFit/>
          </a:bodyPr>
          <a:lstStyle/>
          <a:p>
            <a:pPr algn="ctr">
              <a:lnSpc>
                <a:spcPct val="115000"/>
              </a:lnSpc>
            </a:pPr>
            <a:r>
              <a:rPr sz="950" b="1">
                <a:solidFill>
                  <a:srgbClr val="FFFFFF"/>
                </a:solidFill>
                <a:latin typeface="Yu Gothic UI"/>
              </a:rPr>
              <a:t>Ctrl + Y</a:t>
            </a:r>
          </a:p>
        </p:txBody>
      </p:sp>
      <p:sp>
        <p:nvSpPr>
          <p:cNvPr id="18" name="TextBox 17"/>
          <p:cNvSpPr txBox="1"/>
          <p:nvPr/>
        </p:nvSpPr>
        <p:spPr>
          <a:xfrm>
            <a:off x="2011680" y="1901952"/>
            <a:ext cx="2011680" cy="310896"/>
          </a:xfrm>
          <a:prstGeom prst="rect">
            <a:avLst/>
          </a:prstGeom>
          <a:noFill/>
        </p:spPr>
        <p:txBody>
          <a:bodyPr wrap="square" lIns="45720" tIns="18288" rIns="45720" bIns="18288" anchor="ctr">
            <a:spAutoFit/>
          </a:bodyPr>
          <a:lstStyle/>
          <a:p>
            <a:pPr algn="l">
              <a:lnSpc>
                <a:spcPct val="115000"/>
              </a:lnSpc>
            </a:pPr>
            <a:r>
              <a:rPr sz="1000" b="1">
                <a:solidFill>
                  <a:srgbClr val="36454F"/>
                </a:solidFill>
                <a:latin typeface="Yu Gothic UI"/>
              </a:rPr>
              <a:t>やり直し</a:t>
            </a:r>
          </a:p>
        </p:txBody>
      </p:sp>
      <p:sp>
        <p:nvSpPr>
          <p:cNvPr id="19" name="TextBox 18"/>
          <p:cNvSpPr txBox="1"/>
          <p:nvPr/>
        </p:nvSpPr>
        <p:spPr>
          <a:xfrm>
            <a:off x="4069080" y="1901952"/>
            <a:ext cx="4572001" cy="310896"/>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Ctrl + Z で戻した操作を再度やり直します</a:t>
            </a:r>
          </a:p>
        </p:txBody>
      </p:sp>
      <p:sp>
        <p:nvSpPr>
          <p:cNvPr id="20" name="Rectangle 19"/>
          <p:cNvSpPr/>
          <p:nvPr/>
        </p:nvSpPr>
        <p:spPr>
          <a:xfrm>
            <a:off x="457200" y="2212848"/>
            <a:ext cx="832104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94360" y="2276856"/>
            <a:ext cx="1280160" cy="256032"/>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4360" y="2276856"/>
            <a:ext cx="1280160" cy="256032"/>
          </a:xfrm>
          <a:prstGeom prst="rect">
            <a:avLst/>
          </a:prstGeom>
          <a:noFill/>
        </p:spPr>
        <p:txBody>
          <a:bodyPr wrap="square" lIns="45720" tIns="18288" rIns="45720" bIns="18288" anchor="ctr">
            <a:spAutoFit/>
          </a:bodyPr>
          <a:lstStyle/>
          <a:p>
            <a:pPr algn="ctr">
              <a:lnSpc>
                <a:spcPct val="115000"/>
              </a:lnSpc>
            </a:pPr>
            <a:r>
              <a:rPr sz="950" b="1">
                <a:solidFill>
                  <a:srgbClr val="FFFFFF"/>
                </a:solidFill>
                <a:latin typeface="Yu Gothic UI"/>
              </a:rPr>
              <a:t>Ctrl + R</a:t>
            </a:r>
          </a:p>
        </p:txBody>
      </p:sp>
      <p:sp>
        <p:nvSpPr>
          <p:cNvPr id="23" name="TextBox 22"/>
          <p:cNvSpPr txBox="1"/>
          <p:nvPr/>
        </p:nvSpPr>
        <p:spPr>
          <a:xfrm>
            <a:off x="2011680" y="2212848"/>
            <a:ext cx="2011680" cy="310896"/>
          </a:xfrm>
          <a:prstGeom prst="rect">
            <a:avLst/>
          </a:prstGeom>
          <a:noFill/>
        </p:spPr>
        <p:txBody>
          <a:bodyPr wrap="square" lIns="45720" tIns="18288" rIns="45720" bIns="18288" anchor="ctr">
            <a:spAutoFit/>
          </a:bodyPr>
          <a:lstStyle/>
          <a:p>
            <a:pPr algn="l">
              <a:lnSpc>
                <a:spcPct val="115000"/>
              </a:lnSpc>
            </a:pPr>
            <a:r>
              <a:rPr sz="1000" b="1">
                <a:solidFill>
                  <a:srgbClr val="36454F"/>
                </a:solidFill>
                <a:latin typeface="Yu Gothic UI"/>
              </a:rPr>
              <a:t>🔄 更新</a:t>
            </a:r>
          </a:p>
        </p:txBody>
      </p:sp>
      <p:sp>
        <p:nvSpPr>
          <p:cNvPr id="24" name="TextBox 23"/>
          <p:cNvSpPr txBox="1"/>
          <p:nvPr/>
        </p:nvSpPr>
        <p:spPr>
          <a:xfrm>
            <a:off x="4069080" y="2212848"/>
            <a:ext cx="4572001" cy="310896"/>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他のユーザーの変更内容を反映します</a:t>
            </a:r>
          </a:p>
        </p:txBody>
      </p:sp>
      <p:sp>
        <p:nvSpPr>
          <p:cNvPr id="25" name="Rectangle 24"/>
          <p:cNvSpPr/>
          <p:nvPr/>
        </p:nvSpPr>
        <p:spPr>
          <a:xfrm>
            <a:off x="457200" y="2523744"/>
            <a:ext cx="8321040" cy="31089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594360" y="2587752"/>
            <a:ext cx="1280160" cy="256032"/>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4360" y="2587752"/>
            <a:ext cx="1280160" cy="256032"/>
          </a:xfrm>
          <a:prstGeom prst="rect">
            <a:avLst/>
          </a:prstGeom>
          <a:noFill/>
        </p:spPr>
        <p:txBody>
          <a:bodyPr wrap="square" lIns="45720" tIns="18288" rIns="45720" bIns="18288" anchor="ctr">
            <a:spAutoFit/>
          </a:bodyPr>
          <a:lstStyle/>
          <a:p>
            <a:pPr algn="ctr">
              <a:lnSpc>
                <a:spcPct val="115000"/>
              </a:lnSpc>
            </a:pPr>
            <a:r>
              <a:rPr sz="950" b="1">
                <a:solidFill>
                  <a:srgbClr val="FFFFFF"/>
                </a:solidFill>
                <a:latin typeface="Yu Gothic UI"/>
              </a:rPr>
              <a:t>Ctrl + F</a:t>
            </a:r>
          </a:p>
        </p:txBody>
      </p:sp>
      <p:sp>
        <p:nvSpPr>
          <p:cNvPr id="28" name="TextBox 27"/>
          <p:cNvSpPr txBox="1"/>
          <p:nvPr/>
        </p:nvSpPr>
        <p:spPr>
          <a:xfrm>
            <a:off x="2011680" y="2523744"/>
            <a:ext cx="2011680" cy="310896"/>
          </a:xfrm>
          <a:prstGeom prst="rect">
            <a:avLst/>
          </a:prstGeom>
          <a:noFill/>
        </p:spPr>
        <p:txBody>
          <a:bodyPr wrap="square" lIns="45720" tIns="18288" rIns="45720" bIns="18288" anchor="ctr">
            <a:spAutoFit/>
          </a:bodyPr>
          <a:lstStyle/>
          <a:p>
            <a:pPr algn="l">
              <a:lnSpc>
                <a:spcPct val="115000"/>
              </a:lnSpc>
            </a:pPr>
            <a:r>
              <a:rPr sz="1000" b="1">
                <a:solidFill>
                  <a:srgbClr val="36454F"/>
                </a:solidFill>
                <a:latin typeface="Yu Gothic UI"/>
              </a:rPr>
              <a:t>現場タブ検索</a:t>
            </a:r>
          </a:p>
        </p:txBody>
      </p:sp>
      <p:sp>
        <p:nvSpPr>
          <p:cNvPr id="29" name="TextBox 28"/>
          <p:cNvSpPr txBox="1"/>
          <p:nvPr/>
        </p:nvSpPr>
        <p:spPr>
          <a:xfrm>
            <a:off x="4069080" y="2523744"/>
            <a:ext cx="4572001" cy="310896"/>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現場タブの検索ボックスにフォーカスを移動します</a:t>
            </a:r>
          </a:p>
        </p:txBody>
      </p:sp>
      <p:sp>
        <p:nvSpPr>
          <p:cNvPr id="30" name="Rectangle 29"/>
          <p:cNvSpPr/>
          <p:nvPr/>
        </p:nvSpPr>
        <p:spPr>
          <a:xfrm>
            <a:off x="457200" y="2834640"/>
            <a:ext cx="832104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594360" y="2898648"/>
            <a:ext cx="1280160" cy="256032"/>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94360" y="2898648"/>
            <a:ext cx="1280160" cy="256032"/>
          </a:xfrm>
          <a:prstGeom prst="rect">
            <a:avLst/>
          </a:prstGeom>
          <a:noFill/>
        </p:spPr>
        <p:txBody>
          <a:bodyPr wrap="square" lIns="45720" tIns="18288" rIns="45720" bIns="18288" anchor="ctr">
            <a:spAutoFit/>
          </a:bodyPr>
          <a:lstStyle/>
          <a:p>
            <a:pPr algn="ctr">
              <a:lnSpc>
                <a:spcPct val="115000"/>
              </a:lnSpc>
            </a:pPr>
            <a:r>
              <a:rPr sz="950" b="1">
                <a:solidFill>
                  <a:srgbClr val="FFFFFF"/>
                </a:solidFill>
                <a:latin typeface="Yu Gothic UI"/>
              </a:rPr>
              <a:t>Ctrl + P</a:t>
            </a:r>
          </a:p>
        </p:txBody>
      </p:sp>
      <p:sp>
        <p:nvSpPr>
          <p:cNvPr id="33" name="TextBox 32"/>
          <p:cNvSpPr txBox="1"/>
          <p:nvPr/>
        </p:nvSpPr>
        <p:spPr>
          <a:xfrm>
            <a:off x="2011680" y="2834640"/>
            <a:ext cx="2011680" cy="310896"/>
          </a:xfrm>
          <a:prstGeom prst="rect">
            <a:avLst/>
          </a:prstGeom>
          <a:noFill/>
        </p:spPr>
        <p:txBody>
          <a:bodyPr wrap="square" lIns="45720" tIns="18288" rIns="45720" bIns="18288" anchor="ctr">
            <a:spAutoFit/>
          </a:bodyPr>
          <a:lstStyle/>
          <a:p>
            <a:pPr algn="l">
              <a:lnSpc>
                <a:spcPct val="115000"/>
              </a:lnSpc>
            </a:pPr>
            <a:r>
              <a:rPr sz="1000" b="1">
                <a:solidFill>
                  <a:srgbClr val="36454F"/>
                </a:solidFill>
                <a:latin typeface="Yu Gothic UI"/>
              </a:rPr>
              <a:t>印刷ダイアログ</a:t>
            </a:r>
          </a:p>
        </p:txBody>
      </p:sp>
      <p:sp>
        <p:nvSpPr>
          <p:cNvPr id="34" name="TextBox 33"/>
          <p:cNvSpPr txBox="1"/>
          <p:nvPr/>
        </p:nvSpPr>
        <p:spPr>
          <a:xfrm>
            <a:off x="4069080" y="2834640"/>
            <a:ext cx="4572001" cy="310896"/>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印刷プレビューを開きます</a:t>
            </a:r>
          </a:p>
        </p:txBody>
      </p:sp>
      <p:sp>
        <p:nvSpPr>
          <p:cNvPr id="35" name="Rectangle 34"/>
          <p:cNvSpPr/>
          <p:nvPr/>
        </p:nvSpPr>
        <p:spPr>
          <a:xfrm>
            <a:off x="457200" y="3145536"/>
            <a:ext cx="8321040" cy="31089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594360" y="3209544"/>
            <a:ext cx="1280160" cy="256032"/>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94360" y="3209544"/>
            <a:ext cx="1280160" cy="256032"/>
          </a:xfrm>
          <a:prstGeom prst="rect">
            <a:avLst/>
          </a:prstGeom>
          <a:noFill/>
        </p:spPr>
        <p:txBody>
          <a:bodyPr wrap="square" lIns="45720" tIns="18288" rIns="45720" bIns="18288" anchor="ctr">
            <a:spAutoFit/>
          </a:bodyPr>
          <a:lstStyle/>
          <a:p>
            <a:pPr algn="ctr">
              <a:lnSpc>
                <a:spcPct val="115000"/>
              </a:lnSpc>
            </a:pPr>
            <a:r>
              <a:rPr sz="950" b="1">
                <a:solidFill>
                  <a:srgbClr val="FFFFFF"/>
                </a:solidFill>
                <a:latin typeface="Yu Gothic UI"/>
              </a:rPr>
              <a:t>Ctrl + E</a:t>
            </a:r>
          </a:p>
        </p:txBody>
      </p:sp>
      <p:sp>
        <p:nvSpPr>
          <p:cNvPr id="38" name="TextBox 37"/>
          <p:cNvSpPr txBox="1"/>
          <p:nvPr/>
        </p:nvSpPr>
        <p:spPr>
          <a:xfrm>
            <a:off x="2011680" y="3145536"/>
            <a:ext cx="2011680" cy="310896"/>
          </a:xfrm>
          <a:prstGeom prst="rect">
            <a:avLst/>
          </a:prstGeom>
          <a:noFill/>
        </p:spPr>
        <p:txBody>
          <a:bodyPr wrap="square" lIns="45720" tIns="18288" rIns="45720" bIns="18288" anchor="ctr">
            <a:spAutoFit/>
          </a:bodyPr>
          <a:lstStyle/>
          <a:p>
            <a:pPr algn="l">
              <a:lnSpc>
                <a:spcPct val="115000"/>
              </a:lnSpc>
            </a:pPr>
            <a:r>
              <a:rPr sz="1000" b="1">
                <a:solidFill>
                  <a:srgbClr val="36454F"/>
                </a:solidFill>
                <a:latin typeface="Yu Gothic UI"/>
              </a:rPr>
              <a:t>Excel出力</a:t>
            </a:r>
          </a:p>
        </p:txBody>
      </p:sp>
      <p:sp>
        <p:nvSpPr>
          <p:cNvPr id="39" name="TextBox 38"/>
          <p:cNvSpPr txBox="1"/>
          <p:nvPr/>
        </p:nvSpPr>
        <p:spPr>
          <a:xfrm>
            <a:off x="4069080" y="3145536"/>
            <a:ext cx="4572001" cy="310896"/>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Excel書き出しダイアログを開きます</a:t>
            </a:r>
          </a:p>
        </p:txBody>
      </p:sp>
      <p:sp>
        <p:nvSpPr>
          <p:cNvPr id="40" name="Rectangle 39"/>
          <p:cNvSpPr/>
          <p:nvPr/>
        </p:nvSpPr>
        <p:spPr>
          <a:xfrm>
            <a:off x="457200" y="3456432"/>
            <a:ext cx="832104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594360" y="3520440"/>
            <a:ext cx="1280160" cy="256032"/>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94360" y="3520440"/>
            <a:ext cx="1280160" cy="256032"/>
          </a:xfrm>
          <a:prstGeom prst="rect">
            <a:avLst/>
          </a:prstGeom>
          <a:noFill/>
        </p:spPr>
        <p:txBody>
          <a:bodyPr wrap="square" lIns="45720" tIns="18288" rIns="45720" bIns="18288" anchor="ctr">
            <a:spAutoFit/>
          </a:bodyPr>
          <a:lstStyle/>
          <a:p>
            <a:pPr algn="ctr">
              <a:lnSpc>
                <a:spcPct val="115000"/>
              </a:lnSpc>
            </a:pPr>
            <a:r>
              <a:rPr sz="950" b="1">
                <a:solidFill>
                  <a:srgbClr val="FFFFFF"/>
                </a:solidFill>
                <a:latin typeface="Yu Gothic UI"/>
              </a:rPr>
              <a:t>Ctrl + N</a:t>
            </a:r>
          </a:p>
        </p:txBody>
      </p:sp>
      <p:sp>
        <p:nvSpPr>
          <p:cNvPr id="43" name="TextBox 42"/>
          <p:cNvSpPr txBox="1"/>
          <p:nvPr/>
        </p:nvSpPr>
        <p:spPr>
          <a:xfrm>
            <a:off x="2011680" y="3456432"/>
            <a:ext cx="2011680" cy="310896"/>
          </a:xfrm>
          <a:prstGeom prst="rect">
            <a:avLst/>
          </a:prstGeom>
          <a:noFill/>
        </p:spPr>
        <p:txBody>
          <a:bodyPr wrap="square" lIns="45720" tIns="18288" rIns="45720" bIns="18288" anchor="ctr">
            <a:spAutoFit/>
          </a:bodyPr>
          <a:lstStyle/>
          <a:p>
            <a:pPr algn="l">
              <a:lnSpc>
                <a:spcPct val="115000"/>
              </a:lnSpc>
            </a:pPr>
            <a:r>
              <a:rPr sz="1000" b="1">
                <a:solidFill>
                  <a:srgbClr val="36454F"/>
                </a:solidFill>
                <a:latin typeface="Yu Gothic UI"/>
              </a:rPr>
              <a:t>絞り込みタブ追加</a:t>
            </a:r>
          </a:p>
        </p:txBody>
      </p:sp>
      <p:sp>
        <p:nvSpPr>
          <p:cNvPr id="44" name="TextBox 43"/>
          <p:cNvSpPr txBox="1"/>
          <p:nvPr/>
        </p:nvSpPr>
        <p:spPr>
          <a:xfrm>
            <a:off x="4069080" y="3456432"/>
            <a:ext cx="4572001" cy="310896"/>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新しい絞り込みタブを追加します</a:t>
            </a:r>
          </a:p>
        </p:txBody>
      </p:sp>
      <p:sp>
        <p:nvSpPr>
          <p:cNvPr id="45" name="Rectangle 44"/>
          <p:cNvSpPr/>
          <p:nvPr/>
        </p:nvSpPr>
        <p:spPr>
          <a:xfrm>
            <a:off x="457200" y="3767328"/>
            <a:ext cx="8321040" cy="31089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594360" y="3831336"/>
            <a:ext cx="1280160" cy="256032"/>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94360" y="3831336"/>
            <a:ext cx="1280160" cy="256032"/>
          </a:xfrm>
          <a:prstGeom prst="rect">
            <a:avLst/>
          </a:prstGeom>
          <a:noFill/>
        </p:spPr>
        <p:txBody>
          <a:bodyPr wrap="square" lIns="45720" tIns="18288" rIns="45720" bIns="18288" anchor="ctr">
            <a:spAutoFit/>
          </a:bodyPr>
          <a:lstStyle/>
          <a:p>
            <a:pPr algn="ctr">
              <a:lnSpc>
                <a:spcPct val="115000"/>
              </a:lnSpc>
            </a:pPr>
            <a:r>
              <a:rPr sz="950" b="1">
                <a:solidFill>
                  <a:srgbClr val="FFFFFF"/>
                </a:solidFill>
                <a:latin typeface="Yu Gothic UI"/>
              </a:rPr>
              <a:t>Ctrl + U</a:t>
            </a:r>
          </a:p>
        </p:txBody>
      </p:sp>
      <p:sp>
        <p:nvSpPr>
          <p:cNvPr id="48" name="TextBox 47"/>
          <p:cNvSpPr txBox="1"/>
          <p:nvPr/>
        </p:nvSpPr>
        <p:spPr>
          <a:xfrm>
            <a:off x="2011680" y="3767328"/>
            <a:ext cx="2011680" cy="310896"/>
          </a:xfrm>
          <a:prstGeom prst="rect">
            <a:avLst/>
          </a:prstGeom>
          <a:noFill/>
        </p:spPr>
        <p:txBody>
          <a:bodyPr wrap="square" lIns="45720" tIns="18288" rIns="45720" bIns="18288" anchor="ctr">
            <a:spAutoFit/>
          </a:bodyPr>
          <a:lstStyle/>
          <a:p>
            <a:pPr algn="l">
              <a:lnSpc>
                <a:spcPct val="115000"/>
              </a:lnSpc>
            </a:pPr>
            <a:r>
              <a:rPr sz="1000" b="1">
                <a:solidFill>
                  <a:srgbClr val="36454F"/>
                </a:solidFill>
                <a:latin typeface="Yu Gothic UI"/>
              </a:rPr>
              <a:t>人員単価変更</a:t>
            </a:r>
          </a:p>
        </p:txBody>
      </p:sp>
      <p:sp>
        <p:nvSpPr>
          <p:cNvPr id="49" name="TextBox 48"/>
          <p:cNvSpPr txBox="1"/>
          <p:nvPr/>
        </p:nvSpPr>
        <p:spPr>
          <a:xfrm>
            <a:off x="4069080" y="3767328"/>
            <a:ext cx="4572001" cy="310896"/>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人員単価変更ダイアログを開きます</a:t>
            </a:r>
          </a:p>
        </p:txBody>
      </p:sp>
      <p:sp>
        <p:nvSpPr>
          <p:cNvPr id="50" name="Rectangle 49"/>
          <p:cNvSpPr/>
          <p:nvPr/>
        </p:nvSpPr>
        <p:spPr>
          <a:xfrm>
            <a:off x="457200" y="4078224"/>
            <a:ext cx="832104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594360" y="4142232"/>
            <a:ext cx="1280160" cy="256032"/>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94360" y="4142232"/>
            <a:ext cx="1280160" cy="256032"/>
          </a:xfrm>
          <a:prstGeom prst="rect">
            <a:avLst/>
          </a:prstGeom>
          <a:noFill/>
        </p:spPr>
        <p:txBody>
          <a:bodyPr wrap="square" lIns="45720" tIns="18288" rIns="45720" bIns="18288" anchor="ctr">
            <a:spAutoFit/>
          </a:bodyPr>
          <a:lstStyle/>
          <a:p>
            <a:pPr algn="ctr">
              <a:lnSpc>
                <a:spcPct val="115000"/>
              </a:lnSpc>
            </a:pPr>
            <a:r>
              <a:rPr sz="950" b="1">
                <a:solidFill>
                  <a:srgbClr val="FFFFFF"/>
                </a:solidFill>
                <a:latin typeface="Yu Gothic UI"/>
              </a:rPr>
              <a:t>Ctrl + M</a:t>
            </a:r>
          </a:p>
        </p:txBody>
      </p:sp>
      <p:sp>
        <p:nvSpPr>
          <p:cNvPr id="53" name="TextBox 52"/>
          <p:cNvSpPr txBox="1"/>
          <p:nvPr/>
        </p:nvSpPr>
        <p:spPr>
          <a:xfrm>
            <a:off x="2011680" y="4078224"/>
            <a:ext cx="2011680" cy="310896"/>
          </a:xfrm>
          <a:prstGeom prst="rect">
            <a:avLst/>
          </a:prstGeom>
          <a:noFill/>
        </p:spPr>
        <p:txBody>
          <a:bodyPr wrap="square" lIns="45720" tIns="18288" rIns="45720" bIns="18288" anchor="ctr">
            <a:spAutoFit/>
          </a:bodyPr>
          <a:lstStyle/>
          <a:p>
            <a:pPr algn="l">
              <a:lnSpc>
                <a:spcPct val="115000"/>
              </a:lnSpc>
            </a:pPr>
            <a:r>
              <a:rPr sz="1000" b="1">
                <a:solidFill>
                  <a:srgbClr val="36454F"/>
                </a:solidFill>
                <a:latin typeface="Yu Gothic UI"/>
              </a:rPr>
              <a:t>月度折りたたみ</a:t>
            </a:r>
          </a:p>
        </p:txBody>
      </p:sp>
      <p:sp>
        <p:nvSpPr>
          <p:cNvPr id="54" name="TextBox 53"/>
          <p:cNvSpPr txBox="1"/>
          <p:nvPr/>
        </p:nvSpPr>
        <p:spPr>
          <a:xfrm>
            <a:off x="4069080" y="4078224"/>
            <a:ext cx="4572001" cy="310896"/>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選択中の月度の表示／折りたたみを切り替えます</a:t>
            </a:r>
          </a:p>
        </p:txBody>
      </p:sp>
      <p:sp>
        <p:nvSpPr>
          <p:cNvPr id="55" name="Rectangle 54"/>
          <p:cNvSpPr/>
          <p:nvPr/>
        </p:nvSpPr>
        <p:spPr>
          <a:xfrm>
            <a:off x="457200" y="4389120"/>
            <a:ext cx="8321040" cy="31089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55"/>
          <p:cNvSpPr/>
          <p:nvPr/>
        </p:nvSpPr>
        <p:spPr>
          <a:xfrm>
            <a:off x="594360" y="4453128"/>
            <a:ext cx="1280160" cy="256032"/>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94360" y="4453128"/>
            <a:ext cx="1280160" cy="256032"/>
          </a:xfrm>
          <a:prstGeom prst="rect">
            <a:avLst/>
          </a:prstGeom>
          <a:noFill/>
        </p:spPr>
        <p:txBody>
          <a:bodyPr wrap="square" lIns="45720" tIns="18288" rIns="45720" bIns="18288" anchor="ctr">
            <a:spAutoFit/>
          </a:bodyPr>
          <a:lstStyle/>
          <a:p>
            <a:pPr algn="ctr">
              <a:lnSpc>
                <a:spcPct val="115000"/>
              </a:lnSpc>
            </a:pPr>
            <a:r>
              <a:rPr sz="950" b="1">
                <a:solidFill>
                  <a:srgbClr val="FFFFFF"/>
                </a:solidFill>
                <a:latin typeface="Yu Gothic UI"/>
              </a:rPr>
              <a:t>Ctrl + Shift + M</a:t>
            </a:r>
          </a:p>
        </p:txBody>
      </p:sp>
      <p:sp>
        <p:nvSpPr>
          <p:cNvPr id="58" name="TextBox 57"/>
          <p:cNvSpPr txBox="1"/>
          <p:nvPr/>
        </p:nvSpPr>
        <p:spPr>
          <a:xfrm>
            <a:off x="2011680" y="4389120"/>
            <a:ext cx="2011680" cy="310896"/>
          </a:xfrm>
          <a:prstGeom prst="rect">
            <a:avLst/>
          </a:prstGeom>
          <a:noFill/>
        </p:spPr>
        <p:txBody>
          <a:bodyPr wrap="square" lIns="45720" tIns="18288" rIns="45720" bIns="18288" anchor="ctr">
            <a:spAutoFit/>
          </a:bodyPr>
          <a:lstStyle/>
          <a:p>
            <a:pPr algn="l">
              <a:lnSpc>
                <a:spcPct val="115000"/>
              </a:lnSpc>
            </a:pPr>
            <a:r>
              <a:rPr sz="1000" b="1">
                <a:solidFill>
                  <a:srgbClr val="36454F"/>
                </a:solidFill>
                <a:latin typeface="Yu Gothic UI"/>
              </a:rPr>
              <a:t>年度折りたたみ</a:t>
            </a:r>
          </a:p>
        </p:txBody>
      </p:sp>
      <p:sp>
        <p:nvSpPr>
          <p:cNvPr id="59" name="TextBox 58"/>
          <p:cNvSpPr txBox="1"/>
          <p:nvPr/>
        </p:nvSpPr>
        <p:spPr>
          <a:xfrm>
            <a:off x="4069080" y="4389120"/>
            <a:ext cx="4572001" cy="310896"/>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選択中の年度の表示／折りたたみを切り替えます</a:t>
            </a:r>
          </a:p>
        </p:txBody>
      </p:sp>
      <p:sp>
        <p:nvSpPr>
          <p:cNvPr id="60" name="Rectangle 59"/>
          <p:cNvSpPr/>
          <p:nvPr/>
        </p:nvSpPr>
        <p:spPr>
          <a:xfrm>
            <a:off x="457200" y="1280160"/>
            <a:ext cx="8321040" cy="3419856"/>
          </a:xfrm>
          <a:prstGeom prst="rect">
            <a:avLst/>
          </a:prstGeom>
          <a:noFill/>
          <a:ln w="6350">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62" name="TextBox 61"/>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36 / 53</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08</a:t>
            </a:r>
            <a:r>
              <a:rPr sz="2000" b="0">
                <a:solidFill>
                  <a:srgbClr val="3457D5"/>
                </a:solidFill>
                <a:latin typeface="Yu Gothic UI"/>
              </a:rPr>
              <a:t>　</a:t>
            </a:r>
            <a:r>
              <a:rPr sz="2000" b="1">
                <a:solidFill>
                  <a:srgbClr val="36454F"/>
                </a:solidFill>
                <a:latin typeface="Yu Gothic UI"/>
              </a:rPr>
              <a:t>ショートカットキー</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ファンクションキーとマウス操作の組み合わせです。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1280160"/>
            <a:ext cx="8321040" cy="38404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280160"/>
            <a:ext cx="1371600" cy="384048"/>
          </a:xfrm>
          <a:prstGeom prst="rect">
            <a:avLst/>
          </a:prstGeom>
          <a:noFill/>
        </p:spPr>
        <p:txBody>
          <a:bodyPr wrap="square" lIns="45720" tIns="18288" rIns="45720" bIns="18288" anchor="ctr">
            <a:spAutoFit/>
          </a:bodyPr>
          <a:lstStyle/>
          <a:p>
            <a:pPr algn="l">
              <a:lnSpc>
                <a:spcPct val="115000"/>
              </a:lnSpc>
            </a:pPr>
            <a:r>
              <a:rPr sz="1100" b="1">
                <a:solidFill>
                  <a:srgbClr val="FFFFFF"/>
                </a:solidFill>
                <a:latin typeface="Yu Gothic UI"/>
              </a:rPr>
              <a:t>キー</a:t>
            </a:r>
          </a:p>
        </p:txBody>
      </p:sp>
      <p:sp>
        <p:nvSpPr>
          <p:cNvPr id="8" name="TextBox 7"/>
          <p:cNvSpPr txBox="1"/>
          <p:nvPr/>
        </p:nvSpPr>
        <p:spPr>
          <a:xfrm>
            <a:off x="2011680" y="1280160"/>
            <a:ext cx="2011680" cy="384048"/>
          </a:xfrm>
          <a:prstGeom prst="rect">
            <a:avLst/>
          </a:prstGeom>
          <a:noFill/>
        </p:spPr>
        <p:txBody>
          <a:bodyPr wrap="square" lIns="45720" tIns="18288" rIns="45720" bIns="18288" anchor="ctr">
            <a:spAutoFit/>
          </a:bodyPr>
          <a:lstStyle/>
          <a:p>
            <a:pPr algn="l">
              <a:lnSpc>
                <a:spcPct val="115000"/>
              </a:lnSpc>
            </a:pPr>
            <a:r>
              <a:rPr sz="1100" b="1">
                <a:solidFill>
                  <a:srgbClr val="FFFFFF"/>
                </a:solidFill>
                <a:latin typeface="Yu Gothic UI"/>
              </a:rPr>
              <a:t>操作</a:t>
            </a:r>
          </a:p>
        </p:txBody>
      </p:sp>
      <p:sp>
        <p:nvSpPr>
          <p:cNvPr id="9" name="TextBox 8"/>
          <p:cNvSpPr txBox="1"/>
          <p:nvPr/>
        </p:nvSpPr>
        <p:spPr>
          <a:xfrm>
            <a:off x="4069080" y="1280160"/>
            <a:ext cx="4572001" cy="384048"/>
          </a:xfrm>
          <a:prstGeom prst="rect">
            <a:avLst/>
          </a:prstGeom>
          <a:noFill/>
        </p:spPr>
        <p:txBody>
          <a:bodyPr wrap="square" lIns="45720" tIns="18288" rIns="45720" bIns="18288" anchor="ctr">
            <a:spAutoFit/>
          </a:bodyPr>
          <a:lstStyle/>
          <a:p>
            <a:pPr algn="l">
              <a:lnSpc>
                <a:spcPct val="115000"/>
              </a:lnSpc>
            </a:pPr>
            <a:r>
              <a:rPr sz="1100" b="1">
                <a:solidFill>
                  <a:srgbClr val="FFFFFF"/>
                </a:solidFill>
                <a:latin typeface="Yu Gothic UI"/>
              </a:rPr>
              <a:t>説明</a:t>
            </a:r>
          </a:p>
        </p:txBody>
      </p:sp>
      <p:sp>
        <p:nvSpPr>
          <p:cNvPr id="10" name="Rectangle 9"/>
          <p:cNvSpPr/>
          <p:nvPr/>
        </p:nvSpPr>
        <p:spPr>
          <a:xfrm>
            <a:off x="457200" y="1664208"/>
            <a:ext cx="83210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94360" y="1728216"/>
            <a:ext cx="1280160" cy="256032"/>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1728216"/>
            <a:ext cx="1280160" cy="256032"/>
          </a:xfrm>
          <a:prstGeom prst="rect">
            <a:avLst/>
          </a:prstGeom>
          <a:noFill/>
        </p:spPr>
        <p:txBody>
          <a:bodyPr wrap="square" lIns="45720" tIns="18288" rIns="45720" bIns="18288" anchor="ctr">
            <a:spAutoFit/>
          </a:bodyPr>
          <a:lstStyle/>
          <a:p>
            <a:pPr algn="ctr">
              <a:lnSpc>
                <a:spcPct val="115000"/>
              </a:lnSpc>
            </a:pPr>
            <a:r>
              <a:rPr sz="950" b="1">
                <a:solidFill>
                  <a:srgbClr val="FFFFFF"/>
                </a:solidFill>
                <a:latin typeface="Yu Gothic UI"/>
              </a:rPr>
              <a:t>F1</a:t>
            </a:r>
          </a:p>
        </p:txBody>
      </p:sp>
      <p:sp>
        <p:nvSpPr>
          <p:cNvPr id="13" name="TextBox 12"/>
          <p:cNvSpPr txBox="1"/>
          <p:nvPr/>
        </p:nvSpPr>
        <p:spPr>
          <a:xfrm>
            <a:off x="2011680" y="1664208"/>
            <a:ext cx="2011680" cy="384048"/>
          </a:xfrm>
          <a:prstGeom prst="rect">
            <a:avLst/>
          </a:prstGeom>
          <a:noFill/>
        </p:spPr>
        <p:txBody>
          <a:bodyPr wrap="square" lIns="45720" tIns="18288" rIns="45720" bIns="18288" anchor="ctr">
            <a:spAutoFit/>
          </a:bodyPr>
          <a:lstStyle/>
          <a:p>
            <a:pPr algn="l">
              <a:lnSpc>
                <a:spcPct val="115000"/>
              </a:lnSpc>
            </a:pPr>
            <a:r>
              <a:rPr sz="1000" b="1">
                <a:solidFill>
                  <a:srgbClr val="36454F"/>
                </a:solidFill>
                <a:latin typeface="Yu Gothic UI"/>
              </a:rPr>
              <a:t>ヘルプ表示</a:t>
            </a:r>
          </a:p>
        </p:txBody>
      </p:sp>
      <p:sp>
        <p:nvSpPr>
          <p:cNvPr id="14" name="TextBox 13"/>
          <p:cNvSpPr txBox="1"/>
          <p:nvPr/>
        </p:nvSpPr>
        <p:spPr>
          <a:xfrm>
            <a:off x="4069080" y="1664208"/>
            <a:ext cx="4572001" cy="384048"/>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ショートカット一覧・操作ボタン説明のダイアログを開きます</a:t>
            </a:r>
          </a:p>
        </p:txBody>
      </p:sp>
      <p:sp>
        <p:nvSpPr>
          <p:cNvPr id="15" name="Rectangle 14"/>
          <p:cNvSpPr/>
          <p:nvPr/>
        </p:nvSpPr>
        <p:spPr>
          <a:xfrm>
            <a:off x="457200" y="2048256"/>
            <a:ext cx="8321040" cy="38404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94360" y="2112264"/>
            <a:ext cx="1280160" cy="256032"/>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2112264"/>
            <a:ext cx="1280160" cy="256032"/>
          </a:xfrm>
          <a:prstGeom prst="rect">
            <a:avLst/>
          </a:prstGeom>
          <a:noFill/>
        </p:spPr>
        <p:txBody>
          <a:bodyPr wrap="square" lIns="45720" tIns="18288" rIns="45720" bIns="18288" anchor="ctr">
            <a:spAutoFit/>
          </a:bodyPr>
          <a:lstStyle/>
          <a:p>
            <a:pPr algn="ctr">
              <a:lnSpc>
                <a:spcPct val="115000"/>
              </a:lnSpc>
            </a:pPr>
            <a:r>
              <a:rPr sz="950" b="1">
                <a:solidFill>
                  <a:srgbClr val="FFFFFF"/>
                </a:solidFill>
                <a:latin typeface="Yu Gothic UI"/>
              </a:rPr>
              <a:t>F2</a:t>
            </a:r>
          </a:p>
        </p:txBody>
      </p:sp>
      <p:sp>
        <p:nvSpPr>
          <p:cNvPr id="18" name="TextBox 17"/>
          <p:cNvSpPr txBox="1"/>
          <p:nvPr/>
        </p:nvSpPr>
        <p:spPr>
          <a:xfrm>
            <a:off x="2011680" y="2048256"/>
            <a:ext cx="2011680" cy="384048"/>
          </a:xfrm>
          <a:prstGeom prst="rect">
            <a:avLst/>
          </a:prstGeom>
          <a:noFill/>
        </p:spPr>
        <p:txBody>
          <a:bodyPr wrap="square" lIns="45720" tIns="18288" rIns="45720" bIns="18288" anchor="ctr">
            <a:spAutoFit/>
          </a:bodyPr>
          <a:lstStyle/>
          <a:p>
            <a:pPr algn="l">
              <a:lnSpc>
                <a:spcPct val="115000"/>
              </a:lnSpc>
            </a:pPr>
            <a:r>
              <a:rPr sz="1000" b="1">
                <a:solidFill>
                  <a:srgbClr val="36454F"/>
                </a:solidFill>
                <a:latin typeface="Yu Gothic UI"/>
              </a:rPr>
              <a:t>現場編集</a:t>
            </a:r>
          </a:p>
        </p:txBody>
      </p:sp>
      <p:sp>
        <p:nvSpPr>
          <p:cNvPr id="19" name="TextBox 18"/>
          <p:cNvSpPr txBox="1"/>
          <p:nvPr/>
        </p:nvSpPr>
        <p:spPr>
          <a:xfrm>
            <a:off x="4069080" y="2048256"/>
            <a:ext cx="4572001" cy="384048"/>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選択中の現場タブの編集ダイアログを開きます</a:t>
            </a:r>
          </a:p>
        </p:txBody>
      </p:sp>
      <p:sp>
        <p:nvSpPr>
          <p:cNvPr id="20" name="Rectangle 19"/>
          <p:cNvSpPr/>
          <p:nvPr/>
        </p:nvSpPr>
        <p:spPr>
          <a:xfrm>
            <a:off x="457200" y="1280160"/>
            <a:ext cx="8321040" cy="1152144"/>
          </a:xfrm>
          <a:prstGeom prst="rect">
            <a:avLst/>
          </a:prstGeom>
          <a:noFill/>
          <a:ln w="6350">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2542032"/>
            <a:ext cx="8321040" cy="292608"/>
          </a:xfrm>
          <a:prstGeom prst="rect">
            <a:avLst/>
          </a:prstGeom>
          <a:noFill/>
        </p:spPr>
        <p:txBody>
          <a:bodyPr wrap="square" lIns="45720" tIns="18288" rIns="45720" bIns="18288" anchor="t">
            <a:spAutoFit/>
          </a:bodyPr>
          <a:lstStyle/>
          <a:p>
            <a:pPr algn="l">
              <a:lnSpc>
                <a:spcPct val="115000"/>
              </a:lnSpc>
            </a:pPr>
            <a:r>
              <a:rPr sz="1300" b="1">
                <a:solidFill>
                  <a:srgbClr val="3457D5"/>
                </a:solidFill>
                <a:latin typeface="Yu Gothic UI"/>
              </a:rPr>
              <a:t>タブの複数選択操作</a:t>
            </a:r>
          </a:p>
        </p:txBody>
      </p:sp>
      <p:sp>
        <p:nvSpPr>
          <p:cNvPr id="22" name="Rectangle 21"/>
          <p:cNvSpPr/>
          <p:nvPr/>
        </p:nvSpPr>
        <p:spPr>
          <a:xfrm>
            <a:off x="457200" y="2907792"/>
            <a:ext cx="8321040" cy="38404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2907792"/>
            <a:ext cx="1371600" cy="384048"/>
          </a:xfrm>
          <a:prstGeom prst="rect">
            <a:avLst/>
          </a:prstGeom>
          <a:noFill/>
        </p:spPr>
        <p:txBody>
          <a:bodyPr wrap="square" lIns="45720" tIns="18288" rIns="45720" bIns="18288" anchor="ctr">
            <a:spAutoFit/>
          </a:bodyPr>
          <a:lstStyle/>
          <a:p>
            <a:pPr algn="l">
              <a:lnSpc>
                <a:spcPct val="115000"/>
              </a:lnSpc>
            </a:pPr>
            <a:r>
              <a:rPr sz="1100" b="1">
                <a:solidFill>
                  <a:srgbClr val="FFFFFF"/>
                </a:solidFill>
                <a:latin typeface="Yu Gothic UI"/>
              </a:rPr>
              <a:t>キー</a:t>
            </a:r>
          </a:p>
        </p:txBody>
      </p:sp>
      <p:sp>
        <p:nvSpPr>
          <p:cNvPr id="24" name="TextBox 23"/>
          <p:cNvSpPr txBox="1"/>
          <p:nvPr/>
        </p:nvSpPr>
        <p:spPr>
          <a:xfrm>
            <a:off x="2011680" y="2907792"/>
            <a:ext cx="2011680" cy="384048"/>
          </a:xfrm>
          <a:prstGeom prst="rect">
            <a:avLst/>
          </a:prstGeom>
          <a:noFill/>
        </p:spPr>
        <p:txBody>
          <a:bodyPr wrap="square" lIns="45720" tIns="18288" rIns="45720" bIns="18288" anchor="ctr">
            <a:spAutoFit/>
          </a:bodyPr>
          <a:lstStyle/>
          <a:p>
            <a:pPr algn="l">
              <a:lnSpc>
                <a:spcPct val="115000"/>
              </a:lnSpc>
            </a:pPr>
            <a:r>
              <a:rPr sz="1100" b="1">
                <a:solidFill>
                  <a:srgbClr val="FFFFFF"/>
                </a:solidFill>
                <a:latin typeface="Yu Gothic UI"/>
              </a:rPr>
              <a:t>操作</a:t>
            </a:r>
          </a:p>
        </p:txBody>
      </p:sp>
      <p:sp>
        <p:nvSpPr>
          <p:cNvPr id="25" name="TextBox 24"/>
          <p:cNvSpPr txBox="1"/>
          <p:nvPr/>
        </p:nvSpPr>
        <p:spPr>
          <a:xfrm>
            <a:off x="4069080" y="2907792"/>
            <a:ext cx="4572001" cy="384048"/>
          </a:xfrm>
          <a:prstGeom prst="rect">
            <a:avLst/>
          </a:prstGeom>
          <a:noFill/>
        </p:spPr>
        <p:txBody>
          <a:bodyPr wrap="square" lIns="45720" tIns="18288" rIns="45720" bIns="18288" anchor="ctr">
            <a:spAutoFit/>
          </a:bodyPr>
          <a:lstStyle/>
          <a:p>
            <a:pPr algn="l">
              <a:lnSpc>
                <a:spcPct val="115000"/>
              </a:lnSpc>
            </a:pPr>
            <a:r>
              <a:rPr sz="1100" b="1">
                <a:solidFill>
                  <a:srgbClr val="FFFFFF"/>
                </a:solidFill>
                <a:latin typeface="Yu Gothic UI"/>
              </a:rPr>
              <a:t>説明</a:t>
            </a:r>
          </a:p>
        </p:txBody>
      </p:sp>
      <p:sp>
        <p:nvSpPr>
          <p:cNvPr id="26" name="Rectangle 25"/>
          <p:cNvSpPr/>
          <p:nvPr/>
        </p:nvSpPr>
        <p:spPr>
          <a:xfrm>
            <a:off x="457200" y="3291840"/>
            <a:ext cx="83210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594360" y="3355848"/>
            <a:ext cx="1280160" cy="256032"/>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94360" y="3355848"/>
            <a:ext cx="1280160" cy="256032"/>
          </a:xfrm>
          <a:prstGeom prst="rect">
            <a:avLst/>
          </a:prstGeom>
          <a:noFill/>
        </p:spPr>
        <p:txBody>
          <a:bodyPr wrap="square" lIns="45720" tIns="18288" rIns="45720" bIns="18288" anchor="ctr">
            <a:spAutoFit/>
          </a:bodyPr>
          <a:lstStyle/>
          <a:p>
            <a:pPr algn="ctr">
              <a:lnSpc>
                <a:spcPct val="115000"/>
              </a:lnSpc>
            </a:pPr>
            <a:r>
              <a:rPr sz="950" b="1">
                <a:solidFill>
                  <a:srgbClr val="FFFFFF"/>
                </a:solidFill>
                <a:latin typeface="Yu Gothic UI"/>
              </a:rPr>
              <a:t>Ctrl + クリック</a:t>
            </a:r>
          </a:p>
        </p:txBody>
      </p:sp>
      <p:sp>
        <p:nvSpPr>
          <p:cNvPr id="29" name="TextBox 28"/>
          <p:cNvSpPr txBox="1"/>
          <p:nvPr/>
        </p:nvSpPr>
        <p:spPr>
          <a:xfrm>
            <a:off x="2011680" y="3291840"/>
            <a:ext cx="2011680" cy="384048"/>
          </a:xfrm>
          <a:prstGeom prst="rect">
            <a:avLst/>
          </a:prstGeom>
          <a:noFill/>
        </p:spPr>
        <p:txBody>
          <a:bodyPr wrap="square" lIns="45720" tIns="18288" rIns="45720" bIns="18288" anchor="ctr">
            <a:spAutoFit/>
          </a:bodyPr>
          <a:lstStyle/>
          <a:p>
            <a:pPr algn="l">
              <a:lnSpc>
                <a:spcPct val="115000"/>
              </a:lnSpc>
            </a:pPr>
            <a:r>
              <a:rPr sz="1000" b="1">
                <a:solidFill>
                  <a:srgbClr val="36454F"/>
                </a:solidFill>
                <a:latin typeface="Yu Gothic UI"/>
              </a:rPr>
              <a:t>個別追加・解除</a:t>
            </a:r>
          </a:p>
        </p:txBody>
      </p:sp>
      <p:sp>
        <p:nvSpPr>
          <p:cNvPr id="30" name="TextBox 29"/>
          <p:cNvSpPr txBox="1"/>
          <p:nvPr/>
        </p:nvSpPr>
        <p:spPr>
          <a:xfrm>
            <a:off x="4069080" y="3291840"/>
            <a:ext cx="4572001" cy="384048"/>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選択中のタブに個別追加。再度クリックで解除します</a:t>
            </a:r>
          </a:p>
        </p:txBody>
      </p:sp>
      <p:sp>
        <p:nvSpPr>
          <p:cNvPr id="31" name="Rectangle 30"/>
          <p:cNvSpPr/>
          <p:nvPr/>
        </p:nvSpPr>
        <p:spPr>
          <a:xfrm>
            <a:off x="457200" y="3675888"/>
            <a:ext cx="8321040" cy="38404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594360" y="3739896"/>
            <a:ext cx="1280160" cy="256032"/>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94360" y="3739896"/>
            <a:ext cx="1280160" cy="256032"/>
          </a:xfrm>
          <a:prstGeom prst="rect">
            <a:avLst/>
          </a:prstGeom>
          <a:noFill/>
        </p:spPr>
        <p:txBody>
          <a:bodyPr wrap="square" lIns="45720" tIns="18288" rIns="45720" bIns="18288" anchor="ctr">
            <a:spAutoFit/>
          </a:bodyPr>
          <a:lstStyle/>
          <a:p>
            <a:pPr algn="ctr">
              <a:lnSpc>
                <a:spcPct val="115000"/>
              </a:lnSpc>
            </a:pPr>
            <a:r>
              <a:rPr sz="950" b="1">
                <a:solidFill>
                  <a:srgbClr val="FFFFFF"/>
                </a:solidFill>
                <a:latin typeface="Yu Gothic UI"/>
              </a:rPr>
              <a:t>Shift + クリック</a:t>
            </a:r>
          </a:p>
        </p:txBody>
      </p:sp>
      <p:sp>
        <p:nvSpPr>
          <p:cNvPr id="34" name="TextBox 33"/>
          <p:cNvSpPr txBox="1"/>
          <p:nvPr/>
        </p:nvSpPr>
        <p:spPr>
          <a:xfrm>
            <a:off x="2011680" y="3675888"/>
            <a:ext cx="2011680" cy="384048"/>
          </a:xfrm>
          <a:prstGeom prst="rect">
            <a:avLst/>
          </a:prstGeom>
          <a:noFill/>
        </p:spPr>
        <p:txBody>
          <a:bodyPr wrap="square" lIns="45720" tIns="18288" rIns="45720" bIns="18288" anchor="ctr">
            <a:spAutoFit/>
          </a:bodyPr>
          <a:lstStyle/>
          <a:p>
            <a:pPr algn="l">
              <a:lnSpc>
                <a:spcPct val="115000"/>
              </a:lnSpc>
            </a:pPr>
            <a:r>
              <a:rPr sz="1000" b="1">
                <a:solidFill>
                  <a:srgbClr val="36454F"/>
                </a:solidFill>
                <a:latin typeface="Yu Gothic UI"/>
              </a:rPr>
              <a:t>範囲選択</a:t>
            </a:r>
          </a:p>
        </p:txBody>
      </p:sp>
      <p:sp>
        <p:nvSpPr>
          <p:cNvPr id="35" name="TextBox 34"/>
          <p:cNvSpPr txBox="1"/>
          <p:nvPr/>
        </p:nvSpPr>
        <p:spPr>
          <a:xfrm>
            <a:off x="4069080" y="3675888"/>
            <a:ext cx="4572001" cy="384048"/>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選択中のタブからクリックしたタブまでをまとめて選択します</a:t>
            </a:r>
          </a:p>
        </p:txBody>
      </p:sp>
      <p:sp>
        <p:nvSpPr>
          <p:cNvPr id="36" name="Rectangle 35"/>
          <p:cNvSpPr/>
          <p:nvPr/>
        </p:nvSpPr>
        <p:spPr>
          <a:xfrm>
            <a:off x="457200" y="4059936"/>
            <a:ext cx="83210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594360" y="4123944"/>
            <a:ext cx="1280160" cy="256032"/>
          </a:xfrm>
          <a:prstGeom prst="roundRect">
            <a:avLst>
              <a:gd name="adj" fmla="val 15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94360" y="4123944"/>
            <a:ext cx="1280160" cy="256032"/>
          </a:xfrm>
          <a:prstGeom prst="rect">
            <a:avLst/>
          </a:prstGeom>
          <a:noFill/>
        </p:spPr>
        <p:txBody>
          <a:bodyPr wrap="square" lIns="45720" tIns="18288" rIns="45720" bIns="18288" anchor="ctr">
            <a:spAutoFit/>
          </a:bodyPr>
          <a:lstStyle/>
          <a:p>
            <a:pPr algn="ctr">
              <a:lnSpc>
                <a:spcPct val="115000"/>
              </a:lnSpc>
            </a:pPr>
            <a:r>
              <a:rPr sz="950" b="1">
                <a:solidFill>
                  <a:srgbClr val="FFFFFF"/>
                </a:solidFill>
                <a:latin typeface="Yu Gothic UI"/>
              </a:rPr>
              <a:t>通常クリック</a:t>
            </a:r>
          </a:p>
        </p:txBody>
      </p:sp>
      <p:sp>
        <p:nvSpPr>
          <p:cNvPr id="39" name="TextBox 38"/>
          <p:cNvSpPr txBox="1"/>
          <p:nvPr/>
        </p:nvSpPr>
        <p:spPr>
          <a:xfrm>
            <a:off x="2011680" y="4059936"/>
            <a:ext cx="2011680" cy="384048"/>
          </a:xfrm>
          <a:prstGeom prst="rect">
            <a:avLst/>
          </a:prstGeom>
          <a:noFill/>
        </p:spPr>
        <p:txBody>
          <a:bodyPr wrap="square" lIns="45720" tIns="18288" rIns="45720" bIns="18288" anchor="ctr">
            <a:spAutoFit/>
          </a:bodyPr>
          <a:lstStyle/>
          <a:p>
            <a:pPr algn="l">
              <a:lnSpc>
                <a:spcPct val="115000"/>
              </a:lnSpc>
            </a:pPr>
            <a:r>
              <a:rPr sz="1000" b="1">
                <a:solidFill>
                  <a:srgbClr val="36454F"/>
                </a:solidFill>
                <a:latin typeface="Yu Gothic UI"/>
              </a:rPr>
              <a:t>選択リセット</a:t>
            </a:r>
          </a:p>
        </p:txBody>
      </p:sp>
      <p:sp>
        <p:nvSpPr>
          <p:cNvPr id="40" name="TextBox 39"/>
          <p:cNvSpPr txBox="1"/>
          <p:nvPr/>
        </p:nvSpPr>
        <p:spPr>
          <a:xfrm>
            <a:off x="4069080" y="4059936"/>
            <a:ext cx="4572001" cy="384048"/>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複数選択を解除し、クリックしたタブのみを選択します</a:t>
            </a:r>
          </a:p>
        </p:txBody>
      </p:sp>
      <p:sp>
        <p:nvSpPr>
          <p:cNvPr id="41" name="Rectangle 40"/>
          <p:cNvSpPr/>
          <p:nvPr/>
        </p:nvSpPr>
        <p:spPr>
          <a:xfrm>
            <a:off x="457200" y="2907792"/>
            <a:ext cx="8321040" cy="1536192"/>
          </a:xfrm>
          <a:prstGeom prst="rect">
            <a:avLst/>
          </a:prstGeom>
          <a:noFill/>
          <a:ln w="6350">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43" name="TextBox 42"/>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37 / 53</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09</a:t>
            </a:r>
            <a:r>
              <a:rPr sz="2000" b="0">
                <a:solidFill>
                  <a:srgbClr val="3457D5"/>
                </a:solidFill>
                <a:latin typeface="Yu Gothic UI"/>
              </a:rPr>
              <a:t>　</a:t>
            </a:r>
            <a:r>
              <a:rPr sz="2000" b="1">
                <a:solidFill>
                  <a:srgbClr val="36454F"/>
                </a:solidFill>
                <a:latin typeface="Yu Gothic UI"/>
              </a:rPr>
              <a:t>設定・マスタ管理</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設定画面の構成を説明します。サイドバーの「設定」から開けます。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4114800" cy="3200400"/>
          </a:xfrm>
          <a:prstGeom prst="roundRect">
            <a:avLst>
              <a:gd name="adj" fmla="val 3000"/>
            </a:avLst>
          </a:prstGeom>
          <a:solidFill>
            <a:srgbClr val="FFFFFF"/>
          </a:solidFill>
          <a:ln w="12700">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4114800" cy="36576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280160"/>
            <a:ext cx="4114800" cy="365760"/>
          </a:xfrm>
          <a:prstGeom prst="rect">
            <a:avLst/>
          </a:prstGeom>
          <a:noFill/>
        </p:spPr>
        <p:txBody>
          <a:bodyPr wrap="square" lIns="45720" tIns="18288" rIns="45720" bIns="18288" anchor="ctr">
            <a:spAutoFit/>
          </a:bodyPr>
          <a:lstStyle/>
          <a:p>
            <a:pPr algn="ctr">
              <a:lnSpc>
                <a:spcPct val="115000"/>
              </a:lnSpc>
            </a:pPr>
            <a:r>
              <a:rPr sz="1150" b="1">
                <a:solidFill>
                  <a:srgbClr val="FFFFFF"/>
                </a:solidFill>
                <a:latin typeface="Yu Gothic UI"/>
              </a:rPr>
              <a:t>設定画面のメニュー</a:t>
            </a:r>
          </a:p>
        </p:txBody>
      </p:sp>
      <p:sp>
        <p:nvSpPr>
          <p:cNvPr id="9" name="Rounded Rectangle 8"/>
          <p:cNvSpPr/>
          <p:nvPr/>
        </p:nvSpPr>
        <p:spPr>
          <a:xfrm>
            <a:off x="640080" y="1737360"/>
            <a:ext cx="3749040" cy="320040"/>
          </a:xfrm>
          <a:prstGeom prst="roundRect">
            <a:avLst>
              <a:gd name="adj" fmla="val 10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737360"/>
            <a:ext cx="3749040" cy="320040"/>
          </a:xfrm>
          <a:prstGeom prst="rect">
            <a:avLst/>
          </a:prstGeom>
          <a:noFill/>
        </p:spPr>
        <p:txBody>
          <a:bodyPr wrap="square" lIns="45720" tIns="18288" rIns="45720" bIns="18288" anchor="ctr">
            <a:spAutoFit/>
          </a:bodyPr>
          <a:lstStyle/>
          <a:p>
            <a:pPr algn="ctr">
              <a:lnSpc>
                <a:spcPct val="115000"/>
              </a:lnSpc>
            </a:pPr>
            <a:r>
              <a:rPr sz="1050" b="1">
                <a:solidFill>
                  <a:srgbClr val="CADCFC"/>
                </a:solidFill>
                <a:latin typeface="Yu Gothic UI"/>
              </a:rPr>
              <a:t>DB設定</a:t>
            </a:r>
          </a:p>
        </p:txBody>
      </p:sp>
      <p:sp>
        <p:nvSpPr>
          <p:cNvPr id="11" name="Rounded Rectangle 10"/>
          <p:cNvSpPr/>
          <p:nvPr/>
        </p:nvSpPr>
        <p:spPr>
          <a:xfrm>
            <a:off x="640080" y="2103120"/>
            <a:ext cx="3749040" cy="320040"/>
          </a:xfrm>
          <a:prstGeom prst="roundRect">
            <a:avLst>
              <a:gd name="adj" fmla="val 1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103120"/>
            <a:ext cx="3749040" cy="320040"/>
          </a:xfrm>
          <a:prstGeom prst="rect">
            <a:avLst/>
          </a:prstGeom>
          <a:noFill/>
        </p:spPr>
        <p:txBody>
          <a:bodyPr wrap="square" lIns="45720" tIns="18288" rIns="45720" bIns="18288" anchor="ctr">
            <a:spAutoFit/>
          </a:bodyPr>
          <a:lstStyle/>
          <a:p>
            <a:pPr algn="ctr">
              <a:lnSpc>
                <a:spcPct val="115000"/>
              </a:lnSpc>
            </a:pPr>
            <a:r>
              <a:rPr sz="1050" b="1">
                <a:solidFill>
                  <a:srgbClr val="CADCFC"/>
                </a:solidFill>
                <a:latin typeface="Yu Gothic UI"/>
              </a:rPr>
              <a:t>人員マスタ</a:t>
            </a:r>
          </a:p>
        </p:txBody>
      </p:sp>
      <p:sp>
        <p:nvSpPr>
          <p:cNvPr id="13" name="Rounded Rectangle 12"/>
          <p:cNvSpPr/>
          <p:nvPr/>
        </p:nvSpPr>
        <p:spPr>
          <a:xfrm>
            <a:off x="640080" y="2468880"/>
            <a:ext cx="3749040" cy="320040"/>
          </a:xfrm>
          <a:prstGeom prst="roundRect">
            <a:avLst>
              <a:gd name="adj" fmla="val 1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468880"/>
            <a:ext cx="3749040" cy="320040"/>
          </a:xfrm>
          <a:prstGeom prst="rect">
            <a:avLst/>
          </a:prstGeom>
          <a:noFill/>
        </p:spPr>
        <p:txBody>
          <a:bodyPr wrap="square" lIns="45720" tIns="18288" rIns="45720" bIns="18288" anchor="ctr">
            <a:spAutoFit/>
          </a:bodyPr>
          <a:lstStyle/>
          <a:p>
            <a:pPr algn="ctr">
              <a:lnSpc>
                <a:spcPct val="115000"/>
              </a:lnSpc>
            </a:pPr>
            <a:r>
              <a:rPr sz="1050" b="1">
                <a:solidFill>
                  <a:srgbClr val="CADCFC"/>
                </a:solidFill>
                <a:latin typeface="Yu Gothic UI"/>
              </a:rPr>
              <a:t>車両マスタ</a:t>
            </a:r>
          </a:p>
        </p:txBody>
      </p:sp>
      <p:sp>
        <p:nvSpPr>
          <p:cNvPr id="15" name="Rounded Rectangle 14"/>
          <p:cNvSpPr/>
          <p:nvPr/>
        </p:nvSpPr>
        <p:spPr>
          <a:xfrm>
            <a:off x="640080" y="2834640"/>
            <a:ext cx="3749040" cy="320040"/>
          </a:xfrm>
          <a:prstGeom prst="roundRect">
            <a:avLst>
              <a:gd name="adj" fmla="val 1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2834640"/>
            <a:ext cx="3749040" cy="320040"/>
          </a:xfrm>
          <a:prstGeom prst="rect">
            <a:avLst/>
          </a:prstGeom>
          <a:noFill/>
        </p:spPr>
        <p:txBody>
          <a:bodyPr wrap="square" lIns="45720" tIns="18288" rIns="45720" bIns="18288" anchor="ctr">
            <a:spAutoFit/>
          </a:bodyPr>
          <a:lstStyle/>
          <a:p>
            <a:pPr algn="ctr">
              <a:lnSpc>
                <a:spcPct val="115000"/>
              </a:lnSpc>
            </a:pPr>
            <a:r>
              <a:rPr sz="1050" b="1">
                <a:solidFill>
                  <a:srgbClr val="CADCFC"/>
                </a:solidFill>
                <a:latin typeface="Yu Gothic UI"/>
              </a:rPr>
              <a:t>機材マスタ</a:t>
            </a:r>
          </a:p>
        </p:txBody>
      </p:sp>
      <p:sp>
        <p:nvSpPr>
          <p:cNvPr id="17" name="Rounded Rectangle 16"/>
          <p:cNvSpPr/>
          <p:nvPr/>
        </p:nvSpPr>
        <p:spPr>
          <a:xfrm>
            <a:off x="640080" y="3200400"/>
            <a:ext cx="3749040" cy="320040"/>
          </a:xfrm>
          <a:prstGeom prst="roundRect">
            <a:avLst>
              <a:gd name="adj" fmla="val 1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3200400"/>
            <a:ext cx="3749040" cy="320040"/>
          </a:xfrm>
          <a:prstGeom prst="rect">
            <a:avLst/>
          </a:prstGeom>
          <a:noFill/>
        </p:spPr>
        <p:txBody>
          <a:bodyPr wrap="square" lIns="45720" tIns="18288" rIns="45720" bIns="18288" anchor="ctr">
            <a:spAutoFit/>
          </a:bodyPr>
          <a:lstStyle/>
          <a:p>
            <a:pPr algn="ctr">
              <a:lnSpc>
                <a:spcPct val="115000"/>
              </a:lnSpc>
            </a:pPr>
            <a:r>
              <a:rPr sz="1050" b="1">
                <a:solidFill>
                  <a:srgbClr val="CADCFC"/>
                </a:solidFill>
                <a:latin typeface="Yu Gothic UI"/>
              </a:rPr>
              <a:t>氏名変換</a:t>
            </a:r>
          </a:p>
        </p:txBody>
      </p:sp>
      <p:sp>
        <p:nvSpPr>
          <p:cNvPr id="19" name="Rounded Rectangle 18"/>
          <p:cNvSpPr/>
          <p:nvPr/>
        </p:nvSpPr>
        <p:spPr>
          <a:xfrm>
            <a:off x="640080" y="3566160"/>
            <a:ext cx="3749040" cy="320040"/>
          </a:xfrm>
          <a:prstGeom prst="roundRect">
            <a:avLst>
              <a:gd name="adj" fmla="val 1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3566160"/>
            <a:ext cx="3749040" cy="320040"/>
          </a:xfrm>
          <a:prstGeom prst="rect">
            <a:avLst/>
          </a:prstGeom>
          <a:noFill/>
        </p:spPr>
        <p:txBody>
          <a:bodyPr wrap="square" lIns="45720" tIns="18288" rIns="45720" bIns="18288" anchor="ctr">
            <a:spAutoFit/>
          </a:bodyPr>
          <a:lstStyle/>
          <a:p>
            <a:pPr algn="ctr">
              <a:lnSpc>
                <a:spcPct val="115000"/>
              </a:lnSpc>
            </a:pPr>
            <a:r>
              <a:rPr sz="1050" b="1">
                <a:solidFill>
                  <a:srgbClr val="CADCFC"/>
                </a:solidFill>
                <a:latin typeface="Yu Gothic UI"/>
              </a:rPr>
              <a:t>金額設定</a:t>
            </a:r>
          </a:p>
        </p:txBody>
      </p:sp>
      <p:sp>
        <p:nvSpPr>
          <p:cNvPr id="21" name="Rounded Rectangle 20"/>
          <p:cNvSpPr/>
          <p:nvPr/>
        </p:nvSpPr>
        <p:spPr>
          <a:xfrm>
            <a:off x="640080" y="3931920"/>
            <a:ext cx="3749040" cy="320040"/>
          </a:xfrm>
          <a:prstGeom prst="roundRect">
            <a:avLst>
              <a:gd name="adj" fmla="val 1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3931920"/>
            <a:ext cx="3749040" cy="320040"/>
          </a:xfrm>
          <a:prstGeom prst="rect">
            <a:avLst/>
          </a:prstGeom>
          <a:noFill/>
        </p:spPr>
        <p:txBody>
          <a:bodyPr wrap="square" lIns="45720" tIns="18288" rIns="45720" bIns="18288" anchor="ctr">
            <a:spAutoFit/>
          </a:bodyPr>
          <a:lstStyle/>
          <a:p>
            <a:pPr algn="ctr">
              <a:lnSpc>
                <a:spcPct val="115000"/>
              </a:lnSpc>
            </a:pPr>
            <a:r>
              <a:rPr sz="1050" b="1">
                <a:solidFill>
                  <a:srgbClr val="CADCFC"/>
                </a:solidFill>
                <a:latin typeface="Yu Gothic UI"/>
              </a:rPr>
              <a:t>アーカイブ済み現場</a:t>
            </a:r>
          </a:p>
        </p:txBody>
      </p:sp>
      <p:sp>
        <p:nvSpPr>
          <p:cNvPr id="23" name="TextBox 22"/>
          <p:cNvSpPr txBox="1"/>
          <p:nvPr/>
        </p:nvSpPr>
        <p:spPr>
          <a:xfrm>
            <a:off x="4754880" y="1280160"/>
            <a:ext cx="4023360" cy="292608"/>
          </a:xfrm>
          <a:prstGeom prst="rect">
            <a:avLst/>
          </a:prstGeom>
          <a:noFill/>
        </p:spPr>
        <p:txBody>
          <a:bodyPr wrap="square" lIns="45720" tIns="18288" rIns="45720" bIns="18288" anchor="t">
            <a:spAutoFit/>
          </a:bodyPr>
          <a:lstStyle/>
          <a:p>
            <a:pPr algn="l">
              <a:lnSpc>
                <a:spcPct val="115000"/>
              </a:lnSpc>
            </a:pPr>
            <a:r>
              <a:rPr sz="1200" b="1">
                <a:solidFill>
                  <a:srgbClr val="3457D5"/>
                </a:solidFill>
                <a:latin typeface="Yu Gothic UI"/>
              </a:rPr>
              <a:t>⚙️ DB設定</a:t>
            </a:r>
          </a:p>
        </p:txBody>
      </p:sp>
      <p:sp>
        <p:nvSpPr>
          <p:cNvPr id="24" name="TextBox 23"/>
          <p:cNvSpPr txBox="1"/>
          <p:nvPr/>
        </p:nvSpPr>
        <p:spPr>
          <a:xfrm>
            <a:off x="4754880" y="1572768"/>
            <a:ext cx="4023360" cy="777240"/>
          </a:xfrm>
          <a:prstGeom prst="rect">
            <a:avLst/>
          </a:prstGeom>
          <a:noFill/>
        </p:spPr>
        <p:txBody>
          <a:bodyPr wrap="square" lIns="45720" tIns="18288" rIns="45720" bIns="18288" anchor="t">
            <a:spAutoFit/>
          </a:bodyPr>
          <a:lstStyle/>
          <a:p>
            <a:pPr algn="l">
              <a:lnSpc>
                <a:spcPct val="135000"/>
              </a:lnSpc>
            </a:pPr>
            <a:r>
              <a:rPr sz="1050" b="0" dirty="0" err="1">
                <a:solidFill>
                  <a:srgbClr val="36454F"/>
                </a:solidFill>
                <a:latin typeface="Yu Gothic UI"/>
              </a:rPr>
              <a:t>NASのDBパス・接続確認・ローカル</a:t>
            </a:r>
            <a:r>
              <a:rPr sz="1050" b="0" dirty="0">
                <a:solidFill>
                  <a:srgbClr val="36454F"/>
                </a:solidFill>
                <a:latin typeface="Yu Gothic UI"/>
              </a:rPr>
              <a:t>/</a:t>
            </a:r>
            <a:r>
              <a:rPr sz="1050" b="0" dirty="0" err="1">
                <a:solidFill>
                  <a:srgbClr val="36454F"/>
                </a:solidFill>
                <a:latin typeface="Yu Gothic UI"/>
              </a:rPr>
              <a:t>NAS切替などを管理します</a:t>
            </a:r>
            <a:r>
              <a:rPr sz="1050" b="0" dirty="0">
                <a:solidFill>
                  <a:srgbClr val="36454F"/>
                </a:solidFill>
                <a:latin typeface="Yu Gothic UI"/>
              </a:rPr>
              <a:t>。</a:t>
            </a:r>
          </a:p>
        </p:txBody>
      </p:sp>
      <p:sp>
        <p:nvSpPr>
          <p:cNvPr id="25" name="TextBox 24"/>
          <p:cNvSpPr txBox="1"/>
          <p:nvPr/>
        </p:nvSpPr>
        <p:spPr>
          <a:xfrm>
            <a:off x="4754880" y="2359152"/>
            <a:ext cx="4023360" cy="231025"/>
          </a:xfrm>
          <a:prstGeom prst="rect">
            <a:avLst/>
          </a:prstGeom>
          <a:noFill/>
        </p:spPr>
        <p:txBody>
          <a:bodyPr wrap="square" lIns="45720" tIns="18288" rIns="45720" bIns="18288" anchor="t">
            <a:spAutoFit/>
          </a:bodyPr>
          <a:lstStyle/>
          <a:p>
            <a:pPr algn="l">
              <a:lnSpc>
                <a:spcPct val="115000"/>
              </a:lnSpc>
            </a:pPr>
            <a:r>
              <a:rPr sz="1200" b="1" dirty="0">
                <a:solidFill>
                  <a:srgbClr val="3457D5"/>
                </a:solidFill>
                <a:latin typeface="Yu Gothic UI"/>
              </a:rPr>
              <a:t>📊 </a:t>
            </a:r>
            <a:r>
              <a:rPr sz="1200" b="1" dirty="0" err="1">
                <a:solidFill>
                  <a:srgbClr val="3457D5"/>
                </a:solidFill>
                <a:latin typeface="Yu Gothic UI"/>
              </a:rPr>
              <a:t>マスタ管理</a:t>
            </a:r>
            <a:r>
              <a:rPr lang="en-US" sz="1200" b="1" dirty="0">
                <a:solidFill>
                  <a:srgbClr val="3457D5"/>
                </a:solidFill>
                <a:latin typeface="Yu Gothic UI"/>
              </a:rPr>
              <a:t> </a:t>
            </a:r>
            <a:r>
              <a:rPr lang="en-US" altLang="ja-JP" sz="1200" b="1" dirty="0">
                <a:solidFill>
                  <a:srgbClr val="3457D5"/>
                </a:solidFill>
                <a:latin typeface="Yu Gothic UI"/>
              </a:rPr>
              <a:t>※</a:t>
            </a:r>
            <a:r>
              <a:rPr lang="ja-JP" altLang="en-US" sz="1200" b="1" dirty="0">
                <a:solidFill>
                  <a:srgbClr val="3457D5"/>
                </a:solidFill>
                <a:latin typeface="Yu Gothic UI"/>
              </a:rPr>
              <a:t>管理者のみ</a:t>
            </a:r>
            <a:endParaRPr sz="1200" b="1" dirty="0">
              <a:solidFill>
                <a:srgbClr val="3457D5"/>
              </a:solidFill>
              <a:latin typeface="Yu Gothic UI"/>
            </a:endParaRPr>
          </a:p>
        </p:txBody>
      </p:sp>
      <p:sp>
        <p:nvSpPr>
          <p:cNvPr id="26" name="TextBox 25"/>
          <p:cNvSpPr txBox="1"/>
          <p:nvPr/>
        </p:nvSpPr>
        <p:spPr>
          <a:xfrm>
            <a:off x="4754880" y="2651760"/>
            <a:ext cx="4023360" cy="777240"/>
          </a:xfrm>
          <a:prstGeom prst="rect">
            <a:avLst/>
          </a:prstGeom>
          <a:noFill/>
        </p:spPr>
        <p:txBody>
          <a:bodyPr wrap="square" lIns="45720" tIns="18288" rIns="45720" bIns="18288" anchor="t">
            <a:spAutoFit/>
          </a:bodyPr>
          <a:lstStyle/>
          <a:p>
            <a:pPr algn="l">
              <a:lnSpc>
                <a:spcPct val="135000"/>
              </a:lnSpc>
            </a:pPr>
            <a:r>
              <a:rPr sz="1050" b="0" dirty="0" err="1">
                <a:solidFill>
                  <a:srgbClr val="36454F"/>
                </a:solidFill>
                <a:latin typeface="Yu Gothic UI"/>
              </a:rPr>
              <a:t>人員・車両・機材・氏名変換のマスタを管理します。集計に使う基本情報です</a:t>
            </a:r>
            <a:r>
              <a:rPr lang="ja-JP" altLang="en-US" sz="1050" b="0" dirty="0">
                <a:solidFill>
                  <a:srgbClr val="36454F"/>
                </a:solidFill>
                <a:latin typeface="Yu Gothic UI"/>
              </a:rPr>
              <a:t>。</a:t>
            </a:r>
            <a:endParaRPr sz="1050" b="0" dirty="0">
              <a:solidFill>
                <a:srgbClr val="36454F"/>
              </a:solidFill>
              <a:latin typeface="Yu Gothic UI"/>
            </a:endParaRPr>
          </a:p>
        </p:txBody>
      </p:sp>
      <p:sp>
        <p:nvSpPr>
          <p:cNvPr id="27" name="TextBox 26"/>
          <p:cNvSpPr txBox="1"/>
          <p:nvPr/>
        </p:nvSpPr>
        <p:spPr>
          <a:xfrm>
            <a:off x="4754880" y="3438144"/>
            <a:ext cx="4023360" cy="231025"/>
          </a:xfrm>
          <a:prstGeom prst="rect">
            <a:avLst/>
          </a:prstGeom>
          <a:noFill/>
        </p:spPr>
        <p:txBody>
          <a:bodyPr wrap="square" lIns="45720" tIns="18288" rIns="45720" bIns="18288" anchor="t">
            <a:spAutoFit/>
          </a:bodyPr>
          <a:lstStyle/>
          <a:p>
            <a:pPr algn="l">
              <a:lnSpc>
                <a:spcPct val="115000"/>
              </a:lnSpc>
            </a:pPr>
            <a:r>
              <a:rPr sz="1200" b="1" dirty="0">
                <a:solidFill>
                  <a:srgbClr val="3457D5"/>
                </a:solidFill>
                <a:latin typeface="Yu Gothic UI"/>
              </a:rPr>
              <a:t>💰 </a:t>
            </a:r>
            <a:r>
              <a:rPr sz="1200" b="1" dirty="0" err="1">
                <a:solidFill>
                  <a:srgbClr val="3457D5"/>
                </a:solidFill>
                <a:latin typeface="Yu Gothic UI"/>
              </a:rPr>
              <a:t>金額・現場管理</a:t>
            </a:r>
            <a:r>
              <a:rPr lang="en-US" sz="1200" b="1" dirty="0">
                <a:solidFill>
                  <a:srgbClr val="3457D5"/>
                </a:solidFill>
                <a:latin typeface="Yu Gothic UI"/>
              </a:rPr>
              <a:t> </a:t>
            </a:r>
            <a:r>
              <a:rPr lang="en-US" altLang="ja-JP" sz="1200" b="1" dirty="0">
                <a:solidFill>
                  <a:srgbClr val="3457D5"/>
                </a:solidFill>
                <a:latin typeface="Yu Gothic UI"/>
              </a:rPr>
              <a:t>※</a:t>
            </a:r>
            <a:r>
              <a:rPr lang="ja-JP" altLang="en-US" sz="1200" b="1" dirty="0">
                <a:solidFill>
                  <a:srgbClr val="3457D5"/>
                </a:solidFill>
                <a:latin typeface="Yu Gothic UI"/>
              </a:rPr>
              <a:t>管理者のみ</a:t>
            </a:r>
            <a:endParaRPr sz="1200" b="1" dirty="0">
              <a:solidFill>
                <a:srgbClr val="3457D5"/>
              </a:solidFill>
              <a:latin typeface="Yu Gothic UI"/>
            </a:endParaRPr>
          </a:p>
        </p:txBody>
      </p:sp>
      <p:sp>
        <p:nvSpPr>
          <p:cNvPr id="28" name="TextBox 27"/>
          <p:cNvSpPr txBox="1"/>
          <p:nvPr/>
        </p:nvSpPr>
        <p:spPr>
          <a:xfrm>
            <a:off x="4754880" y="3730752"/>
            <a:ext cx="4023360" cy="777240"/>
          </a:xfrm>
          <a:prstGeom prst="rect">
            <a:avLst/>
          </a:prstGeom>
          <a:noFill/>
        </p:spPr>
        <p:txBody>
          <a:bodyPr wrap="square" lIns="45720" tIns="18288" rIns="45720" bIns="18288" anchor="t">
            <a:spAutoFit/>
          </a:bodyPr>
          <a:lstStyle/>
          <a:p>
            <a:pPr algn="l">
              <a:lnSpc>
                <a:spcPct val="135000"/>
              </a:lnSpc>
            </a:pPr>
            <a:r>
              <a:rPr sz="1050" b="0">
                <a:solidFill>
                  <a:srgbClr val="36454F"/>
                </a:solidFill>
                <a:latin typeface="Yu Gothic UI"/>
              </a:rPr>
              <a:t>技師/助手単価・交通費単価などを設定。アーカイブ済み現場の復元・削除も行います。</a:t>
            </a:r>
          </a:p>
        </p:txBody>
      </p:sp>
      <p:sp>
        <p:nvSpPr>
          <p:cNvPr id="29" name="TextBox 28"/>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30" name="TextBox 29"/>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38 / 53</a:t>
            </a:r>
          </a:p>
        </p:txBody>
      </p:sp>
      <p:sp>
        <p:nvSpPr>
          <p:cNvPr id="32" name="テキスト ボックス 31">
            <a:extLst>
              <a:ext uri="{FF2B5EF4-FFF2-40B4-BE49-F238E27FC236}">
                <a16:creationId xmlns:a16="http://schemas.microsoft.com/office/drawing/2014/main" id="{481B4A86-E142-77C3-23B2-69549B91D31D}"/>
              </a:ext>
            </a:extLst>
          </p:cNvPr>
          <p:cNvSpPr txBox="1"/>
          <p:nvPr/>
        </p:nvSpPr>
        <p:spPr>
          <a:xfrm>
            <a:off x="4663440" y="3112526"/>
            <a:ext cx="3005051" cy="261610"/>
          </a:xfrm>
          <a:prstGeom prst="rect">
            <a:avLst/>
          </a:prstGeom>
          <a:noFill/>
        </p:spPr>
        <p:txBody>
          <a:bodyPr wrap="square">
            <a:spAutoFit/>
          </a:bodyPr>
          <a:lstStyle/>
          <a:p>
            <a:r>
              <a:rPr lang="ja-JP" altLang="en-US" sz="1100" b="1" dirty="0">
                <a:solidFill>
                  <a:srgbClr val="FF0000"/>
                </a:solidFill>
                <a:latin typeface="Yu Gothic UI"/>
              </a:rPr>
              <a:t>追加情報は基本自動で情報は反映されます。</a:t>
            </a:r>
            <a:endParaRPr lang="ja-JP" altLang="en-US" sz="1100" dirty="0">
              <a:solidFill>
                <a:srgbClr val="FF0000"/>
              </a:solidFill>
            </a:endParaRPr>
          </a:p>
        </p:txBody>
      </p:sp>
      <p:sp>
        <p:nvSpPr>
          <p:cNvPr id="33" name="テキスト ボックス 32">
            <a:extLst>
              <a:ext uri="{FF2B5EF4-FFF2-40B4-BE49-F238E27FC236}">
                <a16:creationId xmlns:a16="http://schemas.microsoft.com/office/drawing/2014/main" id="{163946D1-3BEF-59FA-E074-88B2950F39D3}"/>
              </a:ext>
            </a:extLst>
          </p:cNvPr>
          <p:cNvSpPr txBox="1"/>
          <p:nvPr/>
        </p:nvSpPr>
        <p:spPr>
          <a:xfrm>
            <a:off x="4754880" y="4159616"/>
            <a:ext cx="3005051" cy="261610"/>
          </a:xfrm>
          <a:prstGeom prst="rect">
            <a:avLst/>
          </a:prstGeom>
          <a:noFill/>
        </p:spPr>
        <p:txBody>
          <a:bodyPr wrap="square">
            <a:spAutoFit/>
          </a:bodyPr>
          <a:lstStyle/>
          <a:p>
            <a:r>
              <a:rPr lang="ja-JP" altLang="en-US" sz="1100" b="1" dirty="0">
                <a:solidFill>
                  <a:srgbClr val="FF0000"/>
                </a:solidFill>
                <a:latin typeface="Yu Gothic UI"/>
              </a:rPr>
              <a:t>追加情報は基本自動で情報は反映されます。</a:t>
            </a:r>
            <a:endParaRPr lang="ja-JP" altLang="en-US" sz="1100" dirty="0">
              <a:solidFill>
                <a:srgbClr val="FF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09</a:t>
            </a:r>
            <a:r>
              <a:rPr sz="2000" b="0">
                <a:solidFill>
                  <a:srgbClr val="3457D5"/>
                </a:solidFill>
                <a:latin typeface="Yu Gothic UI"/>
              </a:rPr>
              <a:t>　</a:t>
            </a:r>
            <a:r>
              <a:rPr sz="2000" b="1">
                <a:solidFill>
                  <a:srgbClr val="36454F"/>
                </a:solidFill>
                <a:latin typeface="Yu Gothic UI"/>
              </a:rPr>
              <a:t>設定・マスタ管理</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人員マスタ：社員の氏名・職種・日額単価・在籍状況を管理します。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1280160"/>
            <a:ext cx="6858000" cy="36576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280160"/>
            <a:ext cx="2103120" cy="365760"/>
          </a:xfrm>
          <a:prstGeom prst="rect">
            <a:avLst/>
          </a:prstGeom>
          <a:noFill/>
        </p:spPr>
        <p:txBody>
          <a:bodyPr wrap="square" lIns="45720" tIns="18288" rIns="45720" bIns="18288" anchor="ctr">
            <a:spAutoFit/>
          </a:bodyPr>
          <a:lstStyle/>
          <a:p>
            <a:pPr algn="ctr">
              <a:lnSpc>
                <a:spcPct val="115000"/>
              </a:lnSpc>
            </a:pPr>
            <a:r>
              <a:rPr sz="1100" b="1">
                <a:solidFill>
                  <a:srgbClr val="FFFFFF"/>
                </a:solidFill>
                <a:latin typeface="Yu Gothic UI"/>
              </a:rPr>
              <a:t>氏名</a:t>
            </a:r>
          </a:p>
        </p:txBody>
      </p:sp>
      <p:sp>
        <p:nvSpPr>
          <p:cNvPr id="8" name="TextBox 7"/>
          <p:cNvSpPr txBox="1"/>
          <p:nvPr/>
        </p:nvSpPr>
        <p:spPr>
          <a:xfrm>
            <a:off x="2834640" y="1280160"/>
            <a:ext cx="1188720" cy="365760"/>
          </a:xfrm>
          <a:prstGeom prst="rect">
            <a:avLst/>
          </a:prstGeom>
          <a:noFill/>
        </p:spPr>
        <p:txBody>
          <a:bodyPr wrap="square" lIns="45720" tIns="18288" rIns="45720" bIns="18288" anchor="ctr">
            <a:spAutoFit/>
          </a:bodyPr>
          <a:lstStyle/>
          <a:p>
            <a:pPr algn="ctr">
              <a:lnSpc>
                <a:spcPct val="115000"/>
              </a:lnSpc>
            </a:pPr>
            <a:r>
              <a:rPr sz="1100" b="1">
                <a:solidFill>
                  <a:srgbClr val="FFFFFF"/>
                </a:solidFill>
                <a:latin typeface="Yu Gothic UI"/>
              </a:rPr>
              <a:t>職種</a:t>
            </a:r>
          </a:p>
        </p:txBody>
      </p:sp>
      <p:sp>
        <p:nvSpPr>
          <p:cNvPr id="9" name="TextBox 8"/>
          <p:cNvSpPr txBox="1"/>
          <p:nvPr/>
        </p:nvSpPr>
        <p:spPr>
          <a:xfrm>
            <a:off x="4206239" y="1280160"/>
            <a:ext cx="1645920" cy="365760"/>
          </a:xfrm>
          <a:prstGeom prst="rect">
            <a:avLst/>
          </a:prstGeom>
          <a:noFill/>
        </p:spPr>
        <p:txBody>
          <a:bodyPr wrap="square" lIns="45720" tIns="18288" rIns="45720" bIns="18288" anchor="ctr">
            <a:spAutoFit/>
          </a:bodyPr>
          <a:lstStyle/>
          <a:p>
            <a:pPr algn="ctr">
              <a:lnSpc>
                <a:spcPct val="115000"/>
              </a:lnSpc>
            </a:pPr>
            <a:r>
              <a:rPr sz="1100" b="1">
                <a:solidFill>
                  <a:srgbClr val="FFFFFF"/>
                </a:solidFill>
                <a:latin typeface="Yu Gothic UI"/>
              </a:rPr>
              <a:t>日額単価</a:t>
            </a:r>
          </a:p>
        </p:txBody>
      </p:sp>
      <p:sp>
        <p:nvSpPr>
          <p:cNvPr id="11" name="TextBox 10"/>
          <p:cNvSpPr txBox="1"/>
          <p:nvPr/>
        </p:nvSpPr>
        <p:spPr>
          <a:xfrm>
            <a:off x="5989319" y="1300666"/>
            <a:ext cx="1280160" cy="365760"/>
          </a:xfrm>
          <a:prstGeom prst="rect">
            <a:avLst/>
          </a:prstGeom>
          <a:noFill/>
        </p:spPr>
        <p:txBody>
          <a:bodyPr wrap="square" lIns="45720" tIns="18288" rIns="45720" bIns="18288" anchor="ctr">
            <a:spAutoFit/>
          </a:bodyPr>
          <a:lstStyle/>
          <a:p>
            <a:pPr algn="ctr">
              <a:lnSpc>
                <a:spcPct val="115000"/>
              </a:lnSpc>
            </a:pPr>
            <a:r>
              <a:rPr sz="1100" b="1" dirty="0" err="1">
                <a:solidFill>
                  <a:srgbClr val="FFFFFF"/>
                </a:solidFill>
                <a:latin typeface="Yu Gothic UI"/>
              </a:rPr>
              <a:t>操作</a:t>
            </a:r>
            <a:endParaRPr sz="1100" b="1" dirty="0">
              <a:solidFill>
                <a:srgbClr val="FFFFFF"/>
              </a:solidFill>
              <a:latin typeface="Yu Gothic UI"/>
            </a:endParaRPr>
          </a:p>
        </p:txBody>
      </p:sp>
      <p:sp>
        <p:nvSpPr>
          <p:cNvPr id="12" name="Rectangle 11"/>
          <p:cNvSpPr/>
          <p:nvPr/>
        </p:nvSpPr>
        <p:spPr>
          <a:xfrm>
            <a:off x="457200" y="1645920"/>
            <a:ext cx="68580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1645920"/>
            <a:ext cx="2103120" cy="384048"/>
          </a:xfrm>
          <a:prstGeom prst="rect">
            <a:avLst/>
          </a:prstGeom>
          <a:noFill/>
        </p:spPr>
        <p:txBody>
          <a:bodyPr wrap="square" lIns="45720" tIns="18288" rIns="45720" bIns="18288" anchor="ctr">
            <a:spAutoFit/>
          </a:bodyPr>
          <a:lstStyle/>
          <a:p>
            <a:pPr algn="ctr">
              <a:lnSpc>
                <a:spcPct val="115000"/>
              </a:lnSpc>
            </a:pPr>
            <a:r>
              <a:rPr sz="1000" b="0">
                <a:solidFill>
                  <a:srgbClr val="36454F"/>
                </a:solidFill>
                <a:latin typeface="Yu Gothic UI"/>
              </a:rPr>
              <a:t>仲 良智</a:t>
            </a:r>
          </a:p>
        </p:txBody>
      </p:sp>
      <p:sp>
        <p:nvSpPr>
          <p:cNvPr id="14" name="TextBox 13"/>
          <p:cNvSpPr txBox="1"/>
          <p:nvPr/>
        </p:nvSpPr>
        <p:spPr>
          <a:xfrm>
            <a:off x="2834640" y="1645920"/>
            <a:ext cx="1188720" cy="384048"/>
          </a:xfrm>
          <a:prstGeom prst="rect">
            <a:avLst/>
          </a:prstGeom>
          <a:noFill/>
        </p:spPr>
        <p:txBody>
          <a:bodyPr wrap="square" lIns="45720" tIns="18288" rIns="45720" bIns="18288" anchor="ctr">
            <a:spAutoFit/>
          </a:bodyPr>
          <a:lstStyle/>
          <a:p>
            <a:pPr algn="ctr">
              <a:lnSpc>
                <a:spcPct val="115000"/>
              </a:lnSpc>
            </a:pPr>
            <a:r>
              <a:rPr sz="1000" b="0">
                <a:solidFill>
                  <a:srgbClr val="36454F"/>
                </a:solidFill>
                <a:latin typeface="Yu Gothic UI"/>
              </a:rPr>
              <a:t>技師</a:t>
            </a:r>
          </a:p>
        </p:txBody>
      </p:sp>
      <p:sp>
        <p:nvSpPr>
          <p:cNvPr id="15" name="TextBox 14"/>
          <p:cNvSpPr txBox="1"/>
          <p:nvPr/>
        </p:nvSpPr>
        <p:spPr>
          <a:xfrm>
            <a:off x="4206239" y="1645920"/>
            <a:ext cx="1645920" cy="384048"/>
          </a:xfrm>
          <a:prstGeom prst="rect">
            <a:avLst/>
          </a:prstGeom>
          <a:noFill/>
        </p:spPr>
        <p:txBody>
          <a:bodyPr wrap="square" lIns="45720" tIns="18288" rIns="45720" bIns="18288" anchor="ctr">
            <a:spAutoFit/>
          </a:bodyPr>
          <a:lstStyle/>
          <a:p>
            <a:pPr algn="ctr">
              <a:lnSpc>
                <a:spcPct val="115000"/>
              </a:lnSpc>
            </a:pPr>
            <a:r>
              <a:rPr sz="1000" b="0">
                <a:solidFill>
                  <a:srgbClr val="36454F"/>
                </a:solidFill>
                <a:latin typeface="Yu Gothic UI"/>
              </a:rPr>
              <a:t>¥34,800</a:t>
            </a:r>
          </a:p>
        </p:txBody>
      </p:sp>
      <p:sp>
        <p:nvSpPr>
          <p:cNvPr id="17" name="TextBox 16"/>
          <p:cNvSpPr txBox="1"/>
          <p:nvPr/>
        </p:nvSpPr>
        <p:spPr>
          <a:xfrm>
            <a:off x="5989319" y="1627909"/>
            <a:ext cx="1280160" cy="384048"/>
          </a:xfrm>
          <a:prstGeom prst="rect">
            <a:avLst/>
          </a:prstGeom>
          <a:noFill/>
        </p:spPr>
        <p:txBody>
          <a:bodyPr wrap="square" lIns="45720" tIns="18288" rIns="45720" bIns="18288" anchor="ctr">
            <a:spAutoFit/>
          </a:bodyPr>
          <a:lstStyle/>
          <a:p>
            <a:pPr algn="ctr">
              <a:lnSpc>
                <a:spcPct val="115000"/>
              </a:lnSpc>
            </a:pPr>
            <a:r>
              <a:rPr sz="1000" b="1">
                <a:solidFill>
                  <a:srgbClr val="E88B3A"/>
                </a:solidFill>
                <a:latin typeface="Yu Gothic UI"/>
              </a:rPr>
              <a:t>編集</a:t>
            </a:r>
          </a:p>
        </p:txBody>
      </p:sp>
      <p:sp>
        <p:nvSpPr>
          <p:cNvPr id="18" name="Rectangle 17"/>
          <p:cNvSpPr/>
          <p:nvPr/>
        </p:nvSpPr>
        <p:spPr>
          <a:xfrm>
            <a:off x="457200" y="2029968"/>
            <a:ext cx="6858000" cy="38404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2122637"/>
            <a:ext cx="2103120" cy="198709"/>
          </a:xfrm>
          <a:prstGeom prst="rect">
            <a:avLst/>
          </a:prstGeom>
          <a:noFill/>
        </p:spPr>
        <p:txBody>
          <a:bodyPr wrap="square" lIns="45720" tIns="18288" rIns="45720" bIns="18288" anchor="ctr">
            <a:spAutoFit/>
          </a:bodyPr>
          <a:lstStyle/>
          <a:p>
            <a:pPr algn="ctr">
              <a:lnSpc>
                <a:spcPct val="115000"/>
              </a:lnSpc>
            </a:pPr>
            <a:r>
              <a:rPr lang="en-US" altLang="ja-JP" sz="1000" dirty="0">
                <a:solidFill>
                  <a:srgbClr val="36454F"/>
                </a:solidFill>
                <a:latin typeface="Yu Gothic UI"/>
              </a:rPr>
              <a:t>A</a:t>
            </a:r>
            <a:endParaRPr sz="1000" b="0" dirty="0">
              <a:solidFill>
                <a:srgbClr val="36454F"/>
              </a:solidFill>
              <a:latin typeface="Yu Gothic UI"/>
            </a:endParaRPr>
          </a:p>
        </p:txBody>
      </p:sp>
      <p:sp>
        <p:nvSpPr>
          <p:cNvPr id="20" name="TextBox 19"/>
          <p:cNvSpPr txBox="1"/>
          <p:nvPr/>
        </p:nvSpPr>
        <p:spPr>
          <a:xfrm>
            <a:off x="2834640" y="2029968"/>
            <a:ext cx="1188720" cy="384048"/>
          </a:xfrm>
          <a:prstGeom prst="rect">
            <a:avLst/>
          </a:prstGeom>
          <a:noFill/>
        </p:spPr>
        <p:txBody>
          <a:bodyPr wrap="square" lIns="45720" tIns="18288" rIns="45720" bIns="18288" anchor="ctr">
            <a:spAutoFit/>
          </a:bodyPr>
          <a:lstStyle/>
          <a:p>
            <a:pPr algn="ctr">
              <a:lnSpc>
                <a:spcPct val="115000"/>
              </a:lnSpc>
            </a:pPr>
            <a:r>
              <a:rPr sz="1000" b="0">
                <a:solidFill>
                  <a:srgbClr val="36454F"/>
                </a:solidFill>
                <a:latin typeface="Yu Gothic UI"/>
              </a:rPr>
              <a:t>助手</a:t>
            </a:r>
          </a:p>
        </p:txBody>
      </p:sp>
      <p:sp>
        <p:nvSpPr>
          <p:cNvPr id="21" name="TextBox 20"/>
          <p:cNvSpPr txBox="1"/>
          <p:nvPr/>
        </p:nvSpPr>
        <p:spPr>
          <a:xfrm>
            <a:off x="4206239" y="2029968"/>
            <a:ext cx="1645920" cy="384048"/>
          </a:xfrm>
          <a:prstGeom prst="rect">
            <a:avLst/>
          </a:prstGeom>
          <a:noFill/>
        </p:spPr>
        <p:txBody>
          <a:bodyPr wrap="square" lIns="45720" tIns="18288" rIns="45720" bIns="18288" anchor="ctr">
            <a:spAutoFit/>
          </a:bodyPr>
          <a:lstStyle/>
          <a:p>
            <a:pPr algn="ctr">
              <a:lnSpc>
                <a:spcPct val="115000"/>
              </a:lnSpc>
            </a:pPr>
            <a:r>
              <a:rPr sz="1000" b="0">
                <a:solidFill>
                  <a:srgbClr val="36454F"/>
                </a:solidFill>
                <a:latin typeface="Yu Gothic UI"/>
              </a:rPr>
              <a:t>¥28,000</a:t>
            </a:r>
          </a:p>
        </p:txBody>
      </p:sp>
      <p:sp>
        <p:nvSpPr>
          <p:cNvPr id="23" name="TextBox 22"/>
          <p:cNvSpPr txBox="1"/>
          <p:nvPr/>
        </p:nvSpPr>
        <p:spPr>
          <a:xfrm>
            <a:off x="5989319" y="2038974"/>
            <a:ext cx="1280160" cy="384048"/>
          </a:xfrm>
          <a:prstGeom prst="rect">
            <a:avLst/>
          </a:prstGeom>
          <a:noFill/>
        </p:spPr>
        <p:txBody>
          <a:bodyPr wrap="square" lIns="45720" tIns="18288" rIns="45720" bIns="18288" anchor="ctr">
            <a:spAutoFit/>
          </a:bodyPr>
          <a:lstStyle/>
          <a:p>
            <a:pPr algn="ctr">
              <a:lnSpc>
                <a:spcPct val="115000"/>
              </a:lnSpc>
            </a:pPr>
            <a:r>
              <a:rPr sz="1000" b="1" dirty="0" err="1">
                <a:solidFill>
                  <a:srgbClr val="E88B3A"/>
                </a:solidFill>
                <a:latin typeface="Yu Gothic UI"/>
              </a:rPr>
              <a:t>編集</a:t>
            </a:r>
            <a:endParaRPr sz="1000" b="1" dirty="0">
              <a:solidFill>
                <a:srgbClr val="E88B3A"/>
              </a:solidFill>
              <a:latin typeface="Yu Gothic UI"/>
            </a:endParaRPr>
          </a:p>
        </p:txBody>
      </p:sp>
      <p:sp>
        <p:nvSpPr>
          <p:cNvPr id="24" name="Rectangle 23"/>
          <p:cNvSpPr/>
          <p:nvPr/>
        </p:nvSpPr>
        <p:spPr>
          <a:xfrm>
            <a:off x="457200" y="2414016"/>
            <a:ext cx="68580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8640" y="2506685"/>
            <a:ext cx="2103120" cy="198709"/>
          </a:xfrm>
          <a:prstGeom prst="rect">
            <a:avLst/>
          </a:prstGeom>
          <a:noFill/>
        </p:spPr>
        <p:txBody>
          <a:bodyPr wrap="square" lIns="45720" tIns="18288" rIns="45720" bIns="18288" anchor="ctr">
            <a:spAutoFit/>
          </a:bodyPr>
          <a:lstStyle/>
          <a:p>
            <a:pPr algn="ctr">
              <a:lnSpc>
                <a:spcPct val="115000"/>
              </a:lnSpc>
            </a:pPr>
            <a:r>
              <a:rPr lang="en-US" sz="1000" dirty="0">
                <a:solidFill>
                  <a:srgbClr val="36454F"/>
                </a:solidFill>
                <a:latin typeface="Yu Gothic UI"/>
              </a:rPr>
              <a:t>B</a:t>
            </a:r>
            <a:endParaRPr sz="1000" b="0" dirty="0">
              <a:solidFill>
                <a:srgbClr val="36454F"/>
              </a:solidFill>
              <a:latin typeface="Yu Gothic UI"/>
            </a:endParaRPr>
          </a:p>
        </p:txBody>
      </p:sp>
      <p:sp>
        <p:nvSpPr>
          <p:cNvPr id="26" name="TextBox 25"/>
          <p:cNvSpPr txBox="1"/>
          <p:nvPr/>
        </p:nvSpPr>
        <p:spPr>
          <a:xfrm>
            <a:off x="2834640" y="2414016"/>
            <a:ext cx="1188720" cy="384048"/>
          </a:xfrm>
          <a:prstGeom prst="rect">
            <a:avLst/>
          </a:prstGeom>
          <a:noFill/>
        </p:spPr>
        <p:txBody>
          <a:bodyPr wrap="square" lIns="45720" tIns="18288" rIns="45720" bIns="18288" anchor="ctr">
            <a:spAutoFit/>
          </a:bodyPr>
          <a:lstStyle/>
          <a:p>
            <a:pPr algn="ctr">
              <a:lnSpc>
                <a:spcPct val="115000"/>
              </a:lnSpc>
            </a:pPr>
            <a:r>
              <a:rPr sz="1000" b="0">
                <a:solidFill>
                  <a:srgbClr val="36454F"/>
                </a:solidFill>
                <a:latin typeface="Yu Gothic UI"/>
              </a:rPr>
              <a:t>技師</a:t>
            </a:r>
          </a:p>
        </p:txBody>
      </p:sp>
      <p:sp>
        <p:nvSpPr>
          <p:cNvPr id="27" name="TextBox 26"/>
          <p:cNvSpPr txBox="1"/>
          <p:nvPr/>
        </p:nvSpPr>
        <p:spPr>
          <a:xfrm>
            <a:off x="4206239" y="2414016"/>
            <a:ext cx="1645920" cy="384048"/>
          </a:xfrm>
          <a:prstGeom prst="rect">
            <a:avLst/>
          </a:prstGeom>
          <a:noFill/>
        </p:spPr>
        <p:txBody>
          <a:bodyPr wrap="square" lIns="45720" tIns="18288" rIns="45720" bIns="18288" anchor="ctr">
            <a:spAutoFit/>
          </a:bodyPr>
          <a:lstStyle/>
          <a:p>
            <a:pPr algn="ctr">
              <a:lnSpc>
                <a:spcPct val="115000"/>
              </a:lnSpc>
            </a:pPr>
            <a:r>
              <a:rPr sz="1000" b="0">
                <a:solidFill>
                  <a:srgbClr val="36454F"/>
                </a:solidFill>
                <a:latin typeface="Yu Gothic UI"/>
              </a:rPr>
              <a:t>¥34,800</a:t>
            </a:r>
          </a:p>
        </p:txBody>
      </p:sp>
      <p:sp>
        <p:nvSpPr>
          <p:cNvPr id="29" name="TextBox 28"/>
          <p:cNvSpPr txBox="1"/>
          <p:nvPr/>
        </p:nvSpPr>
        <p:spPr>
          <a:xfrm>
            <a:off x="5989319" y="2423022"/>
            <a:ext cx="1280160" cy="384048"/>
          </a:xfrm>
          <a:prstGeom prst="rect">
            <a:avLst/>
          </a:prstGeom>
          <a:noFill/>
        </p:spPr>
        <p:txBody>
          <a:bodyPr wrap="square" lIns="45720" tIns="18288" rIns="45720" bIns="18288" anchor="ctr">
            <a:spAutoFit/>
          </a:bodyPr>
          <a:lstStyle/>
          <a:p>
            <a:pPr algn="ctr">
              <a:lnSpc>
                <a:spcPct val="115000"/>
              </a:lnSpc>
            </a:pPr>
            <a:r>
              <a:rPr sz="1000" b="1" dirty="0" err="1">
                <a:solidFill>
                  <a:srgbClr val="E88B3A"/>
                </a:solidFill>
                <a:latin typeface="Yu Gothic UI"/>
              </a:rPr>
              <a:t>編集</a:t>
            </a:r>
            <a:endParaRPr sz="1000" b="1" dirty="0">
              <a:solidFill>
                <a:srgbClr val="E88B3A"/>
              </a:solidFill>
              <a:latin typeface="Yu Gothic UI"/>
            </a:endParaRPr>
          </a:p>
        </p:txBody>
      </p:sp>
      <p:sp>
        <p:nvSpPr>
          <p:cNvPr id="30" name="Rectangle 29"/>
          <p:cNvSpPr/>
          <p:nvPr/>
        </p:nvSpPr>
        <p:spPr>
          <a:xfrm>
            <a:off x="457200" y="1280160"/>
            <a:ext cx="6858000" cy="1517904"/>
          </a:xfrm>
          <a:prstGeom prst="rect">
            <a:avLst/>
          </a:prstGeom>
          <a:noFill/>
          <a:ln w="6350">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 y="2926080"/>
            <a:ext cx="8321040" cy="292608"/>
          </a:xfrm>
          <a:prstGeom prst="rect">
            <a:avLst/>
          </a:prstGeom>
          <a:noFill/>
        </p:spPr>
        <p:txBody>
          <a:bodyPr wrap="square" lIns="45720" tIns="18288" rIns="45720" bIns="18288" anchor="t">
            <a:spAutoFit/>
          </a:bodyPr>
          <a:lstStyle/>
          <a:p>
            <a:pPr algn="l">
              <a:lnSpc>
                <a:spcPct val="115000"/>
              </a:lnSpc>
            </a:pPr>
            <a:r>
              <a:rPr sz="1300" b="1">
                <a:solidFill>
                  <a:srgbClr val="3457D5"/>
                </a:solidFill>
                <a:latin typeface="Yu Gothic UI"/>
              </a:rPr>
              <a:t>主な機能</a:t>
            </a:r>
          </a:p>
        </p:txBody>
      </p:sp>
      <p:sp>
        <p:nvSpPr>
          <p:cNvPr id="32" name="Rounded Rectangle 31"/>
          <p:cNvSpPr/>
          <p:nvPr/>
        </p:nvSpPr>
        <p:spPr>
          <a:xfrm>
            <a:off x="457200" y="3291840"/>
            <a:ext cx="2194560" cy="411480"/>
          </a:xfrm>
          <a:prstGeom prst="roundRect">
            <a:avLst>
              <a:gd name="adj" fmla="val 4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7200" y="3291840"/>
            <a:ext cx="2194560" cy="411480"/>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職種連動</a:t>
            </a:r>
          </a:p>
        </p:txBody>
      </p:sp>
      <p:sp>
        <p:nvSpPr>
          <p:cNvPr id="34" name="TextBox 33"/>
          <p:cNvSpPr txBox="1"/>
          <p:nvPr/>
        </p:nvSpPr>
        <p:spPr>
          <a:xfrm>
            <a:off x="2788920" y="3291840"/>
            <a:ext cx="5989320" cy="411480"/>
          </a:xfrm>
          <a:prstGeom prst="rect">
            <a:avLst/>
          </a:prstGeom>
          <a:noFill/>
        </p:spPr>
        <p:txBody>
          <a:bodyPr wrap="square" lIns="45720" tIns="18288" rIns="45720" bIns="18288" anchor="ctr">
            <a:spAutoFit/>
          </a:bodyPr>
          <a:lstStyle/>
          <a:p>
            <a:pPr algn="l">
              <a:lnSpc>
                <a:spcPct val="130000"/>
              </a:lnSpc>
            </a:pPr>
            <a:r>
              <a:rPr sz="1000" b="0">
                <a:solidFill>
                  <a:srgbClr val="36454F"/>
                </a:solidFill>
                <a:latin typeface="Yu Gothic UI"/>
              </a:rPr>
              <a:t>職種をプルダウンで「技師」「助手」に変更すると、日額単価が自動で連動します（技師→34,800円／助手→28,000円）。</a:t>
            </a:r>
          </a:p>
        </p:txBody>
      </p:sp>
      <p:sp>
        <p:nvSpPr>
          <p:cNvPr id="35" name="Rounded Rectangle 34"/>
          <p:cNvSpPr/>
          <p:nvPr/>
        </p:nvSpPr>
        <p:spPr>
          <a:xfrm>
            <a:off x="457200" y="3794760"/>
            <a:ext cx="2194560" cy="411480"/>
          </a:xfrm>
          <a:prstGeom prst="roundRect">
            <a:avLst>
              <a:gd name="adj" fmla="val 4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7200" y="3794760"/>
            <a:ext cx="2194560" cy="411480"/>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デフォルトに戻す</a:t>
            </a:r>
          </a:p>
        </p:txBody>
      </p:sp>
      <p:sp>
        <p:nvSpPr>
          <p:cNvPr id="37" name="TextBox 36"/>
          <p:cNvSpPr txBox="1"/>
          <p:nvPr/>
        </p:nvSpPr>
        <p:spPr>
          <a:xfrm>
            <a:off x="2788920" y="3794760"/>
            <a:ext cx="5989320" cy="411480"/>
          </a:xfrm>
          <a:prstGeom prst="rect">
            <a:avLst/>
          </a:prstGeom>
          <a:noFill/>
        </p:spPr>
        <p:txBody>
          <a:bodyPr wrap="square" lIns="45720" tIns="18288" rIns="45720" bIns="18288" anchor="ctr">
            <a:spAutoFit/>
          </a:bodyPr>
          <a:lstStyle/>
          <a:p>
            <a:pPr algn="l">
              <a:lnSpc>
                <a:spcPct val="130000"/>
              </a:lnSpc>
            </a:pPr>
            <a:r>
              <a:rPr sz="1000" b="0">
                <a:solidFill>
                  <a:srgbClr val="36454F"/>
                </a:solidFill>
                <a:latin typeface="Yu Gothic UI"/>
              </a:rPr>
              <a:t>「デフォルトに戻す」ボタンで、登録されている社員の単価を一括で初期値にリセットできます。</a:t>
            </a:r>
          </a:p>
        </p:txBody>
      </p:sp>
      <p:sp>
        <p:nvSpPr>
          <p:cNvPr id="41" name="TextBox 40"/>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42" name="TextBox 41"/>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39 / 53</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09</a:t>
            </a:r>
            <a:r>
              <a:rPr sz="2000" b="0">
                <a:solidFill>
                  <a:srgbClr val="3457D5"/>
                </a:solidFill>
                <a:latin typeface="Yu Gothic UI"/>
              </a:rPr>
              <a:t>　</a:t>
            </a:r>
            <a:r>
              <a:rPr sz="2000" b="1">
                <a:solidFill>
                  <a:srgbClr val="36454F"/>
                </a:solidFill>
                <a:latin typeface="Yu Gothic UI"/>
              </a:rPr>
              <a:t>設定・マスタ管理</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車両マスタ：登録車両の管理（有効／無効切替）を行います。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4572000" cy="3200400"/>
          </a:xfrm>
          <a:prstGeom prst="roundRect">
            <a:avLst>
              <a:gd name="adj" fmla="val 5000"/>
            </a:avLst>
          </a:prstGeom>
          <a:solidFill>
            <a:srgbClr val="FAFBFD"/>
          </a:solidFill>
          <a:ln w="19050">
            <a:solidFill>
              <a:srgbClr val="C43D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02336" y="1188719"/>
            <a:ext cx="1037705" cy="292608"/>
          </a:xfrm>
          <a:prstGeom prst="roundRect">
            <a:avLst>
              <a:gd name="adj" fmla="val 40000"/>
            </a:avLst>
          </a:prstGeom>
          <a:solidFill>
            <a:srgbClr val="C43D4A"/>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l"/>
            <a:r>
              <a:rPr sz="1000" b="1" dirty="0" err="1">
                <a:solidFill>
                  <a:srgbClr val="FFFFFF"/>
                </a:solidFill>
                <a:latin typeface="Yu Gothic UI"/>
              </a:rPr>
              <a:t>車両マスタ画面</a:t>
            </a:r>
            <a:endParaRPr sz="1000" b="1" dirty="0">
              <a:solidFill>
                <a:srgbClr val="FFFFFF"/>
              </a:solidFill>
              <a:latin typeface="Yu Gothic UI"/>
            </a:endParaRPr>
          </a:p>
        </p:txBody>
      </p:sp>
      <p:sp>
        <p:nvSpPr>
          <p:cNvPr id="9" name="TextBox 8"/>
          <p:cNvSpPr txBox="1"/>
          <p:nvPr/>
        </p:nvSpPr>
        <p:spPr>
          <a:xfrm>
            <a:off x="5212080" y="1280160"/>
            <a:ext cx="3566160" cy="292608"/>
          </a:xfrm>
          <a:prstGeom prst="rect">
            <a:avLst/>
          </a:prstGeom>
          <a:noFill/>
        </p:spPr>
        <p:txBody>
          <a:bodyPr wrap="square" lIns="45720" tIns="18288" rIns="45720" bIns="18288" anchor="t">
            <a:spAutoFit/>
          </a:bodyPr>
          <a:lstStyle/>
          <a:p>
            <a:pPr algn="l">
              <a:lnSpc>
                <a:spcPct val="115000"/>
              </a:lnSpc>
            </a:pPr>
            <a:r>
              <a:rPr sz="1400" b="1">
                <a:solidFill>
                  <a:srgbClr val="3457D5"/>
                </a:solidFill>
                <a:latin typeface="Yu Gothic UI"/>
              </a:rPr>
              <a:t>車両マスタの機能</a:t>
            </a:r>
          </a:p>
        </p:txBody>
      </p:sp>
      <p:sp>
        <p:nvSpPr>
          <p:cNvPr id="10" name="TextBox 9"/>
          <p:cNvSpPr txBox="1"/>
          <p:nvPr/>
        </p:nvSpPr>
        <p:spPr>
          <a:xfrm>
            <a:off x="5212080" y="1783080"/>
            <a:ext cx="3566160" cy="274320"/>
          </a:xfrm>
          <a:prstGeom prst="rect">
            <a:avLst/>
          </a:prstGeom>
          <a:noFill/>
        </p:spPr>
        <p:txBody>
          <a:bodyPr wrap="square" lIns="45720" tIns="18288" rIns="45720" bIns="18288" anchor="t">
            <a:spAutoFit/>
          </a:bodyPr>
          <a:lstStyle/>
          <a:p>
            <a:pPr algn="l">
              <a:lnSpc>
                <a:spcPct val="115000"/>
              </a:lnSpc>
            </a:pPr>
            <a:r>
              <a:rPr sz="1150" b="1">
                <a:solidFill>
                  <a:srgbClr val="3457D5"/>
                </a:solidFill>
                <a:latin typeface="Yu Gothic UI"/>
              </a:rPr>
              <a:t>車両登録</a:t>
            </a:r>
          </a:p>
        </p:txBody>
      </p:sp>
      <p:sp>
        <p:nvSpPr>
          <p:cNvPr id="11" name="TextBox 10"/>
          <p:cNvSpPr txBox="1"/>
          <p:nvPr/>
        </p:nvSpPr>
        <p:spPr>
          <a:xfrm>
            <a:off x="5212080" y="2075688"/>
            <a:ext cx="3566160" cy="640080"/>
          </a:xfrm>
          <a:prstGeom prst="rect">
            <a:avLst/>
          </a:prstGeom>
          <a:noFill/>
        </p:spPr>
        <p:txBody>
          <a:bodyPr wrap="square" lIns="45720" tIns="18288" rIns="45720" bIns="18288" anchor="t">
            <a:spAutoFit/>
          </a:bodyPr>
          <a:lstStyle/>
          <a:p>
            <a:pPr algn="l">
              <a:lnSpc>
                <a:spcPct val="135000"/>
              </a:lnSpc>
            </a:pPr>
            <a:r>
              <a:rPr sz="1000" b="0">
                <a:solidFill>
                  <a:srgbClr val="36454F"/>
                </a:solidFill>
                <a:latin typeface="Yu Gothic UI"/>
              </a:rPr>
              <a:t>業務で使う車両を「＋追加」ボタンから登録します。登録した車両は日報から選択できるようになります。</a:t>
            </a:r>
          </a:p>
        </p:txBody>
      </p:sp>
      <p:sp>
        <p:nvSpPr>
          <p:cNvPr id="12" name="TextBox 11"/>
          <p:cNvSpPr txBox="1"/>
          <p:nvPr/>
        </p:nvSpPr>
        <p:spPr>
          <a:xfrm>
            <a:off x="5212080" y="2743200"/>
            <a:ext cx="3566160" cy="274320"/>
          </a:xfrm>
          <a:prstGeom prst="rect">
            <a:avLst/>
          </a:prstGeom>
          <a:noFill/>
        </p:spPr>
        <p:txBody>
          <a:bodyPr wrap="square" lIns="45720" tIns="18288" rIns="45720" bIns="18288" anchor="t">
            <a:spAutoFit/>
          </a:bodyPr>
          <a:lstStyle/>
          <a:p>
            <a:pPr algn="l">
              <a:lnSpc>
                <a:spcPct val="115000"/>
              </a:lnSpc>
            </a:pPr>
            <a:r>
              <a:rPr sz="1150" b="1">
                <a:solidFill>
                  <a:srgbClr val="3457D5"/>
                </a:solidFill>
                <a:latin typeface="Yu Gothic UI"/>
              </a:rPr>
              <a:t>有効／無効切替</a:t>
            </a:r>
          </a:p>
        </p:txBody>
      </p:sp>
      <p:sp>
        <p:nvSpPr>
          <p:cNvPr id="13" name="TextBox 12"/>
          <p:cNvSpPr txBox="1"/>
          <p:nvPr/>
        </p:nvSpPr>
        <p:spPr>
          <a:xfrm>
            <a:off x="5212080" y="3035808"/>
            <a:ext cx="3566160" cy="640080"/>
          </a:xfrm>
          <a:prstGeom prst="rect">
            <a:avLst/>
          </a:prstGeom>
          <a:noFill/>
        </p:spPr>
        <p:txBody>
          <a:bodyPr wrap="square" lIns="45720" tIns="18288" rIns="45720" bIns="18288" anchor="t">
            <a:spAutoFit/>
          </a:bodyPr>
          <a:lstStyle/>
          <a:p>
            <a:pPr algn="l">
              <a:lnSpc>
                <a:spcPct val="135000"/>
              </a:lnSpc>
            </a:pPr>
            <a:r>
              <a:rPr sz="1000" b="0">
                <a:solidFill>
                  <a:srgbClr val="36454F"/>
                </a:solidFill>
                <a:latin typeface="Yu Gothic UI"/>
              </a:rPr>
              <a:t>現在使っていない車両は「無効」に切替えてください。無効車両は日報の選択肢から消えます。</a:t>
            </a:r>
          </a:p>
        </p:txBody>
      </p:sp>
      <p:sp>
        <p:nvSpPr>
          <p:cNvPr id="14" name="TextBox 13"/>
          <p:cNvSpPr txBox="1"/>
          <p:nvPr/>
        </p:nvSpPr>
        <p:spPr>
          <a:xfrm>
            <a:off x="5212080" y="3703320"/>
            <a:ext cx="3566160" cy="274320"/>
          </a:xfrm>
          <a:prstGeom prst="rect">
            <a:avLst/>
          </a:prstGeom>
          <a:noFill/>
        </p:spPr>
        <p:txBody>
          <a:bodyPr wrap="square" lIns="45720" tIns="18288" rIns="45720" bIns="18288" anchor="t">
            <a:spAutoFit/>
          </a:bodyPr>
          <a:lstStyle/>
          <a:p>
            <a:pPr algn="l">
              <a:lnSpc>
                <a:spcPct val="115000"/>
              </a:lnSpc>
            </a:pPr>
            <a:r>
              <a:rPr sz="1150" b="1">
                <a:solidFill>
                  <a:srgbClr val="3457D5"/>
                </a:solidFill>
                <a:latin typeface="Yu Gothic UI"/>
              </a:rPr>
              <a:t>「なし」は内部固定値</a:t>
            </a:r>
          </a:p>
        </p:txBody>
      </p:sp>
      <p:sp>
        <p:nvSpPr>
          <p:cNvPr id="15" name="TextBox 14"/>
          <p:cNvSpPr txBox="1"/>
          <p:nvPr/>
        </p:nvSpPr>
        <p:spPr>
          <a:xfrm>
            <a:off x="5212080" y="3995928"/>
            <a:ext cx="3566160" cy="640080"/>
          </a:xfrm>
          <a:prstGeom prst="rect">
            <a:avLst/>
          </a:prstGeom>
          <a:noFill/>
        </p:spPr>
        <p:txBody>
          <a:bodyPr wrap="square" lIns="45720" tIns="18288" rIns="45720" bIns="18288" anchor="t">
            <a:spAutoFit/>
          </a:bodyPr>
          <a:lstStyle/>
          <a:p>
            <a:pPr algn="l">
              <a:lnSpc>
                <a:spcPct val="135000"/>
              </a:lnSpc>
            </a:pPr>
            <a:r>
              <a:rPr sz="1000" b="0">
                <a:solidFill>
                  <a:srgbClr val="36454F"/>
                </a:solidFill>
                <a:latin typeface="Yu Gothic UI"/>
              </a:rPr>
              <a:t>システム内部で「なし」（車両不使用）として固定値が定義されています。マスタには表示されないので、削除や編集の必要はありません。</a:t>
            </a:r>
          </a:p>
        </p:txBody>
      </p:sp>
      <p:sp>
        <p:nvSpPr>
          <p:cNvPr id="16" name="TextBox 15"/>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17" name="TextBox 16"/>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40 / 53</a:t>
            </a:r>
          </a:p>
        </p:txBody>
      </p:sp>
      <p:pic>
        <p:nvPicPr>
          <p:cNvPr id="19" name="図 18">
            <a:extLst>
              <a:ext uri="{FF2B5EF4-FFF2-40B4-BE49-F238E27FC236}">
                <a16:creationId xmlns:a16="http://schemas.microsoft.com/office/drawing/2014/main" id="{DB488524-B466-2D63-55E6-7F2BF3E95896}"/>
              </a:ext>
            </a:extLst>
          </p:cNvPr>
          <p:cNvPicPr>
            <a:picLocks noChangeAspect="1"/>
          </p:cNvPicPr>
          <p:nvPr/>
        </p:nvPicPr>
        <p:blipFill>
          <a:blip r:embed="rId2"/>
          <a:stretch>
            <a:fillRect/>
          </a:stretch>
        </p:blipFill>
        <p:spPr>
          <a:xfrm>
            <a:off x="810489" y="1580351"/>
            <a:ext cx="4002853" cy="2600018"/>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09</a:t>
            </a:r>
            <a:r>
              <a:rPr sz="2000" b="0">
                <a:solidFill>
                  <a:srgbClr val="3457D5"/>
                </a:solidFill>
                <a:latin typeface="Yu Gothic UI"/>
              </a:rPr>
              <a:t>　</a:t>
            </a:r>
            <a:r>
              <a:rPr sz="2000" b="1">
                <a:solidFill>
                  <a:srgbClr val="36454F"/>
                </a:solidFill>
                <a:latin typeface="Yu Gothic UI"/>
              </a:rPr>
              <a:t>設定・マスタ管理</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機材マスタ：機材・ソフトの日額損料を管理します。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1280160"/>
            <a:ext cx="5029200" cy="36576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280160"/>
            <a:ext cx="2286000" cy="365760"/>
          </a:xfrm>
          <a:prstGeom prst="rect">
            <a:avLst/>
          </a:prstGeom>
          <a:noFill/>
        </p:spPr>
        <p:txBody>
          <a:bodyPr wrap="square" lIns="45720" tIns="18288" rIns="45720" bIns="18288" anchor="ctr">
            <a:spAutoFit/>
          </a:bodyPr>
          <a:lstStyle/>
          <a:p>
            <a:pPr algn="ctr">
              <a:lnSpc>
                <a:spcPct val="115000"/>
              </a:lnSpc>
            </a:pPr>
            <a:r>
              <a:rPr sz="1100" b="1">
                <a:solidFill>
                  <a:srgbClr val="FFFFFF"/>
                </a:solidFill>
                <a:latin typeface="Yu Gothic UI"/>
              </a:rPr>
              <a:t>機材名</a:t>
            </a:r>
          </a:p>
        </p:txBody>
      </p:sp>
      <p:sp>
        <p:nvSpPr>
          <p:cNvPr id="8" name="TextBox 7"/>
          <p:cNvSpPr txBox="1"/>
          <p:nvPr/>
        </p:nvSpPr>
        <p:spPr>
          <a:xfrm>
            <a:off x="3017520" y="1280160"/>
            <a:ext cx="1188720" cy="365760"/>
          </a:xfrm>
          <a:prstGeom prst="rect">
            <a:avLst/>
          </a:prstGeom>
          <a:noFill/>
        </p:spPr>
        <p:txBody>
          <a:bodyPr wrap="square" lIns="45720" tIns="18288" rIns="45720" bIns="18288" anchor="ctr">
            <a:spAutoFit/>
          </a:bodyPr>
          <a:lstStyle/>
          <a:p>
            <a:pPr algn="ctr">
              <a:lnSpc>
                <a:spcPct val="115000"/>
              </a:lnSpc>
            </a:pPr>
            <a:r>
              <a:rPr sz="1100" b="1">
                <a:solidFill>
                  <a:srgbClr val="FFFFFF"/>
                </a:solidFill>
                <a:latin typeface="Yu Gothic UI"/>
              </a:rPr>
              <a:t>日額損料</a:t>
            </a:r>
          </a:p>
        </p:txBody>
      </p:sp>
      <p:sp>
        <p:nvSpPr>
          <p:cNvPr id="9" name="TextBox 8"/>
          <p:cNvSpPr txBox="1"/>
          <p:nvPr/>
        </p:nvSpPr>
        <p:spPr>
          <a:xfrm>
            <a:off x="4389120" y="1280160"/>
            <a:ext cx="1005840" cy="365760"/>
          </a:xfrm>
          <a:prstGeom prst="rect">
            <a:avLst/>
          </a:prstGeom>
          <a:noFill/>
        </p:spPr>
        <p:txBody>
          <a:bodyPr wrap="square" lIns="45720" tIns="18288" rIns="45720" bIns="18288" anchor="ctr">
            <a:spAutoFit/>
          </a:bodyPr>
          <a:lstStyle/>
          <a:p>
            <a:pPr algn="ctr">
              <a:lnSpc>
                <a:spcPct val="115000"/>
              </a:lnSpc>
            </a:pPr>
            <a:r>
              <a:rPr sz="1100" b="1">
                <a:solidFill>
                  <a:srgbClr val="FFFFFF"/>
                </a:solidFill>
                <a:latin typeface="Yu Gothic UI"/>
              </a:rPr>
              <a:t>有効</a:t>
            </a:r>
          </a:p>
        </p:txBody>
      </p:sp>
      <p:sp>
        <p:nvSpPr>
          <p:cNvPr id="10" name="Rectangle 9"/>
          <p:cNvSpPr/>
          <p:nvPr/>
        </p:nvSpPr>
        <p:spPr>
          <a:xfrm>
            <a:off x="457200" y="1645920"/>
            <a:ext cx="50292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1645920"/>
            <a:ext cx="2286000" cy="384048"/>
          </a:xfrm>
          <a:prstGeom prst="rect">
            <a:avLst/>
          </a:prstGeom>
          <a:noFill/>
        </p:spPr>
        <p:txBody>
          <a:bodyPr wrap="square" lIns="45720" tIns="18288" rIns="45720" bIns="18288" anchor="ctr">
            <a:spAutoFit/>
          </a:bodyPr>
          <a:lstStyle/>
          <a:p>
            <a:pPr algn="l">
              <a:lnSpc>
                <a:spcPct val="115000"/>
              </a:lnSpc>
            </a:pPr>
            <a:r>
              <a:rPr sz="1000" b="0">
                <a:solidFill>
                  <a:srgbClr val="36454F"/>
                </a:solidFill>
                <a:latin typeface="Yu Gothic UI"/>
              </a:rPr>
              <a:t>トータルステーション</a:t>
            </a:r>
          </a:p>
        </p:txBody>
      </p:sp>
      <p:sp>
        <p:nvSpPr>
          <p:cNvPr id="12" name="TextBox 11"/>
          <p:cNvSpPr txBox="1"/>
          <p:nvPr/>
        </p:nvSpPr>
        <p:spPr>
          <a:xfrm>
            <a:off x="3017520" y="1645920"/>
            <a:ext cx="1188720" cy="384048"/>
          </a:xfrm>
          <a:prstGeom prst="rect">
            <a:avLst/>
          </a:prstGeom>
          <a:noFill/>
        </p:spPr>
        <p:txBody>
          <a:bodyPr wrap="square" lIns="45720" tIns="18288" rIns="45720" bIns="18288" anchor="ctr">
            <a:spAutoFit/>
          </a:bodyPr>
          <a:lstStyle/>
          <a:p>
            <a:pPr algn="ctr">
              <a:lnSpc>
                <a:spcPct val="115000"/>
              </a:lnSpc>
            </a:pPr>
            <a:r>
              <a:rPr sz="1000" b="0">
                <a:solidFill>
                  <a:srgbClr val="36454F"/>
                </a:solidFill>
                <a:latin typeface="Yu Gothic UI"/>
              </a:rPr>
              <a:t>¥5,000</a:t>
            </a:r>
          </a:p>
        </p:txBody>
      </p:sp>
      <p:sp>
        <p:nvSpPr>
          <p:cNvPr id="13" name="TextBox 12"/>
          <p:cNvSpPr txBox="1"/>
          <p:nvPr/>
        </p:nvSpPr>
        <p:spPr>
          <a:xfrm>
            <a:off x="4389120" y="1645920"/>
            <a:ext cx="1005840" cy="384048"/>
          </a:xfrm>
          <a:prstGeom prst="rect">
            <a:avLst/>
          </a:prstGeom>
          <a:noFill/>
        </p:spPr>
        <p:txBody>
          <a:bodyPr wrap="square" lIns="45720" tIns="18288" rIns="45720" bIns="18288" anchor="ctr">
            <a:spAutoFit/>
          </a:bodyPr>
          <a:lstStyle/>
          <a:p>
            <a:pPr algn="ctr">
              <a:lnSpc>
                <a:spcPct val="115000"/>
              </a:lnSpc>
            </a:pPr>
            <a:r>
              <a:rPr sz="1000" b="0">
                <a:solidFill>
                  <a:srgbClr val="36454F"/>
                </a:solidFill>
                <a:latin typeface="Yu Gothic UI"/>
              </a:rPr>
              <a:t>✓</a:t>
            </a:r>
          </a:p>
        </p:txBody>
      </p:sp>
      <p:sp>
        <p:nvSpPr>
          <p:cNvPr id="14" name="Rectangle 13"/>
          <p:cNvSpPr/>
          <p:nvPr/>
        </p:nvSpPr>
        <p:spPr>
          <a:xfrm>
            <a:off x="457200" y="2029968"/>
            <a:ext cx="5029200" cy="38404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2029968"/>
            <a:ext cx="2286000" cy="384048"/>
          </a:xfrm>
          <a:prstGeom prst="rect">
            <a:avLst/>
          </a:prstGeom>
          <a:noFill/>
        </p:spPr>
        <p:txBody>
          <a:bodyPr wrap="square" lIns="45720" tIns="18288" rIns="45720" bIns="18288" anchor="ctr">
            <a:spAutoFit/>
          </a:bodyPr>
          <a:lstStyle/>
          <a:p>
            <a:pPr algn="l">
              <a:lnSpc>
                <a:spcPct val="115000"/>
              </a:lnSpc>
            </a:pPr>
            <a:r>
              <a:rPr sz="1000" b="0">
                <a:solidFill>
                  <a:srgbClr val="36454F"/>
                </a:solidFill>
                <a:latin typeface="Yu Gothic UI"/>
              </a:rPr>
              <a:t>GPS測量機</a:t>
            </a:r>
          </a:p>
        </p:txBody>
      </p:sp>
      <p:sp>
        <p:nvSpPr>
          <p:cNvPr id="16" name="TextBox 15"/>
          <p:cNvSpPr txBox="1"/>
          <p:nvPr/>
        </p:nvSpPr>
        <p:spPr>
          <a:xfrm>
            <a:off x="3017520" y="2029968"/>
            <a:ext cx="1188720" cy="384048"/>
          </a:xfrm>
          <a:prstGeom prst="rect">
            <a:avLst/>
          </a:prstGeom>
          <a:noFill/>
        </p:spPr>
        <p:txBody>
          <a:bodyPr wrap="square" lIns="45720" tIns="18288" rIns="45720" bIns="18288" anchor="ctr">
            <a:spAutoFit/>
          </a:bodyPr>
          <a:lstStyle/>
          <a:p>
            <a:pPr algn="ctr">
              <a:lnSpc>
                <a:spcPct val="115000"/>
              </a:lnSpc>
            </a:pPr>
            <a:r>
              <a:rPr sz="1000" b="0">
                <a:solidFill>
                  <a:srgbClr val="36454F"/>
                </a:solidFill>
                <a:latin typeface="Yu Gothic UI"/>
              </a:rPr>
              <a:t>¥8,000</a:t>
            </a:r>
          </a:p>
        </p:txBody>
      </p:sp>
      <p:sp>
        <p:nvSpPr>
          <p:cNvPr id="17" name="TextBox 16"/>
          <p:cNvSpPr txBox="1"/>
          <p:nvPr/>
        </p:nvSpPr>
        <p:spPr>
          <a:xfrm>
            <a:off x="4389120" y="2029968"/>
            <a:ext cx="1005840" cy="384048"/>
          </a:xfrm>
          <a:prstGeom prst="rect">
            <a:avLst/>
          </a:prstGeom>
          <a:noFill/>
        </p:spPr>
        <p:txBody>
          <a:bodyPr wrap="square" lIns="45720" tIns="18288" rIns="45720" bIns="18288" anchor="ctr">
            <a:spAutoFit/>
          </a:bodyPr>
          <a:lstStyle/>
          <a:p>
            <a:pPr algn="ctr">
              <a:lnSpc>
                <a:spcPct val="115000"/>
              </a:lnSpc>
            </a:pPr>
            <a:r>
              <a:rPr sz="1000" b="0">
                <a:solidFill>
                  <a:srgbClr val="36454F"/>
                </a:solidFill>
                <a:latin typeface="Yu Gothic UI"/>
              </a:rPr>
              <a:t>✓</a:t>
            </a:r>
          </a:p>
        </p:txBody>
      </p:sp>
      <p:sp>
        <p:nvSpPr>
          <p:cNvPr id="18" name="Rectangle 17"/>
          <p:cNvSpPr/>
          <p:nvPr/>
        </p:nvSpPr>
        <p:spPr>
          <a:xfrm>
            <a:off x="457200" y="2414016"/>
            <a:ext cx="50292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2414016"/>
            <a:ext cx="2286000" cy="384048"/>
          </a:xfrm>
          <a:prstGeom prst="rect">
            <a:avLst/>
          </a:prstGeom>
          <a:noFill/>
        </p:spPr>
        <p:txBody>
          <a:bodyPr wrap="square" lIns="45720" tIns="18288" rIns="45720" bIns="18288" anchor="ctr">
            <a:spAutoFit/>
          </a:bodyPr>
          <a:lstStyle/>
          <a:p>
            <a:pPr algn="l">
              <a:lnSpc>
                <a:spcPct val="115000"/>
              </a:lnSpc>
            </a:pPr>
            <a:r>
              <a:rPr sz="1000" b="0">
                <a:solidFill>
                  <a:srgbClr val="36454F"/>
                </a:solidFill>
                <a:latin typeface="Yu Gothic UI"/>
              </a:rPr>
              <a:t>ドローン</a:t>
            </a:r>
          </a:p>
        </p:txBody>
      </p:sp>
      <p:sp>
        <p:nvSpPr>
          <p:cNvPr id="20" name="TextBox 19"/>
          <p:cNvSpPr txBox="1"/>
          <p:nvPr/>
        </p:nvSpPr>
        <p:spPr>
          <a:xfrm>
            <a:off x="3017520" y="2414016"/>
            <a:ext cx="1188720" cy="384048"/>
          </a:xfrm>
          <a:prstGeom prst="rect">
            <a:avLst/>
          </a:prstGeom>
          <a:noFill/>
        </p:spPr>
        <p:txBody>
          <a:bodyPr wrap="square" lIns="45720" tIns="18288" rIns="45720" bIns="18288" anchor="ctr">
            <a:spAutoFit/>
          </a:bodyPr>
          <a:lstStyle/>
          <a:p>
            <a:pPr algn="ctr">
              <a:lnSpc>
                <a:spcPct val="115000"/>
              </a:lnSpc>
            </a:pPr>
            <a:r>
              <a:rPr sz="1000" b="0">
                <a:solidFill>
                  <a:srgbClr val="36454F"/>
                </a:solidFill>
                <a:latin typeface="Yu Gothic UI"/>
              </a:rPr>
              <a:t>¥12,000</a:t>
            </a:r>
          </a:p>
        </p:txBody>
      </p:sp>
      <p:sp>
        <p:nvSpPr>
          <p:cNvPr id="21" name="TextBox 20"/>
          <p:cNvSpPr txBox="1"/>
          <p:nvPr/>
        </p:nvSpPr>
        <p:spPr>
          <a:xfrm>
            <a:off x="4389120" y="2414016"/>
            <a:ext cx="1005840" cy="384048"/>
          </a:xfrm>
          <a:prstGeom prst="rect">
            <a:avLst/>
          </a:prstGeom>
          <a:noFill/>
        </p:spPr>
        <p:txBody>
          <a:bodyPr wrap="square" lIns="45720" tIns="18288" rIns="45720" bIns="18288" anchor="ctr">
            <a:spAutoFit/>
          </a:bodyPr>
          <a:lstStyle/>
          <a:p>
            <a:pPr algn="ctr">
              <a:lnSpc>
                <a:spcPct val="115000"/>
              </a:lnSpc>
            </a:pPr>
            <a:r>
              <a:rPr sz="1000" b="0">
                <a:solidFill>
                  <a:srgbClr val="36454F"/>
                </a:solidFill>
                <a:latin typeface="Yu Gothic UI"/>
              </a:rPr>
              <a:t>✓</a:t>
            </a:r>
          </a:p>
        </p:txBody>
      </p:sp>
      <p:sp>
        <p:nvSpPr>
          <p:cNvPr id="22" name="Rectangle 21"/>
          <p:cNvSpPr/>
          <p:nvPr/>
        </p:nvSpPr>
        <p:spPr>
          <a:xfrm>
            <a:off x="457200" y="2798064"/>
            <a:ext cx="5029200" cy="38404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8640" y="2798064"/>
            <a:ext cx="2286000" cy="384048"/>
          </a:xfrm>
          <a:prstGeom prst="rect">
            <a:avLst/>
          </a:prstGeom>
          <a:noFill/>
        </p:spPr>
        <p:txBody>
          <a:bodyPr wrap="square" lIns="45720" tIns="18288" rIns="45720" bIns="18288" anchor="ctr">
            <a:spAutoFit/>
          </a:bodyPr>
          <a:lstStyle/>
          <a:p>
            <a:pPr algn="l">
              <a:lnSpc>
                <a:spcPct val="115000"/>
              </a:lnSpc>
            </a:pPr>
            <a:r>
              <a:rPr sz="1000" b="0">
                <a:solidFill>
                  <a:srgbClr val="36454F"/>
                </a:solidFill>
                <a:latin typeface="Yu Gothic UI"/>
              </a:rPr>
              <a:t>CAD ソフト（年額契約）</a:t>
            </a:r>
          </a:p>
        </p:txBody>
      </p:sp>
      <p:sp>
        <p:nvSpPr>
          <p:cNvPr id="24" name="TextBox 23"/>
          <p:cNvSpPr txBox="1"/>
          <p:nvPr/>
        </p:nvSpPr>
        <p:spPr>
          <a:xfrm>
            <a:off x="3017520" y="2798064"/>
            <a:ext cx="1188720" cy="384048"/>
          </a:xfrm>
          <a:prstGeom prst="rect">
            <a:avLst/>
          </a:prstGeom>
          <a:noFill/>
        </p:spPr>
        <p:txBody>
          <a:bodyPr wrap="square" lIns="45720" tIns="18288" rIns="45720" bIns="18288" anchor="ctr">
            <a:spAutoFit/>
          </a:bodyPr>
          <a:lstStyle/>
          <a:p>
            <a:pPr algn="ctr">
              <a:lnSpc>
                <a:spcPct val="115000"/>
              </a:lnSpc>
            </a:pPr>
            <a:r>
              <a:rPr sz="1000" b="0">
                <a:solidFill>
                  <a:srgbClr val="36454F"/>
                </a:solidFill>
                <a:latin typeface="Yu Gothic UI"/>
              </a:rPr>
              <a:t>¥3,000</a:t>
            </a:r>
          </a:p>
        </p:txBody>
      </p:sp>
      <p:sp>
        <p:nvSpPr>
          <p:cNvPr id="25" name="TextBox 24"/>
          <p:cNvSpPr txBox="1"/>
          <p:nvPr/>
        </p:nvSpPr>
        <p:spPr>
          <a:xfrm>
            <a:off x="4389120" y="2798064"/>
            <a:ext cx="1005840" cy="384048"/>
          </a:xfrm>
          <a:prstGeom prst="rect">
            <a:avLst/>
          </a:prstGeom>
          <a:noFill/>
        </p:spPr>
        <p:txBody>
          <a:bodyPr wrap="square" lIns="45720" tIns="18288" rIns="45720" bIns="18288" anchor="ctr">
            <a:spAutoFit/>
          </a:bodyPr>
          <a:lstStyle/>
          <a:p>
            <a:pPr algn="ctr">
              <a:lnSpc>
                <a:spcPct val="115000"/>
              </a:lnSpc>
            </a:pPr>
            <a:r>
              <a:rPr sz="1000" b="0">
                <a:solidFill>
                  <a:srgbClr val="36454F"/>
                </a:solidFill>
                <a:latin typeface="Yu Gothic UI"/>
              </a:rPr>
              <a:t>✓</a:t>
            </a:r>
          </a:p>
        </p:txBody>
      </p:sp>
      <p:sp>
        <p:nvSpPr>
          <p:cNvPr id="26" name="Rectangle 25"/>
          <p:cNvSpPr/>
          <p:nvPr/>
        </p:nvSpPr>
        <p:spPr>
          <a:xfrm>
            <a:off x="457200" y="1280160"/>
            <a:ext cx="5029200" cy="1901952"/>
          </a:xfrm>
          <a:prstGeom prst="rect">
            <a:avLst/>
          </a:prstGeom>
          <a:noFill/>
          <a:ln w="6350">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669280" y="1280160"/>
            <a:ext cx="3108960" cy="292608"/>
          </a:xfrm>
          <a:prstGeom prst="rect">
            <a:avLst/>
          </a:prstGeom>
          <a:noFill/>
        </p:spPr>
        <p:txBody>
          <a:bodyPr wrap="square" lIns="45720" tIns="18288" rIns="45720" bIns="18288" anchor="t">
            <a:spAutoFit/>
          </a:bodyPr>
          <a:lstStyle/>
          <a:p>
            <a:pPr algn="l">
              <a:lnSpc>
                <a:spcPct val="115000"/>
              </a:lnSpc>
            </a:pPr>
            <a:r>
              <a:rPr sz="1150" b="1">
                <a:solidFill>
                  <a:srgbClr val="3457D5"/>
                </a:solidFill>
                <a:latin typeface="Yu Gothic UI"/>
              </a:rPr>
              <a:t>用途</a:t>
            </a:r>
          </a:p>
        </p:txBody>
      </p:sp>
      <p:sp>
        <p:nvSpPr>
          <p:cNvPr id="28" name="TextBox 27"/>
          <p:cNvSpPr txBox="1"/>
          <p:nvPr/>
        </p:nvSpPr>
        <p:spPr>
          <a:xfrm>
            <a:off x="5669280" y="1572768"/>
            <a:ext cx="3108960" cy="777240"/>
          </a:xfrm>
          <a:prstGeom prst="rect">
            <a:avLst/>
          </a:prstGeom>
          <a:noFill/>
        </p:spPr>
        <p:txBody>
          <a:bodyPr wrap="square" lIns="45720" tIns="18288" rIns="45720" bIns="18288" anchor="t">
            <a:spAutoFit/>
          </a:bodyPr>
          <a:lstStyle/>
          <a:p>
            <a:pPr algn="l">
              <a:lnSpc>
                <a:spcPct val="135000"/>
              </a:lnSpc>
            </a:pPr>
            <a:r>
              <a:rPr sz="1000" b="0">
                <a:solidFill>
                  <a:srgbClr val="36454F"/>
                </a:solidFill>
                <a:latin typeface="Yu Gothic UI"/>
              </a:rPr>
              <a:t>原価集計の「損料」計算に使われます。1日6時間以上使った機材が計上対象です。</a:t>
            </a:r>
          </a:p>
        </p:txBody>
      </p:sp>
      <p:sp>
        <p:nvSpPr>
          <p:cNvPr id="29" name="TextBox 28"/>
          <p:cNvSpPr txBox="1"/>
          <p:nvPr/>
        </p:nvSpPr>
        <p:spPr>
          <a:xfrm>
            <a:off x="5669280" y="2359152"/>
            <a:ext cx="3108960" cy="292608"/>
          </a:xfrm>
          <a:prstGeom prst="rect">
            <a:avLst/>
          </a:prstGeom>
          <a:noFill/>
        </p:spPr>
        <p:txBody>
          <a:bodyPr wrap="square" lIns="45720" tIns="18288" rIns="45720" bIns="18288" anchor="t">
            <a:spAutoFit/>
          </a:bodyPr>
          <a:lstStyle/>
          <a:p>
            <a:pPr algn="l">
              <a:lnSpc>
                <a:spcPct val="115000"/>
              </a:lnSpc>
            </a:pPr>
            <a:r>
              <a:rPr sz="1150" b="1">
                <a:solidFill>
                  <a:srgbClr val="3457D5"/>
                </a:solidFill>
                <a:latin typeface="Yu Gothic UI"/>
              </a:rPr>
              <a:t>追加方法</a:t>
            </a:r>
          </a:p>
        </p:txBody>
      </p:sp>
      <p:sp>
        <p:nvSpPr>
          <p:cNvPr id="30" name="TextBox 29"/>
          <p:cNvSpPr txBox="1"/>
          <p:nvPr/>
        </p:nvSpPr>
        <p:spPr>
          <a:xfrm>
            <a:off x="5669280" y="2651760"/>
            <a:ext cx="3108960" cy="777240"/>
          </a:xfrm>
          <a:prstGeom prst="rect">
            <a:avLst/>
          </a:prstGeom>
          <a:noFill/>
        </p:spPr>
        <p:txBody>
          <a:bodyPr wrap="square" lIns="45720" tIns="18288" rIns="45720" bIns="18288" anchor="t">
            <a:spAutoFit/>
          </a:bodyPr>
          <a:lstStyle/>
          <a:p>
            <a:pPr algn="l">
              <a:lnSpc>
                <a:spcPct val="135000"/>
              </a:lnSpc>
            </a:pPr>
            <a:r>
              <a:rPr sz="1000" b="0">
                <a:solidFill>
                  <a:srgbClr val="36454F"/>
                </a:solidFill>
                <a:latin typeface="Yu Gothic UI"/>
              </a:rPr>
              <a:t>「＋追加」ボタンから機材名と日額損料を入力して登録します。</a:t>
            </a:r>
          </a:p>
        </p:txBody>
      </p:sp>
      <p:sp>
        <p:nvSpPr>
          <p:cNvPr id="31" name="TextBox 30"/>
          <p:cNvSpPr txBox="1"/>
          <p:nvPr/>
        </p:nvSpPr>
        <p:spPr>
          <a:xfrm>
            <a:off x="5669280" y="3438144"/>
            <a:ext cx="3108960" cy="292608"/>
          </a:xfrm>
          <a:prstGeom prst="rect">
            <a:avLst/>
          </a:prstGeom>
          <a:noFill/>
        </p:spPr>
        <p:txBody>
          <a:bodyPr wrap="square" lIns="45720" tIns="18288" rIns="45720" bIns="18288" anchor="t">
            <a:spAutoFit/>
          </a:bodyPr>
          <a:lstStyle/>
          <a:p>
            <a:pPr algn="l">
              <a:lnSpc>
                <a:spcPct val="115000"/>
              </a:lnSpc>
            </a:pPr>
            <a:r>
              <a:rPr sz="1150" b="1">
                <a:solidFill>
                  <a:srgbClr val="3457D5"/>
                </a:solidFill>
                <a:latin typeface="Yu Gothic UI"/>
              </a:rPr>
              <a:t>旧形式の日報用</a:t>
            </a:r>
          </a:p>
        </p:txBody>
      </p:sp>
      <p:sp>
        <p:nvSpPr>
          <p:cNvPr id="32" name="TextBox 31"/>
          <p:cNvSpPr txBox="1"/>
          <p:nvPr/>
        </p:nvSpPr>
        <p:spPr>
          <a:xfrm>
            <a:off x="5669280" y="3730752"/>
            <a:ext cx="3108960" cy="777240"/>
          </a:xfrm>
          <a:prstGeom prst="rect">
            <a:avLst/>
          </a:prstGeom>
          <a:noFill/>
        </p:spPr>
        <p:txBody>
          <a:bodyPr wrap="square" lIns="45720" tIns="18288" rIns="45720" bIns="18288" anchor="t">
            <a:spAutoFit/>
          </a:bodyPr>
          <a:lstStyle/>
          <a:p>
            <a:pPr algn="l">
              <a:lnSpc>
                <a:spcPct val="135000"/>
              </a:lnSpc>
            </a:pPr>
            <a:r>
              <a:rPr sz="1000" b="0">
                <a:solidFill>
                  <a:srgbClr val="36454F"/>
                </a:solidFill>
                <a:latin typeface="Yu Gothic UI"/>
              </a:rPr>
              <a:t>旧形式の日報（合計時間しか書かれていない場合）は、ここに登録された日額損料を直接参照します。</a:t>
            </a:r>
          </a:p>
        </p:txBody>
      </p:sp>
      <p:sp>
        <p:nvSpPr>
          <p:cNvPr id="33" name="TextBox 32"/>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34" name="TextBox 33"/>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41 / 53</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09</a:t>
            </a:r>
            <a:r>
              <a:rPr sz="2000" b="0">
                <a:solidFill>
                  <a:srgbClr val="3457D5"/>
                </a:solidFill>
                <a:latin typeface="Yu Gothic UI"/>
              </a:rPr>
              <a:t>　</a:t>
            </a:r>
            <a:r>
              <a:rPr sz="2000" b="1">
                <a:solidFill>
                  <a:srgbClr val="36454F"/>
                </a:solidFill>
                <a:latin typeface="Yu Gothic UI"/>
              </a:rPr>
              <a:t>設定・マスタ管理</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氏名変換：旧形式日報のフルネームを略称に変換するテーブルです。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1280160"/>
            <a:ext cx="8321040" cy="292608"/>
          </a:xfrm>
          <a:prstGeom prst="rect">
            <a:avLst/>
          </a:prstGeom>
          <a:noFill/>
        </p:spPr>
        <p:txBody>
          <a:bodyPr wrap="square" lIns="45720" tIns="18288" rIns="45720" bIns="18288" anchor="t">
            <a:spAutoFit/>
          </a:bodyPr>
          <a:lstStyle/>
          <a:p>
            <a:pPr algn="l">
              <a:lnSpc>
                <a:spcPct val="115000"/>
              </a:lnSpc>
            </a:pPr>
            <a:r>
              <a:rPr sz="1300" b="1">
                <a:solidFill>
                  <a:srgbClr val="3457D5"/>
                </a:solidFill>
                <a:latin typeface="Yu Gothic UI"/>
              </a:rPr>
              <a:t>氏名変換の仕組み</a:t>
            </a:r>
          </a:p>
        </p:txBody>
      </p:sp>
      <p:sp>
        <p:nvSpPr>
          <p:cNvPr id="7" name="Rounded Rectangle 6"/>
          <p:cNvSpPr/>
          <p:nvPr/>
        </p:nvSpPr>
        <p:spPr>
          <a:xfrm>
            <a:off x="457200" y="1691640"/>
            <a:ext cx="2286000" cy="77724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737360"/>
            <a:ext cx="2286000" cy="274320"/>
          </a:xfrm>
          <a:prstGeom prst="rect">
            <a:avLst/>
          </a:prstGeom>
          <a:noFill/>
        </p:spPr>
        <p:txBody>
          <a:bodyPr wrap="square" lIns="45720" tIns="18288" rIns="45720" bIns="18288" anchor="t">
            <a:spAutoFit/>
          </a:bodyPr>
          <a:lstStyle/>
          <a:p>
            <a:pPr algn="ctr">
              <a:lnSpc>
                <a:spcPct val="115000"/>
              </a:lnSpc>
            </a:pPr>
            <a:r>
              <a:rPr sz="1000" b="1">
                <a:solidFill>
                  <a:srgbClr val="7A8899"/>
                </a:solidFill>
                <a:latin typeface="Yu Gothic UI"/>
              </a:rPr>
              <a:t>旧形式日報の氏名</a:t>
            </a:r>
          </a:p>
        </p:txBody>
      </p:sp>
      <p:sp>
        <p:nvSpPr>
          <p:cNvPr id="9" name="TextBox 8"/>
          <p:cNvSpPr txBox="1"/>
          <p:nvPr/>
        </p:nvSpPr>
        <p:spPr>
          <a:xfrm>
            <a:off x="457200" y="2057400"/>
            <a:ext cx="2286000" cy="365760"/>
          </a:xfrm>
          <a:prstGeom prst="rect">
            <a:avLst/>
          </a:prstGeom>
          <a:noFill/>
        </p:spPr>
        <p:txBody>
          <a:bodyPr wrap="square" lIns="45720" tIns="18288" rIns="45720" bIns="18288" anchor="ctr">
            <a:spAutoFit/>
          </a:bodyPr>
          <a:lstStyle/>
          <a:p>
            <a:pPr algn="ctr">
              <a:lnSpc>
                <a:spcPct val="115000"/>
              </a:lnSpc>
            </a:pPr>
            <a:r>
              <a:rPr sz="1400" b="1">
                <a:solidFill>
                  <a:srgbClr val="36454F"/>
                </a:solidFill>
                <a:latin typeface="Yu Gothic UI"/>
              </a:rPr>
              <a:t>Nguyen Van A</a:t>
            </a:r>
          </a:p>
        </p:txBody>
      </p:sp>
      <p:sp>
        <p:nvSpPr>
          <p:cNvPr id="10" name="Right Arrow 9"/>
          <p:cNvSpPr/>
          <p:nvPr/>
        </p:nvSpPr>
        <p:spPr>
          <a:xfrm>
            <a:off x="2880360" y="1984248"/>
            <a:ext cx="640080" cy="228600"/>
          </a:xfrm>
          <a:prstGeom prst="rightArrow">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0" y="2240280"/>
            <a:ext cx="914400" cy="228600"/>
          </a:xfrm>
          <a:prstGeom prst="rect">
            <a:avLst/>
          </a:prstGeom>
          <a:noFill/>
        </p:spPr>
        <p:txBody>
          <a:bodyPr wrap="square" lIns="45720" tIns="18288" rIns="45720" bIns="18288" anchor="t">
            <a:spAutoFit/>
          </a:bodyPr>
          <a:lstStyle/>
          <a:p>
            <a:pPr algn="ctr">
              <a:lnSpc>
                <a:spcPct val="115000"/>
              </a:lnSpc>
            </a:pPr>
            <a:r>
              <a:rPr sz="900" b="1">
                <a:solidFill>
                  <a:srgbClr val="E88B3A"/>
                </a:solidFill>
                <a:latin typeface="Yu Gothic UI"/>
              </a:rPr>
              <a:t>氏名変換</a:t>
            </a:r>
          </a:p>
        </p:txBody>
      </p:sp>
      <p:sp>
        <p:nvSpPr>
          <p:cNvPr id="12" name="Rounded Rectangle 11"/>
          <p:cNvSpPr/>
          <p:nvPr/>
        </p:nvSpPr>
        <p:spPr>
          <a:xfrm>
            <a:off x="3657600" y="1691640"/>
            <a:ext cx="1828800" cy="777240"/>
          </a:xfrm>
          <a:prstGeom prst="roundRect">
            <a:avLst>
              <a:gd name="adj" fmla="val 4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0" y="1737360"/>
            <a:ext cx="1828800" cy="274320"/>
          </a:xfrm>
          <a:prstGeom prst="rect">
            <a:avLst/>
          </a:prstGeom>
          <a:noFill/>
        </p:spPr>
        <p:txBody>
          <a:bodyPr wrap="square" lIns="45720" tIns="18288" rIns="45720" bIns="18288" anchor="t">
            <a:spAutoFit/>
          </a:bodyPr>
          <a:lstStyle/>
          <a:p>
            <a:pPr algn="ctr">
              <a:lnSpc>
                <a:spcPct val="115000"/>
              </a:lnSpc>
            </a:pPr>
            <a:r>
              <a:rPr sz="1000" b="1">
                <a:solidFill>
                  <a:srgbClr val="CADCFC"/>
                </a:solidFill>
                <a:latin typeface="Yu Gothic UI"/>
              </a:rPr>
              <a:t>氏名変換マスタ</a:t>
            </a:r>
          </a:p>
        </p:txBody>
      </p:sp>
      <p:sp>
        <p:nvSpPr>
          <p:cNvPr id="14" name="TextBox 13"/>
          <p:cNvSpPr txBox="1"/>
          <p:nvPr/>
        </p:nvSpPr>
        <p:spPr>
          <a:xfrm>
            <a:off x="3657600" y="2039112"/>
            <a:ext cx="1828800" cy="365760"/>
          </a:xfrm>
          <a:prstGeom prst="rect">
            <a:avLst/>
          </a:prstGeom>
          <a:noFill/>
        </p:spPr>
        <p:txBody>
          <a:bodyPr wrap="square" lIns="45720" tIns="18288" rIns="45720" bIns="18288" anchor="ctr">
            <a:spAutoFit/>
          </a:bodyPr>
          <a:lstStyle/>
          <a:p>
            <a:pPr algn="ctr">
              <a:lnSpc>
                <a:spcPct val="115000"/>
              </a:lnSpc>
            </a:pPr>
            <a:r>
              <a:rPr sz="1000" b="1">
                <a:solidFill>
                  <a:srgbClr val="FFFFFF"/>
                </a:solidFill>
                <a:latin typeface="Yu Gothic UI"/>
              </a:rPr>
              <a:t>Nguyen Van A → A さん</a:t>
            </a:r>
          </a:p>
        </p:txBody>
      </p:sp>
      <p:sp>
        <p:nvSpPr>
          <p:cNvPr id="15" name="Right Arrow 14"/>
          <p:cNvSpPr/>
          <p:nvPr/>
        </p:nvSpPr>
        <p:spPr>
          <a:xfrm>
            <a:off x="5623560" y="1984248"/>
            <a:ext cx="640080" cy="228600"/>
          </a:xfrm>
          <a:prstGeom prst="rightArrow">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00800" y="1691640"/>
            <a:ext cx="2286000" cy="777240"/>
          </a:xfrm>
          <a:prstGeom prst="roundRect">
            <a:avLst>
              <a:gd name="adj" fmla="val 4000"/>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1737360"/>
            <a:ext cx="2286000" cy="274320"/>
          </a:xfrm>
          <a:prstGeom prst="rect">
            <a:avLst/>
          </a:prstGeom>
          <a:noFill/>
        </p:spPr>
        <p:txBody>
          <a:bodyPr wrap="square" lIns="45720" tIns="18288" rIns="45720" bIns="18288" anchor="t">
            <a:spAutoFit/>
          </a:bodyPr>
          <a:lstStyle/>
          <a:p>
            <a:pPr algn="ctr">
              <a:lnSpc>
                <a:spcPct val="115000"/>
              </a:lnSpc>
            </a:pPr>
            <a:r>
              <a:rPr sz="1000" b="1">
                <a:solidFill>
                  <a:srgbClr val="3457D5"/>
                </a:solidFill>
                <a:latin typeface="Yu Gothic UI"/>
              </a:rPr>
              <a:t>DBに登録される氏名</a:t>
            </a:r>
          </a:p>
        </p:txBody>
      </p:sp>
      <p:sp>
        <p:nvSpPr>
          <p:cNvPr id="18" name="TextBox 17"/>
          <p:cNvSpPr txBox="1"/>
          <p:nvPr/>
        </p:nvSpPr>
        <p:spPr>
          <a:xfrm>
            <a:off x="6400800" y="2057400"/>
            <a:ext cx="2286000" cy="365760"/>
          </a:xfrm>
          <a:prstGeom prst="rect">
            <a:avLst/>
          </a:prstGeom>
          <a:noFill/>
        </p:spPr>
        <p:txBody>
          <a:bodyPr wrap="square" lIns="45720" tIns="18288" rIns="45720" bIns="18288" anchor="ctr">
            <a:spAutoFit/>
          </a:bodyPr>
          <a:lstStyle/>
          <a:p>
            <a:pPr algn="ctr">
              <a:lnSpc>
                <a:spcPct val="115000"/>
              </a:lnSpc>
            </a:pPr>
            <a:r>
              <a:rPr sz="1400" b="1">
                <a:solidFill>
                  <a:srgbClr val="1E3A8A"/>
                </a:solidFill>
                <a:latin typeface="Yu Gothic UI"/>
              </a:rPr>
              <a:t>A さん</a:t>
            </a:r>
          </a:p>
        </p:txBody>
      </p:sp>
      <p:sp>
        <p:nvSpPr>
          <p:cNvPr id="19" name="TextBox 18"/>
          <p:cNvSpPr txBox="1"/>
          <p:nvPr/>
        </p:nvSpPr>
        <p:spPr>
          <a:xfrm>
            <a:off x="457200" y="2743200"/>
            <a:ext cx="8321040" cy="292608"/>
          </a:xfrm>
          <a:prstGeom prst="rect">
            <a:avLst/>
          </a:prstGeom>
          <a:noFill/>
        </p:spPr>
        <p:txBody>
          <a:bodyPr wrap="square" lIns="45720" tIns="18288" rIns="45720" bIns="18288" anchor="t">
            <a:spAutoFit/>
          </a:bodyPr>
          <a:lstStyle/>
          <a:p>
            <a:pPr algn="l">
              <a:lnSpc>
                <a:spcPct val="115000"/>
              </a:lnSpc>
            </a:pPr>
            <a:r>
              <a:rPr sz="1300" b="1">
                <a:solidFill>
                  <a:srgbClr val="3457D5"/>
                </a:solidFill>
                <a:latin typeface="Yu Gothic UI"/>
              </a:rPr>
              <a:t>用途と操作</a:t>
            </a:r>
          </a:p>
        </p:txBody>
      </p:sp>
      <p:sp>
        <p:nvSpPr>
          <p:cNvPr id="20" name="Rounded Rectangle 19"/>
          <p:cNvSpPr/>
          <p:nvPr/>
        </p:nvSpPr>
        <p:spPr>
          <a:xfrm>
            <a:off x="457200" y="3108960"/>
            <a:ext cx="4069080" cy="146304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3108960"/>
            <a:ext cx="73152" cy="146304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85800" y="3227832"/>
            <a:ext cx="3657600" cy="292608"/>
          </a:xfrm>
          <a:prstGeom prst="rect">
            <a:avLst/>
          </a:prstGeom>
          <a:noFill/>
        </p:spPr>
        <p:txBody>
          <a:bodyPr wrap="square" lIns="45720" tIns="18288" rIns="45720" bIns="18288" anchor="t">
            <a:spAutoFit/>
          </a:bodyPr>
          <a:lstStyle/>
          <a:p>
            <a:pPr algn="l">
              <a:lnSpc>
                <a:spcPct val="115000"/>
              </a:lnSpc>
            </a:pPr>
            <a:r>
              <a:rPr sz="1200" b="1">
                <a:solidFill>
                  <a:srgbClr val="3457D5"/>
                </a:solidFill>
                <a:latin typeface="Yu Gothic UI"/>
              </a:rPr>
              <a:t>用途</a:t>
            </a:r>
          </a:p>
        </p:txBody>
      </p:sp>
      <p:sp>
        <p:nvSpPr>
          <p:cNvPr id="23" name="TextBox 22"/>
          <p:cNvSpPr txBox="1"/>
          <p:nvPr/>
        </p:nvSpPr>
        <p:spPr>
          <a:xfrm>
            <a:off x="685800" y="3566160"/>
            <a:ext cx="3657600" cy="960120"/>
          </a:xfrm>
          <a:prstGeom prst="rect">
            <a:avLst/>
          </a:prstGeom>
          <a:noFill/>
        </p:spPr>
        <p:txBody>
          <a:bodyPr wrap="square" lIns="45720" tIns="18288" rIns="45720" bIns="18288" anchor="t">
            <a:spAutoFit/>
          </a:bodyPr>
          <a:lstStyle/>
          <a:p>
            <a:pPr algn="l">
              <a:lnSpc>
                <a:spcPct val="135000"/>
              </a:lnSpc>
            </a:pPr>
            <a:r>
              <a:rPr sz="1050" b="0">
                <a:solidFill>
                  <a:srgbClr val="36454F"/>
                </a:solidFill>
                <a:latin typeface="Yu Gothic UI"/>
              </a:rPr>
              <a:t>ベトナム人社員などのフルネームを、業務で使用する略称に変換します。</a:t>
            </a:r>
          </a:p>
          <a:p>
            <a:pPr algn="l">
              <a:lnSpc>
                <a:spcPct val="135000"/>
              </a:lnSpc>
            </a:pPr>
            <a:endParaRPr sz="1050" b="0">
              <a:solidFill>
                <a:srgbClr val="36454F"/>
              </a:solidFill>
              <a:latin typeface="Yu Gothic UI"/>
            </a:endParaRPr>
          </a:p>
          <a:p>
            <a:pPr algn="l">
              <a:lnSpc>
                <a:spcPct val="135000"/>
              </a:lnSpc>
            </a:pPr>
            <a:r>
              <a:rPr sz="1050" b="0">
                <a:solidFill>
                  <a:srgbClr val="36454F"/>
                </a:solidFill>
                <a:latin typeface="Yu Gothic UI"/>
              </a:rPr>
              <a:t>旧形式の日報を取込んだ際、自動で適用されます。</a:t>
            </a:r>
          </a:p>
        </p:txBody>
      </p:sp>
      <p:sp>
        <p:nvSpPr>
          <p:cNvPr id="24" name="Rounded Rectangle 23"/>
          <p:cNvSpPr/>
          <p:nvPr/>
        </p:nvSpPr>
        <p:spPr>
          <a:xfrm>
            <a:off x="4617720" y="3108960"/>
            <a:ext cx="4069080" cy="146304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617720" y="3108960"/>
            <a:ext cx="73152" cy="146304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846320" y="3227832"/>
            <a:ext cx="3657600" cy="292608"/>
          </a:xfrm>
          <a:prstGeom prst="rect">
            <a:avLst/>
          </a:prstGeom>
          <a:noFill/>
        </p:spPr>
        <p:txBody>
          <a:bodyPr wrap="square" lIns="45720" tIns="18288" rIns="45720" bIns="18288" anchor="t">
            <a:spAutoFit/>
          </a:bodyPr>
          <a:lstStyle/>
          <a:p>
            <a:pPr algn="l">
              <a:lnSpc>
                <a:spcPct val="115000"/>
              </a:lnSpc>
            </a:pPr>
            <a:r>
              <a:rPr sz="1200" b="1">
                <a:solidFill>
                  <a:srgbClr val="3457D5"/>
                </a:solidFill>
                <a:latin typeface="Yu Gothic UI"/>
              </a:rPr>
              <a:t>操作</a:t>
            </a:r>
          </a:p>
        </p:txBody>
      </p:sp>
      <p:sp>
        <p:nvSpPr>
          <p:cNvPr id="27" name="TextBox 26"/>
          <p:cNvSpPr txBox="1"/>
          <p:nvPr/>
        </p:nvSpPr>
        <p:spPr>
          <a:xfrm>
            <a:off x="4846320" y="3566160"/>
            <a:ext cx="3657600" cy="960120"/>
          </a:xfrm>
          <a:prstGeom prst="rect">
            <a:avLst/>
          </a:prstGeom>
          <a:noFill/>
        </p:spPr>
        <p:txBody>
          <a:bodyPr wrap="square" lIns="45720" tIns="18288" rIns="45720" bIns="18288" anchor="t">
            <a:spAutoFit/>
          </a:bodyPr>
          <a:lstStyle/>
          <a:p>
            <a:pPr algn="l">
              <a:lnSpc>
                <a:spcPct val="135000"/>
              </a:lnSpc>
            </a:pPr>
            <a:r>
              <a:rPr sz="1050" b="0">
                <a:solidFill>
                  <a:srgbClr val="36454F"/>
                </a:solidFill>
                <a:latin typeface="Yu Gothic UI"/>
              </a:rPr>
              <a:t>「＋追加」で「旧氏名 → 表示名」の対応を登録します。</a:t>
            </a:r>
          </a:p>
          <a:p>
            <a:pPr algn="l">
              <a:lnSpc>
                <a:spcPct val="135000"/>
              </a:lnSpc>
            </a:pPr>
            <a:endParaRPr sz="1050" b="0">
              <a:solidFill>
                <a:srgbClr val="36454F"/>
              </a:solidFill>
              <a:latin typeface="Yu Gothic UI"/>
            </a:endParaRPr>
          </a:p>
          <a:p>
            <a:pPr algn="l">
              <a:lnSpc>
                <a:spcPct val="135000"/>
              </a:lnSpc>
            </a:pPr>
            <a:r>
              <a:rPr sz="1050" b="0">
                <a:solidFill>
                  <a:srgbClr val="36454F"/>
                </a:solidFill>
                <a:latin typeface="Yu Gothic UI"/>
              </a:rPr>
              <a:t>既存の対応は編集・削除も可能です。</a:t>
            </a:r>
          </a:p>
        </p:txBody>
      </p:sp>
      <p:sp>
        <p:nvSpPr>
          <p:cNvPr id="28" name="TextBox 27"/>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29" name="TextBox 28"/>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42 / 53</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09</a:t>
            </a:r>
            <a:r>
              <a:rPr sz="2000" b="0">
                <a:solidFill>
                  <a:srgbClr val="3457D5"/>
                </a:solidFill>
                <a:latin typeface="Yu Gothic UI"/>
              </a:rPr>
              <a:t>　</a:t>
            </a:r>
            <a:r>
              <a:rPr sz="2000" b="1">
                <a:solidFill>
                  <a:srgbClr val="36454F"/>
                </a:solidFill>
                <a:latin typeface="Yu Gothic UI"/>
              </a:rPr>
              <a:t>設定・マスタ管理</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金額設定：単価・距離上限を設定します。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4114800" cy="137160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463040"/>
            <a:ext cx="777240" cy="777240"/>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463040"/>
            <a:ext cx="777240" cy="777240"/>
          </a:xfrm>
          <a:prstGeom prst="rect">
            <a:avLst/>
          </a:prstGeom>
          <a:noFill/>
        </p:spPr>
        <p:txBody>
          <a:bodyPr wrap="square" lIns="45720" tIns="18288" rIns="45720" bIns="18288" anchor="ctr">
            <a:spAutoFit/>
          </a:bodyPr>
          <a:lstStyle/>
          <a:p>
            <a:pPr algn="ctr">
              <a:lnSpc>
                <a:spcPct val="115000"/>
              </a:lnSpc>
            </a:pPr>
            <a:r>
              <a:rPr sz="2200" b="0">
                <a:solidFill>
                  <a:srgbClr val="FFFFFF"/>
                </a:solidFill>
                <a:latin typeface="Yu Gothic UI"/>
              </a:rPr>
              <a:t>👷</a:t>
            </a:r>
          </a:p>
        </p:txBody>
      </p:sp>
      <p:sp>
        <p:nvSpPr>
          <p:cNvPr id="9" name="TextBox 8"/>
          <p:cNvSpPr txBox="1"/>
          <p:nvPr/>
        </p:nvSpPr>
        <p:spPr>
          <a:xfrm>
            <a:off x="1554480" y="1463040"/>
            <a:ext cx="2834640" cy="292608"/>
          </a:xfrm>
          <a:prstGeom prst="rect">
            <a:avLst/>
          </a:prstGeom>
          <a:noFill/>
        </p:spPr>
        <p:txBody>
          <a:bodyPr wrap="square" lIns="45720" tIns="18288" rIns="45720" bIns="18288" anchor="t">
            <a:spAutoFit/>
          </a:bodyPr>
          <a:lstStyle/>
          <a:p>
            <a:pPr algn="l">
              <a:lnSpc>
                <a:spcPct val="115000"/>
              </a:lnSpc>
            </a:pPr>
            <a:r>
              <a:rPr sz="1200" b="1">
                <a:solidFill>
                  <a:srgbClr val="3457D5"/>
                </a:solidFill>
                <a:latin typeface="Yu Gothic UI"/>
              </a:rPr>
              <a:t>技師 単価</a:t>
            </a:r>
          </a:p>
        </p:txBody>
      </p:sp>
      <p:sp>
        <p:nvSpPr>
          <p:cNvPr id="10" name="TextBox 9"/>
          <p:cNvSpPr txBox="1"/>
          <p:nvPr/>
        </p:nvSpPr>
        <p:spPr>
          <a:xfrm>
            <a:off x="1554480" y="1737360"/>
            <a:ext cx="2834640" cy="384048"/>
          </a:xfrm>
          <a:prstGeom prst="rect">
            <a:avLst/>
          </a:prstGeom>
          <a:noFill/>
        </p:spPr>
        <p:txBody>
          <a:bodyPr wrap="square" lIns="45720" tIns="18288" rIns="45720" bIns="18288" anchor="t">
            <a:spAutoFit/>
          </a:bodyPr>
          <a:lstStyle/>
          <a:p>
            <a:pPr algn="l">
              <a:lnSpc>
                <a:spcPct val="115000"/>
              </a:lnSpc>
            </a:pPr>
            <a:r>
              <a:rPr sz="1500" b="1">
                <a:solidFill>
                  <a:srgbClr val="E88B3A"/>
                </a:solidFill>
                <a:latin typeface="Yu Gothic UI"/>
              </a:rPr>
              <a:t>¥34,800 / 人工日</a:t>
            </a:r>
          </a:p>
        </p:txBody>
      </p:sp>
      <p:sp>
        <p:nvSpPr>
          <p:cNvPr id="11" name="TextBox 10"/>
          <p:cNvSpPr txBox="1"/>
          <p:nvPr/>
        </p:nvSpPr>
        <p:spPr>
          <a:xfrm>
            <a:off x="1554480" y="2148840"/>
            <a:ext cx="2834640" cy="41148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技師の1人工日あたりの人件費単価</a:t>
            </a:r>
          </a:p>
        </p:txBody>
      </p:sp>
      <p:sp>
        <p:nvSpPr>
          <p:cNvPr id="12" name="Rounded Rectangle 11"/>
          <p:cNvSpPr/>
          <p:nvPr/>
        </p:nvSpPr>
        <p:spPr>
          <a:xfrm>
            <a:off x="4690872" y="1280160"/>
            <a:ext cx="4114800" cy="137160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873752" y="1463040"/>
            <a:ext cx="777240" cy="777240"/>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73752" y="1463040"/>
            <a:ext cx="777240" cy="777240"/>
          </a:xfrm>
          <a:prstGeom prst="rect">
            <a:avLst/>
          </a:prstGeom>
          <a:noFill/>
        </p:spPr>
        <p:txBody>
          <a:bodyPr wrap="square" lIns="45720" tIns="18288" rIns="45720" bIns="18288" anchor="ctr">
            <a:spAutoFit/>
          </a:bodyPr>
          <a:lstStyle/>
          <a:p>
            <a:pPr algn="ctr">
              <a:lnSpc>
                <a:spcPct val="115000"/>
              </a:lnSpc>
            </a:pPr>
            <a:r>
              <a:rPr sz="2200" b="0">
                <a:solidFill>
                  <a:srgbClr val="FFFFFF"/>
                </a:solidFill>
                <a:latin typeface="Yu Gothic UI"/>
              </a:rPr>
              <a:t>👷</a:t>
            </a:r>
          </a:p>
        </p:txBody>
      </p:sp>
      <p:sp>
        <p:nvSpPr>
          <p:cNvPr id="15" name="TextBox 14"/>
          <p:cNvSpPr txBox="1"/>
          <p:nvPr/>
        </p:nvSpPr>
        <p:spPr>
          <a:xfrm>
            <a:off x="5788152" y="1463040"/>
            <a:ext cx="2834640" cy="292608"/>
          </a:xfrm>
          <a:prstGeom prst="rect">
            <a:avLst/>
          </a:prstGeom>
          <a:noFill/>
        </p:spPr>
        <p:txBody>
          <a:bodyPr wrap="square" lIns="45720" tIns="18288" rIns="45720" bIns="18288" anchor="t">
            <a:spAutoFit/>
          </a:bodyPr>
          <a:lstStyle/>
          <a:p>
            <a:pPr algn="l">
              <a:lnSpc>
                <a:spcPct val="115000"/>
              </a:lnSpc>
            </a:pPr>
            <a:r>
              <a:rPr sz="1200" b="1">
                <a:solidFill>
                  <a:srgbClr val="3457D5"/>
                </a:solidFill>
                <a:latin typeface="Yu Gothic UI"/>
              </a:rPr>
              <a:t>助手 単価</a:t>
            </a:r>
          </a:p>
        </p:txBody>
      </p:sp>
      <p:sp>
        <p:nvSpPr>
          <p:cNvPr id="16" name="TextBox 15"/>
          <p:cNvSpPr txBox="1"/>
          <p:nvPr/>
        </p:nvSpPr>
        <p:spPr>
          <a:xfrm>
            <a:off x="5788152" y="1737360"/>
            <a:ext cx="2834640" cy="384048"/>
          </a:xfrm>
          <a:prstGeom prst="rect">
            <a:avLst/>
          </a:prstGeom>
          <a:noFill/>
        </p:spPr>
        <p:txBody>
          <a:bodyPr wrap="square" lIns="45720" tIns="18288" rIns="45720" bIns="18288" anchor="t">
            <a:spAutoFit/>
          </a:bodyPr>
          <a:lstStyle/>
          <a:p>
            <a:pPr algn="l">
              <a:lnSpc>
                <a:spcPct val="115000"/>
              </a:lnSpc>
            </a:pPr>
            <a:r>
              <a:rPr sz="1500" b="1">
                <a:solidFill>
                  <a:srgbClr val="E88B3A"/>
                </a:solidFill>
                <a:latin typeface="Yu Gothic UI"/>
              </a:rPr>
              <a:t>¥28,000 / 人工日</a:t>
            </a:r>
          </a:p>
        </p:txBody>
      </p:sp>
      <p:sp>
        <p:nvSpPr>
          <p:cNvPr id="17" name="TextBox 16"/>
          <p:cNvSpPr txBox="1"/>
          <p:nvPr/>
        </p:nvSpPr>
        <p:spPr>
          <a:xfrm>
            <a:off x="5788152" y="2148840"/>
            <a:ext cx="2834640" cy="41148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助手の1人工日あたりの人件費単価</a:t>
            </a:r>
          </a:p>
        </p:txBody>
      </p:sp>
      <p:sp>
        <p:nvSpPr>
          <p:cNvPr id="18" name="Rounded Rectangle 17"/>
          <p:cNvSpPr/>
          <p:nvPr/>
        </p:nvSpPr>
        <p:spPr>
          <a:xfrm>
            <a:off x="457200" y="2770632"/>
            <a:ext cx="4114800" cy="137160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40080" y="2953512"/>
            <a:ext cx="777240" cy="777240"/>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2953512"/>
            <a:ext cx="777240" cy="777240"/>
          </a:xfrm>
          <a:prstGeom prst="rect">
            <a:avLst/>
          </a:prstGeom>
          <a:noFill/>
        </p:spPr>
        <p:txBody>
          <a:bodyPr wrap="square" lIns="45720" tIns="18288" rIns="45720" bIns="18288" anchor="ctr">
            <a:spAutoFit/>
          </a:bodyPr>
          <a:lstStyle/>
          <a:p>
            <a:pPr algn="ctr">
              <a:lnSpc>
                <a:spcPct val="115000"/>
              </a:lnSpc>
            </a:pPr>
            <a:r>
              <a:rPr sz="2200" b="0">
                <a:solidFill>
                  <a:srgbClr val="FFFFFF"/>
                </a:solidFill>
                <a:latin typeface="Yu Gothic UI"/>
              </a:rPr>
              <a:t>🚗</a:t>
            </a:r>
          </a:p>
        </p:txBody>
      </p:sp>
      <p:sp>
        <p:nvSpPr>
          <p:cNvPr id="21" name="TextBox 20"/>
          <p:cNvSpPr txBox="1"/>
          <p:nvPr/>
        </p:nvSpPr>
        <p:spPr>
          <a:xfrm>
            <a:off x="1554480" y="2953512"/>
            <a:ext cx="2834640" cy="292608"/>
          </a:xfrm>
          <a:prstGeom prst="rect">
            <a:avLst/>
          </a:prstGeom>
          <a:noFill/>
        </p:spPr>
        <p:txBody>
          <a:bodyPr wrap="square" lIns="45720" tIns="18288" rIns="45720" bIns="18288" anchor="t">
            <a:spAutoFit/>
          </a:bodyPr>
          <a:lstStyle/>
          <a:p>
            <a:pPr algn="l">
              <a:lnSpc>
                <a:spcPct val="115000"/>
              </a:lnSpc>
            </a:pPr>
            <a:r>
              <a:rPr sz="1200" b="1">
                <a:solidFill>
                  <a:srgbClr val="3457D5"/>
                </a:solidFill>
                <a:latin typeface="Yu Gothic UI"/>
              </a:rPr>
              <a:t>交通費 単価</a:t>
            </a:r>
          </a:p>
        </p:txBody>
      </p:sp>
      <p:sp>
        <p:nvSpPr>
          <p:cNvPr id="22" name="TextBox 21"/>
          <p:cNvSpPr txBox="1"/>
          <p:nvPr/>
        </p:nvSpPr>
        <p:spPr>
          <a:xfrm>
            <a:off x="1554480" y="3227832"/>
            <a:ext cx="2834640" cy="384048"/>
          </a:xfrm>
          <a:prstGeom prst="rect">
            <a:avLst/>
          </a:prstGeom>
          <a:noFill/>
        </p:spPr>
        <p:txBody>
          <a:bodyPr wrap="square" lIns="45720" tIns="18288" rIns="45720" bIns="18288" anchor="t">
            <a:spAutoFit/>
          </a:bodyPr>
          <a:lstStyle/>
          <a:p>
            <a:pPr algn="l">
              <a:lnSpc>
                <a:spcPct val="115000"/>
              </a:lnSpc>
            </a:pPr>
            <a:r>
              <a:rPr sz="1500" b="1">
                <a:solidFill>
                  <a:srgbClr val="E88B3A"/>
                </a:solidFill>
                <a:latin typeface="Yu Gothic UI"/>
              </a:rPr>
              <a:t>¥35 / km</a:t>
            </a:r>
          </a:p>
        </p:txBody>
      </p:sp>
      <p:sp>
        <p:nvSpPr>
          <p:cNvPr id="23" name="TextBox 22"/>
          <p:cNvSpPr txBox="1"/>
          <p:nvPr/>
        </p:nvSpPr>
        <p:spPr>
          <a:xfrm>
            <a:off x="1554480" y="3639312"/>
            <a:ext cx="2834640" cy="41148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走行距離あたりの交通費単価</a:t>
            </a:r>
          </a:p>
        </p:txBody>
      </p:sp>
      <p:sp>
        <p:nvSpPr>
          <p:cNvPr id="24" name="Rounded Rectangle 23"/>
          <p:cNvSpPr/>
          <p:nvPr/>
        </p:nvSpPr>
        <p:spPr>
          <a:xfrm>
            <a:off x="4690872" y="2770632"/>
            <a:ext cx="4114800" cy="137160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4873752" y="2953512"/>
            <a:ext cx="777240" cy="777240"/>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873752" y="2953512"/>
            <a:ext cx="777240" cy="777240"/>
          </a:xfrm>
          <a:prstGeom prst="rect">
            <a:avLst/>
          </a:prstGeom>
          <a:noFill/>
        </p:spPr>
        <p:txBody>
          <a:bodyPr wrap="square" lIns="45720" tIns="18288" rIns="45720" bIns="18288" anchor="ctr">
            <a:spAutoFit/>
          </a:bodyPr>
          <a:lstStyle/>
          <a:p>
            <a:pPr algn="ctr">
              <a:lnSpc>
                <a:spcPct val="115000"/>
              </a:lnSpc>
            </a:pPr>
            <a:r>
              <a:rPr sz="2200" b="0">
                <a:solidFill>
                  <a:srgbClr val="FFFFFF"/>
                </a:solidFill>
                <a:latin typeface="Yu Gothic UI"/>
              </a:rPr>
              <a:t>📏</a:t>
            </a:r>
          </a:p>
        </p:txBody>
      </p:sp>
      <p:sp>
        <p:nvSpPr>
          <p:cNvPr id="27" name="TextBox 26"/>
          <p:cNvSpPr txBox="1"/>
          <p:nvPr/>
        </p:nvSpPr>
        <p:spPr>
          <a:xfrm>
            <a:off x="5788152" y="2953512"/>
            <a:ext cx="2834640" cy="292608"/>
          </a:xfrm>
          <a:prstGeom prst="rect">
            <a:avLst/>
          </a:prstGeom>
          <a:noFill/>
        </p:spPr>
        <p:txBody>
          <a:bodyPr wrap="square" lIns="45720" tIns="18288" rIns="45720" bIns="18288" anchor="t">
            <a:spAutoFit/>
          </a:bodyPr>
          <a:lstStyle/>
          <a:p>
            <a:pPr algn="l">
              <a:lnSpc>
                <a:spcPct val="115000"/>
              </a:lnSpc>
            </a:pPr>
            <a:r>
              <a:rPr sz="1200" b="1">
                <a:solidFill>
                  <a:srgbClr val="3457D5"/>
                </a:solidFill>
                <a:latin typeface="Yu Gothic UI"/>
              </a:rPr>
              <a:t>下道 距離上限</a:t>
            </a:r>
          </a:p>
        </p:txBody>
      </p:sp>
      <p:sp>
        <p:nvSpPr>
          <p:cNvPr id="28" name="TextBox 27"/>
          <p:cNvSpPr txBox="1"/>
          <p:nvPr/>
        </p:nvSpPr>
        <p:spPr>
          <a:xfrm>
            <a:off x="5788152" y="3227832"/>
            <a:ext cx="2834640" cy="384048"/>
          </a:xfrm>
          <a:prstGeom prst="rect">
            <a:avLst/>
          </a:prstGeom>
          <a:noFill/>
        </p:spPr>
        <p:txBody>
          <a:bodyPr wrap="square" lIns="45720" tIns="18288" rIns="45720" bIns="18288" anchor="t">
            <a:spAutoFit/>
          </a:bodyPr>
          <a:lstStyle/>
          <a:p>
            <a:pPr algn="l">
              <a:lnSpc>
                <a:spcPct val="115000"/>
              </a:lnSpc>
            </a:pPr>
            <a:r>
              <a:rPr sz="1500" b="1">
                <a:solidFill>
                  <a:srgbClr val="E88B3A"/>
                </a:solidFill>
                <a:latin typeface="Yu Gothic UI"/>
              </a:rPr>
              <a:t>250 km</a:t>
            </a:r>
          </a:p>
        </p:txBody>
      </p:sp>
      <p:sp>
        <p:nvSpPr>
          <p:cNvPr id="29" name="TextBox 28"/>
          <p:cNvSpPr txBox="1"/>
          <p:nvPr/>
        </p:nvSpPr>
        <p:spPr>
          <a:xfrm>
            <a:off x="5788152" y="3639312"/>
            <a:ext cx="2834640" cy="41148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往復これ以上の距離は下道単価を適用</a:t>
            </a:r>
          </a:p>
        </p:txBody>
      </p:sp>
      <p:sp>
        <p:nvSpPr>
          <p:cNvPr id="30" name="Rounded Rectangle 29"/>
          <p:cNvSpPr/>
          <p:nvPr/>
        </p:nvSpPr>
        <p:spPr>
          <a:xfrm>
            <a:off x="457200" y="4160520"/>
            <a:ext cx="8321040" cy="64008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 y="4251960"/>
            <a:ext cx="7955280" cy="457200"/>
          </a:xfrm>
          <a:prstGeom prst="rect">
            <a:avLst/>
          </a:prstGeom>
          <a:noFill/>
        </p:spPr>
        <p:txBody>
          <a:bodyPr wrap="square" lIns="45720" tIns="18288" rIns="45720" bIns="18288" anchor="ctr">
            <a:spAutoFit/>
          </a:bodyPr>
          <a:lstStyle/>
          <a:p>
            <a:pPr algn="l">
              <a:lnSpc>
                <a:spcPct val="135000"/>
              </a:lnSpc>
            </a:pPr>
            <a:r>
              <a:rPr sz="1300" b="0">
                <a:solidFill>
                  <a:srgbClr val="E88B3A"/>
                </a:solidFill>
                <a:latin typeface="Yu Gothic UI"/>
              </a:rPr>
              <a:t>💡  </a:t>
            </a:r>
            <a:r>
              <a:rPr sz="1100" b="1">
                <a:solidFill>
                  <a:srgbClr val="3457D5"/>
                </a:solidFill>
                <a:latin typeface="Yu Gothic UI"/>
              </a:rPr>
              <a:t>重要：</a:t>
            </a:r>
            <a:r>
              <a:rPr sz="1050" b="0">
                <a:solidFill>
                  <a:srgbClr val="36454F"/>
                </a:solidFill>
                <a:latin typeface="Yu Gothic UI"/>
              </a:rPr>
              <a:t>金額設定の変更は「次に日報を取込んだタイミング」から反映されます。既に登録済みの原価データには反映されません。過去データへの反映が必要な場合は、仲に連絡してください。</a:t>
            </a:r>
          </a:p>
        </p:txBody>
      </p:sp>
      <p:sp>
        <p:nvSpPr>
          <p:cNvPr id="32" name="TextBox 31"/>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33" name="TextBox 32"/>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43 / 53</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09</a:t>
            </a:r>
            <a:r>
              <a:rPr sz="2000" b="0">
                <a:solidFill>
                  <a:srgbClr val="3457D5"/>
                </a:solidFill>
                <a:latin typeface="Yu Gothic UI"/>
              </a:rPr>
              <a:t>　</a:t>
            </a:r>
            <a:r>
              <a:rPr sz="2000" b="1">
                <a:solidFill>
                  <a:srgbClr val="36454F"/>
                </a:solidFill>
                <a:latin typeface="Yu Gothic UI"/>
              </a:rPr>
              <a:t>設定・マスタ管理</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アーカイブ済み現場：非表示にした現場の復元・完全削除を行います。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4114800" cy="320040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4114800" cy="64008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280160"/>
            <a:ext cx="640080" cy="640080"/>
          </a:xfrm>
          <a:prstGeom prst="rect">
            <a:avLst/>
          </a:prstGeom>
          <a:noFill/>
        </p:spPr>
        <p:txBody>
          <a:bodyPr wrap="square" lIns="45720" tIns="18288" rIns="45720" bIns="18288" anchor="ctr">
            <a:spAutoFit/>
          </a:bodyPr>
          <a:lstStyle/>
          <a:p>
            <a:pPr algn="ctr">
              <a:lnSpc>
                <a:spcPct val="115000"/>
              </a:lnSpc>
            </a:pPr>
            <a:r>
              <a:rPr sz="2400" b="0">
                <a:solidFill>
                  <a:srgbClr val="FFFFFF"/>
                </a:solidFill>
                <a:latin typeface="Yu Gothic UI"/>
              </a:rPr>
              <a:t>📦</a:t>
            </a:r>
          </a:p>
        </p:txBody>
      </p:sp>
      <p:sp>
        <p:nvSpPr>
          <p:cNvPr id="9" name="TextBox 8"/>
          <p:cNvSpPr txBox="1"/>
          <p:nvPr/>
        </p:nvSpPr>
        <p:spPr>
          <a:xfrm>
            <a:off x="1325880" y="1280160"/>
            <a:ext cx="3108960" cy="640080"/>
          </a:xfrm>
          <a:prstGeom prst="rect">
            <a:avLst/>
          </a:prstGeom>
          <a:noFill/>
        </p:spPr>
        <p:txBody>
          <a:bodyPr wrap="square" lIns="45720" tIns="18288" rIns="45720" bIns="18288" anchor="ctr">
            <a:spAutoFit/>
          </a:bodyPr>
          <a:lstStyle/>
          <a:p>
            <a:pPr algn="l">
              <a:lnSpc>
                <a:spcPct val="115000"/>
              </a:lnSpc>
            </a:pPr>
            <a:r>
              <a:rPr sz="1500" b="1">
                <a:solidFill>
                  <a:srgbClr val="FFFFFF"/>
                </a:solidFill>
                <a:latin typeface="Yu Gothic UI"/>
              </a:rPr>
              <a:t>復元</a:t>
            </a:r>
          </a:p>
        </p:txBody>
      </p:sp>
      <p:sp>
        <p:nvSpPr>
          <p:cNvPr id="10" name="TextBox 9"/>
          <p:cNvSpPr txBox="1"/>
          <p:nvPr/>
        </p:nvSpPr>
        <p:spPr>
          <a:xfrm>
            <a:off x="685800" y="2057400"/>
            <a:ext cx="3657600" cy="457200"/>
          </a:xfrm>
          <a:prstGeom prst="rect">
            <a:avLst/>
          </a:prstGeom>
          <a:noFill/>
        </p:spPr>
        <p:txBody>
          <a:bodyPr wrap="square" lIns="45720" tIns="18288" rIns="45720" bIns="18288" anchor="t">
            <a:spAutoFit/>
          </a:bodyPr>
          <a:lstStyle/>
          <a:p>
            <a:pPr algn="l">
              <a:lnSpc>
                <a:spcPct val="135000"/>
              </a:lnSpc>
            </a:pPr>
            <a:r>
              <a:rPr sz="1050" b="1">
                <a:solidFill>
                  <a:srgbClr val="36454F"/>
                </a:solidFill>
                <a:latin typeface="Yu Gothic UI"/>
              </a:rPr>
              <a:t>アーカイブされた現場を、現場タブとして再表示します。</a:t>
            </a:r>
          </a:p>
        </p:txBody>
      </p:sp>
      <p:sp>
        <p:nvSpPr>
          <p:cNvPr id="11" name="TextBox 10"/>
          <p:cNvSpPr txBox="1"/>
          <p:nvPr/>
        </p:nvSpPr>
        <p:spPr>
          <a:xfrm>
            <a:off x="685800" y="2606040"/>
            <a:ext cx="3657600" cy="1737360"/>
          </a:xfrm>
          <a:prstGeom prst="rect">
            <a:avLst/>
          </a:prstGeom>
          <a:noFill/>
        </p:spPr>
        <p:txBody>
          <a:bodyPr wrap="square" lIns="45720" tIns="18288" rIns="45720" bIns="18288" anchor="t">
            <a:spAutoFit/>
          </a:bodyPr>
          <a:lstStyle/>
          <a:p>
            <a:pPr algn="l">
              <a:lnSpc>
                <a:spcPct val="140000"/>
              </a:lnSpc>
            </a:pPr>
            <a:r>
              <a:rPr sz="1000" b="0">
                <a:solidFill>
                  <a:srgbClr val="36454F"/>
                </a:solidFill>
                <a:latin typeface="Yu Gothic UI"/>
              </a:rPr>
              <a:t>アーカイブ済み現場の一覧でチェックボックスを選択し、「復元」ボタンを押すと、元の現場タブに戻ります。</a:t>
            </a:r>
          </a:p>
          <a:p>
            <a:pPr algn="l">
              <a:lnSpc>
                <a:spcPct val="140000"/>
              </a:lnSpc>
            </a:pPr>
            <a:endParaRPr sz="1000" b="0">
              <a:solidFill>
                <a:srgbClr val="36454F"/>
              </a:solidFill>
              <a:latin typeface="Yu Gothic UI"/>
            </a:endParaRPr>
          </a:p>
          <a:p>
            <a:pPr algn="l">
              <a:lnSpc>
                <a:spcPct val="140000"/>
              </a:lnSpc>
            </a:pPr>
            <a:r>
              <a:rPr sz="1000" b="0">
                <a:solidFill>
                  <a:srgbClr val="36454F"/>
                </a:solidFill>
                <a:latin typeface="Yu Gothic UI"/>
              </a:rPr>
              <a:t>データは消えていないため、過去の集計結果もそのまま表示されます。</a:t>
            </a:r>
          </a:p>
        </p:txBody>
      </p:sp>
      <p:sp>
        <p:nvSpPr>
          <p:cNvPr id="12" name="Rounded Rectangle 11"/>
          <p:cNvSpPr/>
          <p:nvPr/>
        </p:nvSpPr>
        <p:spPr>
          <a:xfrm>
            <a:off x="4690872" y="1280160"/>
            <a:ext cx="4114800" cy="320040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690872" y="1280160"/>
            <a:ext cx="4114800" cy="640080"/>
          </a:xfrm>
          <a:prstGeom prst="rect">
            <a:avLst/>
          </a:prstGeom>
          <a:solidFill>
            <a:srgbClr val="C43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73752" y="1280160"/>
            <a:ext cx="640080" cy="640080"/>
          </a:xfrm>
          <a:prstGeom prst="rect">
            <a:avLst/>
          </a:prstGeom>
          <a:noFill/>
        </p:spPr>
        <p:txBody>
          <a:bodyPr wrap="square" lIns="45720" tIns="18288" rIns="45720" bIns="18288" anchor="ctr">
            <a:spAutoFit/>
          </a:bodyPr>
          <a:lstStyle/>
          <a:p>
            <a:pPr algn="ctr">
              <a:lnSpc>
                <a:spcPct val="115000"/>
              </a:lnSpc>
            </a:pPr>
            <a:r>
              <a:rPr sz="2400" b="0">
                <a:solidFill>
                  <a:srgbClr val="FFFFFF"/>
                </a:solidFill>
                <a:latin typeface="Yu Gothic UI"/>
              </a:rPr>
              <a:t>🗑️</a:t>
            </a:r>
          </a:p>
        </p:txBody>
      </p:sp>
      <p:sp>
        <p:nvSpPr>
          <p:cNvPr id="15" name="TextBox 14"/>
          <p:cNvSpPr txBox="1"/>
          <p:nvPr/>
        </p:nvSpPr>
        <p:spPr>
          <a:xfrm>
            <a:off x="5559552" y="1280160"/>
            <a:ext cx="3108960" cy="640080"/>
          </a:xfrm>
          <a:prstGeom prst="rect">
            <a:avLst/>
          </a:prstGeom>
          <a:noFill/>
        </p:spPr>
        <p:txBody>
          <a:bodyPr wrap="square" lIns="45720" tIns="18288" rIns="45720" bIns="18288" anchor="ctr">
            <a:spAutoFit/>
          </a:bodyPr>
          <a:lstStyle/>
          <a:p>
            <a:pPr algn="l">
              <a:lnSpc>
                <a:spcPct val="115000"/>
              </a:lnSpc>
            </a:pPr>
            <a:r>
              <a:rPr sz="1500" b="1">
                <a:solidFill>
                  <a:srgbClr val="FFFFFF"/>
                </a:solidFill>
                <a:latin typeface="Yu Gothic UI"/>
              </a:rPr>
              <a:t>完全削除</a:t>
            </a:r>
          </a:p>
        </p:txBody>
      </p:sp>
      <p:sp>
        <p:nvSpPr>
          <p:cNvPr id="16" name="TextBox 15"/>
          <p:cNvSpPr txBox="1"/>
          <p:nvPr/>
        </p:nvSpPr>
        <p:spPr>
          <a:xfrm>
            <a:off x="4919472" y="2057400"/>
            <a:ext cx="3657600" cy="457200"/>
          </a:xfrm>
          <a:prstGeom prst="rect">
            <a:avLst/>
          </a:prstGeom>
          <a:noFill/>
        </p:spPr>
        <p:txBody>
          <a:bodyPr wrap="square" lIns="45720" tIns="18288" rIns="45720" bIns="18288" anchor="t">
            <a:spAutoFit/>
          </a:bodyPr>
          <a:lstStyle/>
          <a:p>
            <a:pPr algn="l">
              <a:lnSpc>
                <a:spcPct val="135000"/>
              </a:lnSpc>
            </a:pPr>
            <a:r>
              <a:rPr sz="1050" b="1">
                <a:solidFill>
                  <a:srgbClr val="36454F"/>
                </a:solidFill>
                <a:latin typeface="Yu Gothic UI"/>
              </a:rPr>
              <a:t>現場を完全に削除します。元に戻すことはできません。</a:t>
            </a:r>
          </a:p>
        </p:txBody>
      </p:sp>
      <p:sp>
        <p:nvSpPr>
          <p:cNvPr id="17" name="TextBox 16"/>
          <p:cNvSpPr txBox="1"/>
          <p:nvPr/>
        </p:nvSpPr>
        <p:spPr>
          <a:xfrm>
            <a:off x="4919472" y="2606040"/>
            <a:ext cx="3657600" cy="1737360"/>
          </a:xfrm>
          <a:prstGeom prst="rect">
            <a:avLst/>
          </a:prstGeom>
          <a:noFill/>
        </p:spPr>
        <p:txBody>
          <a:bodyPr wrap="square" lIns="45720" tIns="18288" rIns="45720" bIns="18288" anchor="t">
            <a:spAutoFit/>
          </a:bodyPr>
          <a:lstStyle/>
          <a:p>
            <a:pPr algn="l">
              <a:lnSpc>
                <a:spcPct val="140000"/>
              </a:lnSpc>
            </a:pPr>
            <a:r>
              <a:rPr sz="1000" b="0">
                <a:solidFill>
                  <a:srgbClr val="36454F"/>
                </a:solidFill>
                <a:latin typeface="Yu Gothic UI"/>
              </a:rPr>
              <a:t>「完全削除」ボタンを押すと、選択した現場とその関連原価データがすべて削除されます。</a:t>
            </a:r>
          </a:p>
          <a:p>
            <a:pPr algn="l">
              <a:lnSpc>
                <a:spcPct val="140000"/>
              </a:lnSpc>
            </a:pPr>
            <a:endParaRPr sz="1000" b="0">
              <a:solidFill>
                <a:srgbClr val="36454F"/>
              </a:solidFill>
              <a:latin typeface="Yu Gothic UI"/>
            </a:endParaRPr>
          </a:p>
          <a:p>
            <a:pPr algn="l">
              <a:lnSpc>
                <a:spcPct val="140000"/>
              </a:lnSpc>
            </a:pPr>
            <a:r>
              <a:rPr sz="1000" b="0">
                <a:solidFill>
                  <a:srgbClr val="36454F"/>
                </a:solidFill>
                <a:latin typeface="Yu Gothic UI"/>
              </a:rPr>
              <a:t>この操作は元に戻せないため、確認のうえ慎重に実行してください。</a:t>
            </a:r>
          </a:p>
        </p:txBody>
      </p:sp>
      <p:sp>
        <p:nvSpPr>
          <p:cNvPr id="18" name="TextBox 17"/>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19" name="TextBox 18"/>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44 / 53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10</a:t>
            </a:r>
            <a:r>
              <a:rPr sz="2000" b="0">
                <a:solidFill>
                  <a:srgbClr val="3457D5"/>
                </a:solidFill>
                <a:latin typeface="Yu Gothic UI"/>
              </a:rPr>
              <a:t>　</a:t>
            </a:r>
            <a:r>
              <a:rPr sz="2000" b="1">
                <a:solidFill>
                  <a:srgbClr val="36454F"/>
                </a:solidFill>
                <a:latin typeface="Yu Gothic UI"/>
              </a:rPr>
              <a:t>日報の入力ルール</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業務内容は1行に1作業ずつ入力してください。</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4114800" cy="27889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4114800" cy="457200"/>
          </a:xfrm>
          <a:prstGeom prst="rect">
            <a:avLst/>
          </a:prstGeom>
          <a:solidFill>
            <a:srgbClr val="C43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280160"/>
            <a:ext cx="4114800" cy="457200"/>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 悪い例</a:t>
            </a:r>
          </a:p>
        </p:txBody>
      </p:sp>
      <p:sp>
        <p:nvSpPr>
          <p:cNvPr id="9" name="TextBox 8"/>
          <p:cNvSpPr txBox="1"/>
          <p:nvPr/>
        </p:nvSpPr>
        <p:spPr>
          <a:xfrm>
            <a:off x="640080" y="1828800"/>
            <a:ext cx="3749040" cy="365760"/>
          </a:xfrm>
          <a:prstGeom prst="rect">
            <a:avLst/>
          </a:prstGeom>
          <a:noFill/>
        </p:spPr>
        <p:txBody>
          <a:bodyPr wrap="square" lIns="45720" tIns="18288" rIns="45720" bIns="18288" anchor="t">
            <a:spAutoFit/>
          </a:bodyPr>
          <a:lstStyle/>
          <a:p>
            <a:pPr algn="l">
              <a:lnSpc>
                <a:spcPct val="135000"/>
              </a:lnSpc>
            </a:pPr>
            <a:r>
              <a:rPr sz="1100" b="1">
                <a:solidFill>
                  <a:srgbClr val="36454F"/>
                </a:solidFill>
                <a:latin typeface="Yu Gothic UI"/>
              </a:rPr>
              <a:t>業務内容欄に「、」で複数作業をまとめて入力</a:t>
            </a:r>
          </a:p>
        </p:txBody>
      </p:sp>
      <p:sp>
        <p:nvSpPr>
          <p:cNvPr id="10" name="Rounded Rectangle 9"/>
          <p:cNvSpPr/>
          <p:nvPr/>
        </p:nvSpPr>
        <p:spPr>
          <a:xfrm>
            <a:off x="640080" y="2240280"/>
            <a:ext cx="3749040" cy="640080"/>
          </a:xfrm>
          <a:prstGeom prst="roundRect">
            <a:avLst>
              <a:gd name="adj" fmla="val 4000"/>
            </a:avLst>
          </a:prstGeom>
          <a:solidFill>
            <a:srgbClr val="FFFFFF"/>
          </a:solidFill>
          <a:ln w="6350">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331720"/>
            <a:ext cx="3474720" cy="457200"/>
          </a:xfrm>
          <a:prstGeom prst="rect">
            <a:avLst/>
          </a:prstGeom>
          <a:noFill/>
        </p:spPr>
        <p:txBody>
          <a:bodyPr wrap="square" lIns="45720" tIns="18288" rIns="45720" bIns="18288" anchor="ctr">
            <a:spAutoFit/>
          </a:bodyPr>
          <a:lstStyle/>
          <a:p>
            <a:pPr algn="l">
              <a:lnSpc>
                <a:spcPct val="115000"/>
              </a:lnSpc>
            </a:pPr>
            <a:r>
              <a:rPr sz="1100" b="0">
                <a:solidFill>
                  <a:srgbClr val="36454F"/>
                </a:solidFill>
                <a:latin typeface="Yu Gothic UI"/>
              </a:rPr>
              <a:t>「測量作業、データ整理、打ち合わせ」</a:t>
            </a:r>
          </a:p>
        </p:txBody>
      </p:sp>
      <p:sp>
        <p:nvSpPr>
          <p:cNvPr id="12" name="TextBox 11"/>
          <p:cNvSpPr txBox="1"/>
          <p:nvPr/>
        </p:nvSpPr>
        <p:spPr>
          <a:xfrm>
            <a:off x="640080" y="2971800"/>
            <a:ext cx="3749040" cy="274320"/>
          </a:xfrm>
          <a:prstGeom prst="rect">
            <a:avLst/>
          </a:prstGeom>
          <a:noFill/>
        </p:spPr>
        <p:txBody>
          <a:bodyPr wrap="square" lIns="45720" tIns="18288" rIns="45720" bIns="18288" anchor="t">
            <a:spAutoFit/>
          </a:bodyPr>
          <a:lstStyle/>
          <a:p>
            <a:pPr algn="l">
              <a:lnSpc>
                <a:spcPct val="115000"/>
              </a:lnSpc>
            </a:pPr>
            <a:r>
              <a:rPr sz="1100" b="1">
                <a:solidFill>
                  <a:srgbClr val="C43D4A"/>
                </a:solidFill>
                <a:latin typeface="Yu Gothic UI"/>
              </a:rPr>
              <a:t>問題点</a:t>
            </a:r>
          </a:p>
        </p:txBody>
      </p:sp>
      <p:sp>
        <p:nvSpPr>
          <p:cNvPr id="13" name="TextBox 12"/>
          <p:cNvSpPr txBox="1"/>
          <p:nvPr/>
        </p:nvSpPr>
        <p:spPr>
          <a:xfrm>
            <a:off x="640080" y="3291840"/>
            <a:ext cx="3749040" cy="685800"/>
          </a:xfrm>
          <a:prstGeom prst="rect">
            <a:avLst/>
          </a:prstGeom>
          <a:noFill/>
        </p:spPr>
        <p:txBody>
          <a:bodyPr wrap="square" lIns="45720" tIns="18288" rIns="45720" bIns="18288" anchor="t">
            <a:spAutoFit/>
          </a:bodyPr>
          <a:lstStyle/>
          <a:p>
            <a:pPr algn="l">
              <a:lnSpc>
                <a:spcPct val="135000"/>
              </a:lnSpc>
            </a:pPr>
            <a:r>
              <a:rPr sz="1000" b="0">
                <a:solidFill>
                  <a:srgbClr val="36454F"/>
                </a:solidFill>
                <a:latin typeface="Yu Gothic UI"/>
              </a:rPr>
              <a:t>作業ごとの細かい集計ができないため、原価分析が正確に行えません。</a:t>
            </a:r>
          </a:p>
        </p:txBody>
      </p:sp>
      <p:sp>
        <p:nvSpPr>
          <p:cNvPr id="14" name="Rounded Rectangle 13"/>
          <p:cNvSpPr/>
          <p:nvPr/>
        </p:nvSpPr>
        <p:spPr>
          <a:xfrm>
            <a:off x="4709160" y="1280160"/>
            <a:ext cx="4069080" cy="27889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709160" y="1280160"/>
            <a:ext cx="4069080" cy="457200"/>
          </a:xfrm>
          <a:prstGeom prst="rect">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709160" y="1280160"/>
            <a:ext cx="4069080" cy="457200"/>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 良い例</a:t>
            </a:r>
          </a:p>
        </p:txBody>
      </p:sp>
      <p:sp>
        <p:nvSpPr>
          <p:cNvPr id="17" name="TextBox 16"/>
          <p:cNvSpPr txBox="1"/>
          <p:nvPr/>
        </p:nvSpPr>
        <p:spPr>
          <a:xfrm>
            <a:off x="4892040" y="1828800"/>
            <a:ext cx="3703320" cy="365760"/>
          </a:xfrm>
          <a:prstGeom prst="rect">
            <a:avLst/>
          </a:prstGeom>
          <a:noFill/>
        </p:spPr>
        <p:txBody>
          <a:bodyPr wrap="square" lIns="45720" tIns="18288" rIns="45720" bIns="18288" anchor="t">
            <a:spAutoFit/>
          </a:bodyPr>
          <a:lstStyle/>
          <a:p>
            <a:pPr algn="l">
              <a:lnSpc>
                <a:spcPct val="135000"/>
              </a:lnSpc>
            </a:pPr>
            <a:r>
              <a:rPr sz="1100" b="1">
                <a:solidFill>
                  <a:srgbClr val="36454F"/>
                </a:solidFill>
                <a:latin typeface="Yu Gothic UI"/>
              </a:rPr>
              <a:t>1行に1作業ずつ、作業ごとに行を分けて入力</a:t>
            </a:r>
          </a:p>
        </p:txBody>
      </p:sp>
      <p:sp>
        <p:nvSpPr>
          <p:cNvPr id="18" name="Rounded Rectangle 17"/>
          <p:cNvSpPr/>
          <p:nvPr/>
        </p:nvSpPr>
        <p:spPr>
          <a:xfrm>
            <a:off x="4892040" y="2240280"/>
            <a:ext cx="3703320" cy="685800"/>
          </a:xfrm>
          <a:prstGeom prst="roundRect">
            <a:avLst>
              <a:gd name="adj" fmla="val 4000"/>
            </a:avLst>
          </a:prstGeom>
          <a:solidFill>
            <a:srgbClr val="FFFFFF"/>
          </a:solidFill>
          <a:ln w="6350">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0" y="2286000"/>
            <a:ext cx="3429000" cy="594360"/>
          </a:xfrm>
          <a:prstGeom prst="rect">
            <a:avLst/>
          </a:prstGeom>
          <a:noFill/>
        </p:spPr>
        <p:txBody>
          <a:bodyPr wrap="square" lIns="45720" tIns="18288" rIns="45720" bIns="18288" anchor="t">
            <a:spAutoFit/>
          </a:bodyPr>
          <a:lstStyle/>
          <a:p>
            <a:pPr algn="l">
              <a:lnSpc>
                <a:spcPct val="130000"/>
              </a:lnSpc>
            </a:pPr>
            <a:r>
              <a:rPr sz="1000" b="0">
                <a:solidFill>
                  <a:srgbClr val="36454F"/>
                </a:solidFill>
                <a:latin typeface="Yu Gothic UI"/>
              </a:rPr>
              <a:t>1行目：「測量作業」</a:t>
            </a:r>
          </a:p>
          <a:p>
            <a:pPr algn="l">
              <a:lnSpc>
                <a:spcPct val="130000"/>
              </a:lnSpc>
            </a:pPr>
            <a:r>
              <a:rPr sz="1000" b="0">
                <a:solidFill>
                  <a:srgbClr val="36454F"/>
                </a:solidFill>
                <a:latin typeface="Yu Gothic UI"/>
              </a:rPr>
              <a:t>2行目：「データ整理」</a:t>
            </a:r>
          </a:p>
          <a:p>
            <a:pPr algn="l">
              <a:lnSpc>
                <a:spcPct val="130000"/>
              </a:lnSpc>
            </a:pPr>
            <a:r>
              <a:rPr sz="1000" b="0">
                <a:solidFill>
                  <a:srgbClr val="36454F"/>
                </a:solidFill>
                <a:latin typeface="Yu Gothic UI"/>
              </a:rPr>
              <a:t>3行目：「打ち合わせ」</a:t>
            </a:r>
          </a:p>
        </p:txBody>
      </p:sp>
      <p:sp>
        <p:nvSpPr>
          <p:cNvPr id="20" name="TextBox 19"/>
          <p:cNvSpPr txBox="1"/>
          <p:nvPr/>
        </p:nvSpPr>
        <p:spPr>
          <a:xfrm>
            <a:off x="4892040" y="3017520"/>
            <a:ext cx="3703320" cy="274320"/>
          </a:xfrm>
          <a:prstGeom prst="rect">
            <a:avLst/>
          </a:prstGeom>
          <a:noFill/>
        </p:spPr>
        <p:txBody>
          <a:bodyPr wrap="square" lIns="45720" tIns="18288" rIns="45720" bIns="18288" anchor="t">
            <a:spAutoFit/>
          </a:bodyPr>
          <a:lstStyle/>
          <a:p>
            <a:pPr algn="l">
              <a:lnSpc>
                <a:spcPct val="115000"/>
              </a:lnSpc>
            </a:pPr>
            <a:r>
              <a:rPr sz="1100" b="1">
                <a:solidFill>
                  <a:srgbClr val="2E9E6B"/>
                </a:solidFill>
                <a:latin typeface="Yu Gothic UI"/>
              </a:rPr>
              <a:t>メリット</a:t>
            </a:r>
          </a:p>
        </p:txBody>
      </p:sp>
      <p:sp>
        <p:nvSpPr>
          <p:cNvPr id="21" name="TextBox 20"/>
          <p:cNvSpPr txBox="1"/>
          <p:nvPr/>
        </p:nvSpPr>
        <p:spPr>
          <a:xfrm>
            <a:off x="4892040" y="3291840"/>
            <a:ext cx="3703320" cy="685800"/>
          </a:xfrm>
          <a:prstGeom prst="rect">
            <a:avLst/>
          </a:prstGeom>
          <a:noFill/>
        </p:spPr>
        <p:txBody>
          <a:bodyPr wrap="square" lIns="45720" tIns="18288" rIns="45720" bIns="18288" anchor="t">
            <a:spAutoFit/>
          </a:bodyPr>
          <a:lstStyle/>
          <a:p>
            <a:pPr algn="l">
              <a:lnSpc>
                <a:spcPct val="135000"/>
              </a:lnSpc>
            </a:pPr>
            <a:r>
              <a:rPr sz="1000" b="0">
                <a:solidFill>
                  <a:srgbClr val="36454F"/>
                </a:solidFill>
                <a:latin typeface="Yu Gothic UI"/>
              </a:rPr>
              <a:t>ソフトが自動で作業ごとに集計します。「、」で区切る必要はありません。</a:t>
            </a:r>
          </a:p>
        </p:txBody>
      </p:sp>
      <p:sp>
        <p:nvSpPr>
          <p:cNvPr id="22" name="Rounded Rectangle 21"/>
          <p:cNvSpPr/>
          <p:nvPr/>
        </p:nvSpPr>
        <p:spPr>
          <a:xfrm>
            <a:off x="457200" y="4206240"/>
            <a:ext cx="8321040" cy="45720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4297680"/>
            <a:ext cx="7955280" cy="274320"/>
          </a:xfrm>
          <a:prstGeom prst="rect">
            <a:avLst/>
          </a:prstGeom>
          <a:noFill/>
        </p:spPr>
        <p:txBody>
          <a:bodyPr wrap="square" lIns="45720" tIns="18288" rIns="45720" bIns="18288" anchor="ctr">
            <a:spAutoFit/>
          </a:bodyPr>
          <a:lstStyle/>
          <a:p>
            <a:pPr algn="l">
              <a:lnSpc>
                <a:spcPct val="135000"/>
              </a:lnSpc>
            </a:pPr>
            <a:r>
              <a:rPr sz="1300" b="0">
                <a:solidFill>
                  <a:srgbClr val="E88B3A"/>
                </a:solidFill>
                <a:latin typeface="Yu Gothic UI"/>
              </a:rPr>
              <a:t>💡  </a:t>
            </a:r>
            <a:r>
              <a:rPr sz="1100" b="1">
                <a:solidFill>
                  <a:srgbClr val="3457D5"/>
                </a:solidFill>
                <a:latin typeface="Yu Gothic UI"/>
              </a:rPr>
              <a:t>ポイント：</a:t>
            </a:r>
            <a:r>
              <a:rPr sz="1050" b="0">
                <a:solidFill>
                  <a:srgbClr val="36454F"/>
                </a:solidFill>
                <a:latin typeface="Yu Gothic UI"/>
              </a:rPr>
              <a:t>作業内容は自動で「業務内容」に結合されて表示されるので、まとめ入力は不要です。</a:t>
            </a:r>
          </a:p>
        </p:txBody>
      </p:sp>
      <p:sp>
        <p:nvSpPr>
          <p:cNvPr id="24" name="TextBox 23"/>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25" name="TextBox 24"/>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45 / 53</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10</a:t>
            </a:r>
            <a:r>
              <a:rPr sz="2000" b="0">
                <a:solidFill>
                  <a:srgbClr val="3457D5"/>
                </a:solidFill>
                <a:latin typeface="Yu Gothic UI"/>
              </a:rPr>
              <a:t>　</a:t>
            </a:r>
            <a:r>
              <a:rPr sz="2000" b="1">
                <a:solidFill>
                  <a:srgbClr val="36454F"/>
                </a:solidFill>
                <a:latin typeface="Yu Gothic UI"/>
              </a:rPr>
              <a:t>日報の入力ルール</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区分コードの入力ルールに注意してください。</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1280160"/>
            <a:ext cx="8321040" cy="292608"/>
          </a:xfrm>
          <a:prstGeom prst="rect">
            <a:avLst/>
          </a:prstGeom>
          <a:noFill/>
        </p:spPr>
        <p:txBody>
          <a:bodyPr wrap="square" lIns="45720" tIns="18288" rIns="45720" bIns="18288" anchor="t">
            <a:spAutoFit/>
          </a:bodyPr>
          <a:lstStyle/>
          <a:p>
            <a:pPr algn="l">
              <a:lnSpc>
                <a:spcPct val="115000"/>
              </a:lnSpc>
            </a:pPr>
            <a:r>
              <a:rPr sz="1300" b="1">
                <a:solidFill>
                  <a:srgbClr val="3457D5"/>
                </a:solidFill>
                <a:latin typeface="Yu Gothic UI"/>
              </a:rPr>
              <a:t>区分コードとは</a:t>
            </a:r>
          </a:p>
        </p:txBody>
      </p:sp>
      <p:sp>
        <p:nvSpPr>
          <p:cNvPr id="7" name="TextBox 6"/>
          <p:cNvSpPr txBox="1"/>
          <p:nvPr/>
        </p:nvSpPr>
        <p:spPr>
          <a:xfrm>
            <a:off x="457200" y="1627632"/>
            <a:ext cx="8321040" cy="502920"/>
          </a:xfrm>
          <a:prstGeom prst="rect">
            <a:avLst/>
          </a:prstGeom>
          <a:noFill/>
        </p:spPr>
        <p:txBody>
          <a:bodyPr wrap="square" lIns="45720" tIns="18288" rIns="45720" bIns="18288" anchor="t">
            <a:spAutoFit/>
          </a:bodyPr>
          <a:lstStyle/>
          <a:p>
            <a:pPr algn="l">
              <a:lnSpc>
                <a:spcPct val="140000"/>
              </a:lnSpc>
            </a:pPr>
            <a:r>
              <a:rPr sz="1050" b="0">
                <a:solidFill>
                  <a:srgbClr val="36454F"/>
                </a:solidFill>
                <a:latin typeface="Yu Gothic UI"/>
              </a:rPr>
              <a:t>日報の「区分」列に入力する、現場を識別するためのコードです。これをもとに原価がどの現場に属するかを判別します。</a:t>
            </a:r>
          </a:p>
        </p:txBody>
      </p:sp>
      <p:sp>
        <p:nvSpPr>
          <p:cNvPr id="8" name="Rounded Rectangle 7"/>
          <p:cNvSpPr/>
          <p:nvPr/>
        </p:nvSpPr>
        <p:spPr>
          <a:xfrm>
            <a:off x="457200" y="2286000"/>
            <a:ext cx="4069080" cy="242316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2286000"/>
            <a:ext cx="4069080" cy="411480"/>
          </a:xfrm>
          <a:prstGeom prst="rect">
            <a:avLst/>
          </a:prstGeom>
          <a:solidFill>
            <a:srgbClr val="C43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2286000"/>
            <a:ext cx="4069080" cy="411480"/>
          </a:xfrm>
          <a:prstGeom prst="rect">
            <a:avLst/>
          </a:prstGeom>
          <a:noFill/>
        </p:spPr>
        <p:txBody>
          <a:bodyPr wrap="square" lIns="45720" tIns="18288" rIns="45720" bIns="18288" anchor="ctr">
            <a:spAutoFit/>
          </a:bodyPr>
          <a:lstStyle/>
          <a:p>
            <a:pPr algn="ctr">
              <a:lnSpc>
                <a:spcPct val="115000"/>
              </a:lnSpc>
            </a:pPr>
            <a:r>
              <a:rPr sz="1200" b="1">
                <a:solidFill>
                  <a:srgbClr val="FFFFFF"/>
                </a:solidFill>
                <a:latin typeface="Yu Gothic UI"/>
              </a:rPr>
              <a:t>❌ NG例（自動でスキップ）</a:t>
            </a:r>
          </a:p>
        </p:txBody>
      </p:sp>
      <p:sp>
        <p:nvSpPr>
          <p:cNvPr id="11" name="Rounded Rectangle 10"/>
          <p:cNvSpPr/>
          <p:nvPr/>
        </p:nvSpPr>
        <p:spPr>
          <a:xfrm>
            <a:off x="640080" y="2834640"/>
            <a:ext cx="1691640" cy="365760"/>
          </a:xfrm>
          <a:prstGeom prst="roundRect">
            <a:avLst>
              <a:gd name="adj" fmla="val 4000"/>
            </a:avLst>
          </a:prstGeom>
          <a:solidFill>
            <a:srgbClr val="FFFFFF"/>
          </a:solidFill>
          <a:ln w="9525">
            <a:solidFill>
              <a:srgbClr val="C4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834640"/>
            <a:ext cx="1691640" cy="365760"/>
          </a:xfrm>
          <a:prstGeom prst="rect">
            <a:avLst/>
          </a:prstGeom>
          <a:noFill/>
        </p:spPr>
        <p:txBody>
          <a:bodyPr wrap="square" lIns="45720" tIns="18288" rIns="45720" bIns="18288" anchor="ctr">
            <a:spAutoFit/>
          </a:bodyPr>
          <a:lstStyle/>
          <a:p>
            <a:pPr algn="ctr">
              <a:lnSpc>
                <a:spcPct val="115000"/>
              </a:lnSpc>
            </a:pPr>
            <a:r>
              <a:rPr sz="1050" b="1">
                <a:solidFill>
                  <a:srgbClr val="C43D4A"/>
                </a:solidFill>
                <a:latin typeface="Yu Gothic UI"/>
              </a:rPr>
              <a:t>2026/04/03</a:t>
            </a:r>
          </a:p>
        </p:txBody>
      </p:sp>
      <p:sp>
        <p:nvSpPr>
          <p:cNvPr id="13" name="TextBox 12"/>
          <p:cNvSpPr txBox="1"/>
          <p:nvPr/>
        </p:nvSpPr>
        <p:spPr>
          <a:xfrm>
            <a:off x="2377440" y="2834640"/>
            <a:ext cx="1965960" cy="365760"/>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日付形式（「/」を含む）</a:t>
            </a:r>
          </a:p>
        </p:txBody>
      </p:sp>
      <p:sp>
        <p:nvSpPr>
          <p:cNvPr id="14" name="Rounded Rectangle 13"/>
          <p:cNvSpPr/>
          <p:nvPr/>
        </p:nvSpPr>
        <p:spPr>
          <a:xfrm>
            <a:off x="640080" y="3401568"/>
            <a:ext cx="1691640" cy="365760"/>
          </a:xfrm>
          <a:prstGeom prst="roundRect">
            <a:avLst>
              <a:gd name="adj" fmla="val 4000"/>
            </a:avLst>
          </a:prstGeom>
          <a:solidFill>
            <a:srgbClr val="FFFFFF"/>
          </a:solidFill>
          <a:ln w="9525">
            <a:solidFill>
              <a:srgbClr val="C4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3401568"/>
            <a:ext cx="1691640" cy="365760"/>
          </a:xfrm>
          <a:prstGeom prst="rect">
            <a:avLst/>
          </a:prstGeom>
          <a:noFill/>
        </p:spPr>
        <p:txBody>
          <a:bodyPr wrap="square" lIns="45720" tIns="18288" rIns="45720" bIns="18288" anchor="ctr">
            <a:spAutoFit/>
          </a:bodyPr>
          <a:lstStyle/>
          <a:p>
            <a:pPr algn="ctr">
              <a:lnSpc>
                <a:spcPct val="115000"/>
              </a:lnSpc>
            </a:pPr>
            <a:r>
              <a:rPr sz="1050" b="1">
                <a:solidFill>
                  <a:srgbClr val="C43D4A"/>
                </a:solidFill>
                <a:latin typeface="Yu Gothic UI"/>
              </a:rPr>
              <a:t>2026-04-03</a:t>
            </a:r>
          </a:p>
        </p:txBody>
      </p:sp>
      <p:sp>
        <p:nvSpPr>
          <p:cNvPr id="16" name="TextBox 15"/>
          <p:cNvSpPr txBox="1"/>
          <p:nvPr/>
        </p:nvSpPr>
        <p:spPr>
          <a:xfrm>
            <a:off x="2377440" y="3401568"/>
            <a:ext cx="1965960" cy="365760"/>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日付形式（「-」を含む）</a:t>
            </a:r>
          </a:p>
        </p:txBody>
      </p:sp>
      <p:sp>
        <p:nvSpPr>
          <p:cNvPr id="17" name="Rounded Rectangle 16"/>
          <p:cNvSpPr/>
          <p:nvPr/>
        </p:nvSpPr>
        <p:spPr>
          <a:xfrm>
            <a:off x="640080" y="3968496"/>
            <a:ext cx="1691640" cy="365760"/>
          </a:xfrm>
          <a:prstGeom prst="roundRect">
            <a:avLst>
              <a:gd name="adj" fmla="val 4000"/>
            </a:avLst>
          </a:prstGeom>
          <a:solidFill>
            <a:srgbClr val="FFFFFF"/>
          </a:solidFill>
          <a:ln w="9525">
            <a:solidFill>
              <a:srgbClr val="C4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3968496"/>
            <a:ext cx="1691640" cy="365760"/>
          </a:xfrm>
          <a:prstGeom prst="rect">
            <a:avLst/>
          </a:prstGeom>
          <a:noFill/>
        </p:spPr>
        <p:txBody>
          <a:bodyPr wrap="square" lIns="45720" tIns="18288" rIns="45720" bIns="18288" anchor="ctr">
            <a:spAutoFit/>
          </a:bodyPr>
          <a:lstStyle/>
          <a:p>
            <a:pPr algn="ctr">
              <a:lnSpc>
                <a:spcPct val="115000"/>
              </a:lnSpc>
            </a:pPr>
            <a:r>
              <a:rPr sz="1050" b="1">
                <a:solidFill>
                  <a:srgbClr val="C43D4A"/>
                </a:solidFill>
                <a:latin typeface="Yu Gothic UI"/>
              </a:rPr>
              <a:t>2026年4月度</a:t>
            </a:r>
          </a:p>
        </p:txBody>
      </p:sp>
      <p:sp>
        <p:nvSpPr>
          <p:cNvPr id="19" name="TextBox 18"/>
          <p:cNvSpPr txBox="1"/>
          <p:nvPr/>
        </p:nvSpPr>
        <p:spPr>
          <a:xfrm>
            <a:off x="2377440" y="3968496"/>
            <a:ext cx="1965960" cy="365760"/>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区分コードに月度情報は不要</a:t>
            </a:r>
          </a:p>
        </p:txBody>
      </p:sp>
      <p:sp>
        <p:nvSpPr>
          <p:cNvPr id="20" name="Rounded Rectangle 19"/>
          <p:cNvSpPr/>
          <p:nvPr/>
        </p:nvSpPr>
        <p:spPr>
          <a:xfrm>
            <a:off x="4709160" y="2286000"/>
            <a:ext cx="4069080" cy="242316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709160" y="2286000"/>
            <a:ext cx="4069080" cy="411480"/>
          </a:xfrm>
          <a:prstGeom prst="rect">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09160" y="2286000"/>
            <a:ext cx="4069080" cy="411480"/>
          </a:xfrm>
          <a:prstGeom prst="rect">
            <a:avLst/>
          </a:prstGeom>
          <a:noFill/>
        </p:spPr>
        <p:txBody>
          <a:bodyPr wrap="square" lIns="45720" tIns="18288" rIns="45720" bIns="18288" anchor="ctr">
            <a:spAutoFit/>
          </a:bodyPr>
          <a:lstStyle/>
          <a:p>
            <a:pPr algn="ctr">
              <a:lnSpc>
                <a:spcPct val="115000"/>
              </a:lnSpc>
            </a:pPr>
            <a:r>
              <a:rPr sz="1200" b="1">
                <a:solidFill>
                  <a:srgbClr val="FFFFFF"/>
                </a:solidFill>
                <a:latin typeface="Yu Gothic UI"/>
              </a:rPr>
              <a:t>✅ OK例（正しい区分コード）</a:t>
            </a:r>
          </a:p>
        </p:txBody>
      </p:sp>
      <p:sp>
        <p:nvSpPr>
          <p:cNvPr id="23" name="Rounded Rectangle 22"/>
          <p:cNvSpPr/>
          <p:nvPr/>
        </p:nvSpPr>
        <p:spPr>
          <a:xfrm>
            <a:off x="4892040" y="2834640"/>
            <a:ext cx="1691640" cy="365760"/>
          </a:xfrm>
          <a:prstGeom prst="roundRect">
            <a:avLst>
              <a:gd name="adj" fmla="val 4000"/>
            </a:avLst>
          </a:prstGeom>
          <a:solidFill>
            <a:srgbClr val="FFFFFF"/>
          </a:solidFill>
          <a:ln w="9525">
            <a:solidFill>
              <a:srgbClr val="2E9E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2834640"/>
            <a:ext cx="1691640" cy="365760"/>
          </a:xfrm>
          <a:prstGeom prst="rect">
            <a:avLst/>
          </a:prstGeom>
          <a:noFill/>
        </p:spPr>
        <p:txBody>
          <a:bodyPr wrap="square" lIns="45720" tIns="18288" rIns="45720" bIns="18288" anchor="ctr">
            <a:spAutoFit/>
          </a:bodyPr>
          <a:lstStyle/>
          <a:p>
            <a:pPr algn="ctr">
              <a:lnSpc>
                <a:spcPct val="115000"/>
              </a:lnSpc>
            </a:pPr>
            <a:r>
              <a:rPr sz="1050" b="1">
                <a:solidFill>
                  <a:srgbClr val="2E9E6B"/>
                </a:solidFill>
                <a:latin typeface="Yu Gothic UI"/>
              </a:rPr>
              <a:t>DI001</a:t>
            </a:r>
          </a:p>
        </p:txBody>
      </p:sp>
      <p:sp>
        <p:nvSpPr>
          <p:cNvPr id="25" name="TextBox 24"/>
          <p:cNvSpPr txBox="1"/>
          <p:nvPr/>
        </p:nvSpPr>
        <p:spPr>
          <a:xfrm>
            <a:off x="6629400" y="2834640"/>
            <a:ext cx="1965960" cy="365760"/>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通常の現場コード</a:t>
            </a:r>
          </a:p>
        </p:txBody>
      </p:sp>
      <p:sp>
        <p:nvSpPr>
          <p:cNvPr id="26" name="Rounded Rectangle 25"/>
          <p:cNvSpPr/>
          <p:nvPr/>
        </p:nvSpPr>
        <p:spPr>
          <a:xfrm>
            <a:off x="4892040" y="3401568"/>
            <a:ext cx="1691640" cy="365760"/>
          </a:xfrm>
          <a:prstGeom prst="roundRect">
            <a:avLst>
              <a:gd name="adj" fmla="val 4000"/>
            </a:avLst>
          </a:prstGeom>
          <a:solidFill>
            <a:srgbClr val="FFFFFF"/>
          </a:solidFill>
          <a:ln w="9525">
            <a:solidFill>
              <a:srgbClr val="2E9E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92040" y="3401568"/>
            <a:ext cx="1691640" cy="365760"/>
          </a:xfrm>
          <a:prstGeom prst="rect">
            <a:avLst/>
          </a:prstGeom>
          <a:noFill/>
        </p:spPr>
        <p:txBody>
          <a:bodyPr wrap="square" lIns="45720" tIns="18288" rIns="45720" bIns="18288" anchor="ctr">
            <a:spAutoFit/>
          </a:bodyPr>
          <a:lstStyle/>
          <a:p>
            <a:pPr algn="ctr">
              <a:lnSpc>
                <a:spcPct val="115000"/>
              </a:lnSpc>
            </a:pPr>
            <a:r>
              <a:rPr sz="1050" b="1">
                <a:solidFill>
                  <a:srgbClr val="2E9E6B"/>
                </a:solidFill>
                <a:latin typeface="Yu Gothic UI"/>
              </a:rPr>
              <a:t>JIPEC23</a:t>
            </a:r>
          </a:p>
        </p:txBody>
      </p:sp>
      <p:sp>
        <p:nvSpPr>
          <p:cNvPr id="28" name="TextBox 27"/>
          <p:cNvSpPr txBox="1"/>
          <p:nvPr/>
        </p:nvSpPr>
        <p:spPr>
          <a:xfrm>
            <a:off x="6629400" y="3401568"/>
            <a:ext cx="1965960" cy="365760"/>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英数字の組み合わせ</a:t>
            </a:r>
          </a:p>
        </p:txBody>
      </p:sp>
      <p:sp>
        <p:nvSpPr>
          <p:cNvPr id="29" name="Rounded Rectangle 28"/>
          <p:cNvSpPr/>
          <p:nvPr/>
        </p:nvSpPr>
        <p:spPr>
          <a:xfrm>
            <a:off x="4892040" y="3968496"/>
            <a:ext cx="1691640" cy="365760"/>
          </a:xfrm>
          <a:prstGeom prst="roundRect">
            <a:avLst>
              <a:gd name="adj" fmla="val 4000"/>
            </a:avLst>
          </a:prstGeom>
          <a:solidFill>
            <a:srgbClr val="FFFFFF"/>
          </a:solidFill>
          <a:ln w="9525">
            <a:solidFill>
              <a:srgbClr val="2E9E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92040" y="3968496"/>
            <a:ext cx="1691640" cy="365760"/>
          </a:xfrm>
          <a:prstGeom prst="rect">
            <a:avLst/>
          </a:prstGeom>
          <a:noFill/>
        </p:spPr>
        <p:txBody>
          <a:bodyPr wrap="square" lIns="45720" tIns="18288" rIns="45720" bIns="18288" anchor="ctr">
            <a:spAutoFit/>
          </a:bodyPr>
          <a:lstStyle/>
          <a:p>
            <a:pPr algn="ctr">
              <a:lnSpc>
                <a:spcPct val="115000"/>
              </a:lnSpc>
            </a:pPr>
            <a:r>
              <a:rPr sz="1050" b="1">
                <a:solidFill>
                  <a:srgbClr val="2E9E6B"/>
                </a:solidFill>
                <a:latin typeface="Yu Gothic UI"/>
              </a:rPr>
              <a:t>セミナー</a:t>
            </a:r>
          </a:p>
        </p:txBody>
      </p:sp>
      <p:sp>
        <p:nvSpPr>
          <p:cNvPr id="31" name="TextBox 30"/>
          <p:cNvSpPr txBox="1"/>
          <p:nvPr/>
        </p:nvSpPr>
        <p:spPr>
          <a:xfrm>
            <a:off x="6629400" y="3968496"/>
            <a:ext cx="1965960" cy="365760"/>
          </a:xfrm>
          <a:prstGeom prst="rect">
            <a:avLst/>
          </a:prstGeom>
          <a:noFill/>
        </p:spPr>
        <p:txBody>
          <a:bodyPr wrap="square" lIns="45720" tIns="18288" rIns="45720" bIns="18288" anchor="ctr">
            <a:spAutoFit/>
          </a:bodyPr>
          <a:lstStyle/>
          <a:p>
            <a:pPr algn="l">
              <a:lnSpc>
                <a:spcPct val="115000"/>
              </a:lnSpc>
            </a:pPr>
            <a:r>
              <a:rPr sz="950" b="0">
                <a:solidFill>
                  <a:srgbClr val="36454F"/>
                </a:solidFill>
                <a:latin typeface="Yu Gothic UI"/>
              </a:rPr>
              <a:t>日本語のみ（「/」「-」を含まない）</a:t>
            </a:r>
          </a:p>
        </p:txBody>
      </p:sp>
      <p:sp>
        <p:nvSpPr>
          <p:cNvPr id="32" name="TextBox 31"/>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33" name="TextBox 32"/>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46 / 53</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10</a:t>
            </a:r>
            <a:r>
              <a:rPr sz="2000" b="0">
                <a:solidFill>
                  <a:srgbClr val="3457D5"/>
                </a:solidFill>
                <a:latin typeface="Yu Gothic UI"/>
              </a:rPr>
              <a:t>　</a:t>
            </a:r>
            <a:r>
              <a:rPr sz="2000" b="1">
                <a:solidFill>
                  <a:srgbClr val="36454F"/>
                </a:solidFill>
                <a:latin typeface="Yu Gothic UI"/>
              </a:rPr>
              <a:t>日報の入力ルール</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時間・距離の入力にも注意してください。</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2743200" cy="25603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440180" y="1463040"/>
            <a:ext cx="777240" cy="777240"/>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463040"/>
            <a:ext cx="2743200" cy="777240"/>
          </a:xfrm>
          <a:prstGeom prst="rect">
            <a:avLst/>
          </a:prstGeom>
          <a:noFill/>
        </p:spPr>
        <p:txBody>
          <a:bodyPr wrap="square" lIns="45720" tIns="18288" rIns="45720" bIns="18288" anchor="ctr">
            <a:spAutoFit/>
          </a:bodyPr>
          <a:lstStyle/>
          <a:p>
            <a:pPr algn="ctr">
              <a:lnSpc>
                <a:spcPct val="115000"/>
              </a:lnSpc>
            </a:pPr>
            <a:r>
              <a:rPr sz="2800" b="0">
                <a:solidFill>
                  <a:srgbClr val="FFFFFF"/>
                </a:solidFill>
                <a:latin typeface="Yu Gothic UI"/>
              </a:rPr>
              <a:t>⏱️</a:t>
            </a:r>
          </a:p>
        </p:txBody>
      </p:sp>
      <p:sp>
        <p:nvSpPr>
          <p:cNvPr id="9" name="TextBox 8"/>
          <p:cNvSpPr txBox="1"/>
          <p:nvPr/>
        </p:nvSpPr>
        <p:spPr>
          <a:xfrm>
            <a:off x="457200" y="2377440"/>
            <a:ext cx="2743200" cy="292608"/>
          </a:xfrm>
          <a:prstGeom prst="rect">
            <a:avLst/>
          </a:prstGeom>
          <a:noFill/>
        </p:spPr>
        <p:txBody>
          <a:bodyPr wrap="square" lIns="45720" tIns="18288" rIns="45720" bIns="18288" anchor="ctr">
            <a:spAutoFit/>
          </a:bodyPr>
          <a:lstStyle/>
          <a:p>
            <a:pPr algn="ctr">
              <a:lnSpc>
                <a:spcPct val="115000"/>
              </a:lnSpc>
            </a:pPr>
            <a:r>
              <a:rPr sz="1400" b="1">
                <a:solidFill>
                  <a:srgbClr val="3457D5"/>
                </a:solidFill>
                <a:latin typeface="Yu Gothic UI"/>
              </a:rPr>
              <a:t>時間</a:t>
            </a:r>
          </a:p>
        </p:txBody>
      </p:sp>
      <p:sp>
        <p:nvSpPr>
          <p:cNvPr id="10" name="TextBox 9"/>
          <p:cNvSpPr txBox="1"/>
          <p:nvPr/>
        </p:nvSpPr>
        <p:spPr>
          <a:xfrm>
            <a:off x="640080" y="2743200"/>
            <a:ext cx="2377440" cy="960120"/>
          </a:xfrm>
          <a:prstGeom prst="rect">
            <a:avLst/>
          </a:prstGeom>
          <a:noFill/>
        </p:spPr>
        <p:txBody>
          <a:bodyPr wrap="square" lIns="45720" tIns="18288" rIns="45720" bIns="18288" anchor="t">
            <a:spAutoFit/>
          </a:bodyPr>
          <a:lstStyle/>
          <a:p>
            <a:pPr algn="l">
              <a:lnSpc>
                <a:spcPct val="140000"/>
              </a:lnSpc>
            </a:pPr>
            <a:r>
              <a:rPr sz="1000" b="0">
                <a:solidFill>
                  <a:srgbClr val="36454F"/>
                </a:solidFill>
                <a:latin typeface="Yu Gothic UI"/>
              </a:rPr>
              <a:t>0時間以上、24時間未満の値を入力してください。</a:t>
            </a:r>
          </a:p>
          <a:p>
            <a:pPr algn="l">
              <a:lnSpc>
                <a:spcPct val="140000"/>
              </a:lnSpc>
            </a:pPr>
            <a:r>
              <a:rPr sz="1000" b="0">
                <a:solidFill>
                  <a:srgbClr val="36454F"/>
                </a:solidFill>
                <a:latin typeface="Yu Gothic UI"/>
              </a:rPr>
              <a:t>範囲外の値は、取込時に自動でスキップされます。</a:t>
            </a:r>
          </a:p>
        </p:txBody>
      </p:sp>
      <p:sp>
        <p:nvSpPr>
          <p:cNvPr id="11" name="Rounded Rectangle 10"/>
          <p:cNvSpPr/>
          <p:nvPr/>
        </p:nvSpPr>
        <p:spPr>
          <a:xfrm>
            <a:off x="3264408" y="1280160"/>
            <a:ext cx="2743200" cy="25603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247388" y="1463040"/>
            <a:ext cx="777240" cy="777240"/>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64408" y="1463040"/>
            <a:ext cx="2743200" cy="777240"/>
          </a:xfrm>
          <a:prstGeom prst="rect">
            <a:avLst/>
          </a:prstGeom>
          <a:noFill/>
        </p:spPr>
        <p:txBody>
          <a:bodyPr wrap="square" lIns="45720" tIns="18288" rIns="45720" bIns="18288" anchor="ctr">
            <a:spAutoFit/>
          </a:bodyPr>
          <a:lstStyle/>
          <a:p>
            <a:pPr algn="ctr">
              <a:lnSpc>
                <a:spcPct val="115000"/>
              </a:lnSpc>
            </a:pPr>
            <a:r>
              <a:rPr sz="2800" b="0">
                <a:solidFill>
                  <a:srgbClr val="FFFFFF"/>
                </a:solidFill>
                <a:latin typeface="Yu Gothic UI"/>
              </a:rPr>
              <a:t>📏</a:t>
            </a:r>
          </a:p>
        </p:txBody>
      </p:sp>
      <p:sp>
        <p:nvSpPr>
          <p:cNvPr id="14" name="TextBox 13"/>
          <p:cNvSpPr txBox="1"/>
          <p:nvPr/>
        </p:nvSpPr>
        <p:spPr>
          <a:xfrm>
            <a:off x="3264408" y="2377440"/>
            <a:ext cx="2743200" cy="292608"/>
          </a:xfrm>
          <a:prstGeom prst="rect">
            <a:avLst/>
          </a:prstGeom>
          <a:noFill/>
        </p:spPr>
        <p:txBody>
          <a:bodyPr wrap="square" lIns="45720" tIns="18288" rIns="45720" bIns="18288" anchor="ctr">
            <a:spAutoFit/>
          </a:bodyPr>
          <a:lstStyle/>
          <a:p>
            <a:pPr algn="ctr">
              <a:lnSpc>
                <a:spcPct val="115000"/>
              </a:lnSpc>
            </a:pPr>
            <a:r>
              <a:rPr sz="1400" b="1">
                <a:solidFill>
                  <a:srgbClr val="3457D5"/>
                </a:solidFill>
                <a:latin typeface="Yu Gothic UI"/>
              </a:rPr>
              <a:t>距離</a:t>
            </a:r>
          </a:p>
        </p:txBody>
      </p:sp>
      <p:sp>
        <p:nvSpPr>
          <p:cNvPr id="15" name="TextBox 14"/>
          <p:cNvSpPr txBox="1"/>
          <p:nvPr/>
        </p:nvSpPr>
        <p:spPr>
          <a:xfrm>
            <a:off x="3447288" y="2743200"/>
            <a:ext cx="2377440" cy="960120"/>
          </a:xfrm>
          <a:prstGeom prst="rect">
            <a:avLst/>
          </a:prstGeom>
          <a:noFill/>
        </p:spPr>
        <p:txBody>
          <a:bodyPr wrap="square" lIns="45720" tIns="18288" rIns="45720" bIns="18288" anchor="t">
            <a:spAutoFit/>
          </a:bodyPr>
          <a:lstStyle/>
          <a:p>
            <a:pPr algn="l">
              <a:lnSpc>
                <a:spcPct val="140000"/>
              </a:lnSpc>
            </a:pPr>
            <a:r>
              <a:rPr sz="1000" b="0">
                <a:solidFill>
                  <a:srgbClr val="36454F"/>
                </a:solidFill>
                <a:latin typeface="Yu Gothic UI"/>
              </a:rPr>
              <a:t>0以上の値を入力してください。</a:t>
            </a:r>
          </a:p>
          <a:p>
            <a:pPr algn="l">
              <a:lnSpc>
                <a:spcPct val="140000"/>
              </a:lnSpc>
            </a:pPr>
            <a:r>
              <a:rPr sz="1000" b="0">
                <a:solidFill>
                  <a:srgbClr val="36454F"/>
                </a:solidFill>
                <a:latin typeface="Yu Gothic UI"/>
              </a:rPr>
              <a:t>マイナスの値が入っている行は、自動でスキップされます。</a:t>
            </a:r>
          </a:p>
        </p:txBody>
      </p:sp>
      <p:sp>
        <p:nvSpPr>
          <p:cNvPr id="16" name="Rounded Rectangle 15"/>
          <p:cNvSpPr/>
          <p:nvPr/>
        </p:nvSpPr>
        <p:spPr>
          <a:xfrm>
            <a:off x="6071616" y="1280160"/>
            <a:ext cx="2743200" cy="25603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054596" y="1463040"/>
            <a:ext cx="777240" cy="777240"/>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71616" y="1463040"/>
            <a:ext cx="2743200" cy="777240"/>
          </a:xfrm>
          <a:prstGeom prst="rect">
            <a:avLst/>
          </a:prstGeom>
          <a:noFill/>
        </p:spPr>
        <p:txBody>
          <a:bodyPr wrap="square" lIns="45720" tIns="18288" rIns="45720" bIns="18288" anchor="ctr">
            <a:spAutoFit/>
          </a:bodyPr>
          <a:lstStyle/>
          <a:p>
            <a:pPr algn="ctr">
              <a:lnSpc>
                <a:spcPct val="115000"/>
              </a:lnSpc>
            </a:pPr>
            <a:r>
              <a:rPr sz="2800" b="0">
                <a:solidFill>
                  <a:srgbClr val="FFFFFF"/>
                </a:solidFill>
                <a:latin typeface="Yu Gothic UI"/>
              </a:rPr>
              <a:t>📝</a:t>
            </a:r>
          </a:p>
        </p:txBody>
      </p:sp>
      <p:sp>
        <p:nvSpPr>
          <p:cNvPr id="19" name="TextBox 18"/>
          <p:cNvSpPr txBox="1"/>
          <p:nvPr/>
        </p:nvSpPr>
        <p:spPr>
          <a:xfrm>
            <a:off x="6071616" y="2377440"/>
            <a:ext cx="2743200" cy="292608"/>
          </a:xfrm>
          <a:prstGeom prst="rect">
            <a:avLst/>
          </a:prstGeom>
          <a:noFill/>
        </p:spPr>
        <p:txBody>
          <a:bodyPr wrap="square" lIns="45720" tIns="18288" rIns="45720" bIns="18288" anchor="ctr">
            <a:spAutoFit/>
          </a:bodyPr>
          <a:lstStyle/>
          <a:p>
            <a:pPr algn="ctr">
              <a:lnSpc>
                <a:spcPct val="115000"/>
              </a:lnSpc>
            </a:pPr>
            <a:r>
              <a:rPr sz="1400" b="1">
                <a:solidFill>
                  <a:srgbClr val="3457D5"/>
                </a:solidFill>
                <a:latin typeface="Yu Gothic UI"/>
              </a:rPr>
              <a:t>氏名</a:t>
            </a:r>
          </a:p>
        </p:txBody>
      </p:sp>
      <p:sp>
        <p:nvSpPr>
          <p:cNvPr id="20" name="TextBox 19"/>
          <p:cNvSpPr txBox="1"/>
          <p:nvPr/>
        </p:nvSpPr>
        <p:spPr>
          <a:xfrm>
            <a:off x="6254496" y="2743200"/>
            <a:ext cx="2377440" cy="960120"/>
          </a:xfrm>
          <a:prstGeom prst="rect">
            <a:avLst/>
          </a:prstGeom>
          <a:noFill/>
        </p:spPr>
        <p:txBody>
          <a:bodyPr wrap="square" lIns="45720" tIns="18288" rIns="45720" bIns="18288" anchor="t">
            <a:spAutoFit/>
          </a:bodyPr>
          <a:lstStyle/>
          <a:p>
            <a:pPr algn="l">
              <a:lnSpc>
                <a:spcPct val="140000"/>
              </a:lnSpc>
            </a:pPr>
            <a:r>
              <a:rPr sz="1000" b="0">
                <a:solidFill>
                  <a:srgbClr val="36454F"/>
                </a:solidFill>
                <a:latin typeface="Yu Gothic UI"/>
              </a:rPr>
              <a:t>氏名は必ず入力してください。</a:t>
            </a:r>
          </a:p>
          <a:p>
            <a:pPr algn="l">
              <a:lnSpc>
                <a:spcPct val="140000"/>
              </a:lnSpc>
            </a:pPr>
            <a:r>
              <a:rPr sz="1000" b="0">
                <a:solidFill>
                  <a:srgbClr val="36454F"/>
                </a:solidFill>
                <a:latin typeface="Yu Gothic UI"/>
              </a:rPr>
              <a:t>氏名が空欄の行は、自動でスキップされます。</a:t>
            </a:r>
          </a:p>
        </p:txBody>
      </p:sp>
      <p:sp>
        <p:nvSpPr>
          <p:cNvPr id="21" name="Rounded Rectangle 20"/>
          <p:cNvSpPr/>
          <p:nvPr/>
        </p:nvSpPr>
        <p:spPr>
          <a:xfrm>
            <a:off x="457200" y="3977639"/>
            <a:ext cx="8321040" cy="64008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4069079"/>
            <a:ext cx="7955280" cy="457200"/>
          </a:xfrm>
          <a:prstGeom prst="rect">
            <a:avLst/>
          </a:prstGeom>
          <a:noFill/>
        </p:spPr>
        <p:txBody>
          <a:bodyPr wrap="square" lIns="45720" tIns="18288" rIns="45720" bIns="18288" anchor="ctr">
            <a:spAutoFit/>
          </a:bodyPr>
          <a:lstStyle/>
          <a:p>
            <a:pPr algn="l">
              <a:lnSpc>
                <a:spcPct val="135000"/>
              </a:lnSpc>
            </a:pPr>
            <a:r>
              <a:rPr sz="1300" b="0">
                <a:solidFill>
                  <a:srgbClr val="C43D4A"/>
                </a:solidFill>
                <a:latin typeface="Yu Gothic UI"/>
              </a:rPr>
              <a:t>⚠️  </a:t>
            </a:r>
            <a:r>
              <a:rPr sz="1100" b="1">
                <a:solidFill>
                  <a:srgbClr val="3457D5"/>
                </a:solidFill>
                <a:latin typeface="Yu Gothic UI"/>
              </a:rPr>
              <a:t>重要：</a:t>
            </a:r>
            <a:r>
              <a:rPr sz="1050" b="0">
                <a:solidFill>
                  <a:srgbClr val="36454F"/>
                </a:solidFill>
                <a:latin typeface="Yu Gothic UI"/>
              </a:rPr>
              <a:t>日報の入力内容が原価金額に直結します。入力内容や区分について少しでも迷ったら、すぐに事務に確認してください。</a:t>
            </a:r>
          </a:p>
        </p:txBody>
      </p:sp>
      <p:sp>
        <p:nvSpPr>
          <p:cNvPr id="23" name="TextBox 22"/>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24" name="TextBox 23"/>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47 / 53</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11</a:t>
            </a:r>
            <a:r>
              <a:rPr sz="2000" b="0">
                <a:solidFill>
                  <a:srgbClr val="3457D5"/>
                </a:solidFill>
                <a:latin typeface="Yu Gothic UI"/>
              </a:rPr>
              <a:t>　</a:t>
            </a:r>
            <a:r>
              <a:rPr sz="2000" b="1">
                <a:solidFill>
                  <a:srgbClr val="36454F"/>
                </a:solidFill>
                <a:latin typeface="Yu Gothic UI"/>
              </a:rPr>
              <a:t>注意事項・よくある質問</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操作中によくある質問とその対応をまとめました。</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8321040" cy="1115568"/>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1792" y="1371600"/>
            <a:ext cx="347472" cy="347472"/>
          </a:xfrm>
          <a:prstGeom prst="roundRect">
            <a:avLst>
              <a:gd name="adj" fmla="val 5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371600"/>
            <a:ext cx="347472" cy="347472"/>
          </a:xfrm>
          <a:prstGeom prst="rect">
            <a:avLst/>
          </a:prstGeom>
          <a:noFill/>
        </p:spPr>
        <p:txBody>
          <a:bodyPr wrap="square" lIns="45720" tIns="18288" rIns="45720" bIns="18288" anchor="ctr">
            <a:spAutoFit/>
          </a:bodyPr>
          <a:lstStyle/>
          <a:p>
            <a:pPr algn="ctr">
              <a:lnSpc>
                <a:spcPct val="115000"/>
              </a:lnSpc>
            </a:pPr>
            <a:r>
              <a:rPr sz="1300" b="1">
                <a:solidFill>
                  <a:srgbClr val="FFFFFF"/>
                </a:solidFill>
                <a:latin typeface="Yu Gothic UI"/>
              </a:rPr>
              <a:t>Q</a:t>
            </a:r>
          </a:p>
        </p:txBody>
      </p:sp>
      <p:sp>
        <p:nvSpPr>
          <p:cNvPr id="9" name="TextBox 8"/>
          <p:cNvSpPr txBox="1"/>
          <p:nvPr/>
        </p:nvSpPr>
        <p:spPr>
          <a:xfrm>
            <a:off x="1051560" y="1353312"/>
            <a:ext cx="7589520" cy="384048"/>
          </a:xfrm>
          <a:prstGeom prst="rect">
            <a:avLst/>
          </a:prstGeom>
          <a:noFill/>
        </p:spPr>
        <p:txBody>
          <a:bodyPr wrap="square" lIns="45720" tIns="18288" rIns="45720" bIns="18288" anchor="ctr">
            <a:spAutoFit/>
          </a:bodyPr>
          <a:lstStyle/>
          <a:p>
            <a:pPr algn="l">
              <a:lnSpc>
                <a:spcPct val="130000"/>
              </a:lnSpc>
            </a:pPr>
            <a:r>
              <a:rPr sz="1100" b="1">
                <a:solidFill>
                  <a:srgbClr val="36454F"/>
                </a:solidFill>
                <a:latin typeface="Yu Gothic UI"/>
              </a:rPr>
              <a:t>日報を取込んだら「○件スキップしました」と表示されました。どうすればいいですか？</a:t>
            </a:r>
          </a:p>
        </p:txBody>
      </p:sp>
      <p:sp>
        <p:nvSpPr>
          <p:cNvPr id="10" name="Rounded Rectangle 9"/>
          <p:cNvSpPr/>
          <p:nvPr/>
        </p:nvSpPr>
        <p:spPr>
          <a:xfrm>
            <a:off x="621792" y="1755648"/>
            <a:ext cx="347472" cy="347472"/>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1792" y="1755648"/>
            <a:ext cx="347472" cy="347472"/>
          </a:xfrm>
          <a:prstGeom prst="rect">
            <a:avLst/>
          </a:prstGeom>
          <a:noFill/>
        </p:spPr>
        <p:txBody>
          <a:bodyPr wrap="square" lIns="45720" tIns="18288" rIns="45720" bIns="18288" anchor="ctr">
            <a:spAutoFit/>
          </a:bodyPr>
          <a:lstStyle/>
          <a:p>
            <a:pPr algn="ctr">
              <a:lnSpc>
                <a:spcPct val="115000"/>
              </a:lnSpc>
            </a:pPr>
            <a:r>
              <a:rPr sz="1300" b="1">
                <a:solidFill>
                  <a:srgbClr val="FFFFFF"/>
                </a:solidFill>
                <a:latin typeface="Yu Gothic UI"/>
              </a:rPr>
              <a:t>A</a:t>
            </a:r>
          </a:p>
        </p:txBody>
      </p:sp>
      <p:sp>
        <p:nvSpPr>
          <p:cNvPr id="12" name="TextBox 11"/>
          <p:cNvSpPr txBox="1"/>
          <p:nvPr/>
        </p:nvSpPr>
        <p:spPr>
          <a:xfrm>
            <a:off x="1051560" y="1737360"/>
            <a:ext cx="7589520" cy="612648"/>
          </a:xfrm>
          <a:prstGeom prst="rect">
            <a:avLst/>
          </a:prstGeom>
          <a:noFill/>
        </p:spPr>
        <p:txBody>
          <a:bodyPr wrap="square" lIns="45720" tIns="18288" rIns="45720" bIns="18288" anchor="t">
            <a:spAutoFit/>
          </a:bodyPr>
          <a:lstStyle/>
          <a:p>
            <a:pPr algn="l">
              <a:lnSpc>
                <a:spcPct val="135000"/>
              </a:lnSpc>
            </a:pPr>
            <a:r>
              <a:rPr sz="1000" b="0">
                <a:solidFill>
                  <a:srgbClr val="36454F"/>
                </a:solidFill>
                <a:latin typeface="Yu Gothic UI"/>
              </a:rPr>
              <a:t>区分コードに「/」「-」が含まれている、時間や距離が範囲外などの行が自動でスキップされています。スキップされた行は一覧表示されるので、元のExcelファイルを修正してから再度取込んでください。</a:t>
            </a:r>
          </a:p>
        </p:txBody>
      </p:sp>
      <p:sp>
        <p:nvSpPr>
          <p:cNvPr id="13" name="Rounded Rectangle 12"/>
          <p:cNvSpPr/>
          <p:nvPr/>
        </p:nvSpPr>
        <p:spPr>
          <a:xfrm>
            <a:off x="457200" y="2441448"/>
            <a:ext cx="8321040" cy="1115568"/>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21792" y="2532888"/>
            <a:ext cx="347472" cy="347472"/>
          </a:xfrm>
          <a:prstGeom prst="roundRect">
            <a:avLst>
              <a:gd name="adj" fmla="val 5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1792" y="2532888"/>
            <a:ext cx="347472" cy="347472"/>
          </a:xfrm>
          <a:prstGeom prst="rect">
            <a:avLst/>
          </a:prstGeom>
          <a:noFill/>
        </p:spPr>
        <p:txBody>
          <a:bodyPr wrap="square" lIns="45720" tIns="18288" rIns="45720" bIns="18288" anchor="ctr">
            <a:spAutoFit/>
          </a:bodyPr>
          <a:lstStyle/>
          <a:p>
            <a:pPr algn="ctr">
              <a:lnSpc>
                <a:spcPct val="115000"/>
              </a:lnSpc>
            </a:pPr>
            <a:r>
              <a:rPr sz="1300" b="1">
                <a:solidFill>
                  <a:srgbClr val="FFFFFF"/>
                </a:solidFill>
                <a:latin typeface="Yu Gothic UI"/>
              </a:rPr>
              <a:t>Q</a:t>
            </a:r>
          </a:p>
        </p:txBody>
      </p:sp>
      <p:sp>
        <p:nvSpPr>
          <p:cNvPr id="16" name="TextBox 15"/>
          <p:cNvSpPr txBox="1"/>
          <p:nvPr/>
        </p:nvSpPr>
        <p:spPr>
          <a:xfrm>
            <a:off x="1051560" y="2514600"/>
            <a:ext cx="7589520" cy="384048"/>
          </a:xfrm>
          <a:prstGeom prst="rect">
            <a:avLst/>
          </a:prstGeom>
          <a:noFill/>
        </p:spPr>
        <p:txBody>
          <a:bodyPr wrap="square" lIns="45720" tIns="18288" rIns="45720" bIns="18288" anchor="ctr">
            <a:spAutoFit/>
          </a:bodyPr>
          <a:lstStyle/>
          <a:p>
            <a:pPr algn="l">
              <a:lnSpc>
                <a:spcPct val="130000"/>
              </a:lnSpc>
            </a:pPr>
            <a:r>
              <a:rPr sz="1100" b="1">
                <a:solidFill>
                  <a:srgbClr val="36454F"/>
                </a:solidFill>
                <a:latin typeface="Yu Gothic UI"/>
              </a:rPr>
              <a:t>間違ってアーカイブしてしまった現場を元に戻したいです。</a:t>
            </a:r>
          </a:p>
        </p:txBody>
      </p:sp>
      <p:sp>
        <p:nvSpPr>
          <p:cNvPr id="17" name="Rounded Rectangle 16"/>
          <p:cNvSpPr/>
          <p:nvPr/>
        </p:nvSpPr>
        <p:spPr>
          <a:xfrm>
            <a:off x="621792" y="2916936"/>
            <a:ext cx="347472" cy="347472"/>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1792" y="2916936"/>
            <a:ext cx="347472" cy="347472"/>
          </a:xfrm>
          <a:prstGeom prst="rect">
            <a:avLst/>
          </a:prstGeom>
          <a:noFill/>
        </p:spPr>
        <p:txBody>
          <a:bodyPr wrap="square" lIns="45720" tIns="18288" rIns="45720" bIns="18288" anchor="ctr">
            <a:spAutoFit/>
          </a:bodyPr>
          <a:lstStyle/>
          <a:p>
            <a:pPr algn="ctr">
              <a:lnSpc>
                <a:spcPct val="115000"/>
              </a:lnSpc>
            </a:pPr>
            <a:r>
              <a:rPr sz="1300" b="1">
                <a:solidFill>
                  <a:srgbClr val="FFFFFF"/>
                </a:solidFill>
                <a:latin typeface="Yu Gothic UI"/>
              </a:rPr>
              <a:t>A</a:t>
            </a:r>
          </a:p>
        </p:txBody>
      </p:sp>
      <p:sp>
        <p:nvSpPr>
          <p:cNvPr id="19" name="TextBox 18"/>
          <p:cNvSpPr txBox="1"/>
          <p:nvPr/>
        </p:nvSpPr>
        <p:spPr>
          <a:xfrm>
            <a:off x="1051560" y="2898648"/>
            <a:ext cx="7589520" cy="612648"/>
          </a:xfrm>
          <a:prstGeom prst="rect">
            <a:avLst/>
          </a:prstGeom>
          <a:noFill/>
        </p:spPr>
        <p:txBody>
          <a:bodyPr wrap="square" lIns="45720" tIns="18288" rIns="45720" bIns="18288" anchor="t">
            <a:spAutoFit/>
          </a:bodyPr>
          <a:lstStyle/>
          <a:p>
            <a:pPr algn="l">
              <a:lnSpc>
                <a:spcPct val="135000"/>
              </a:lnSpc>
            </a:pPr>
            <a:r>
              <a:rPr sz="1000" b="0">
                <a:solidFill>
                  <a:srgbClr val="36454F"/>
                </a:solidFill>
                <a:latin typeface="Yu Gothic UI"/>
              </a:rPr>
              <a:t>「設定 → アーカイブ済み現場」を開き、復元したい現場のチェックボックスを選択して「復元」ボタンを押してください。データは消えていないため、過去の集計結果もそのまま戻ります。</a:t>
            </a:r>
          </a:p>
        </p:txBody>
      </p:sp>
      <p:sp>
        <p:nvSpPr>
          <p:cNvPr id="20" name="Rounded Rectangle 19"/>
          <p:cNvSpPr/>
          <p:nvPr/>
        </p:nvSpPr>
        <p:spPr>
          <a:xfrm>
            <a:off x="457200" y="3602736"/>
            <a:ext cx="8321040" cy="1115568"/>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21792" y="3694176"/>
            <a:ext cx="347472" cy="347472"/>
          </a:xfrm>
          <a:prstGeom prst="roundRect">
            <a:avLst>
              <a:gd name="adj" fmla="val 5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1792" y="3694176"/>
            <a:ext cx="347472" cy="347472"/>
          </a:xfrm>
          <a:prstGeom prst="rect">
            <a:avLst/>
          </a:prstGeom>
          <a:noFill/>
        </p:spPr>
        <p:txBody>
          <a:bodyPr wrap="square" lIns="45720" tIns="18288" rIns="45720" bIns="18288" anchor="ctr">
            <a:spAutoFit/>
          </a:bodyPr>
          <a:lstStyle/>
          <a:p>
            <a:pPr algn="ctr">
              <a:lnSpc>
                <a:spcPct val="115000"/>
              </a:lnSpc>
            </a:pPr>
            <a:r>
              <a:rPr sz="1300" b="1">
                <a:solidFill>
                  <a:srgbClr val="FFFFFF"/>
                </a:solidFill>
                <a:latin typeface="Yu Gothic UI"/>
              </a:rPr>
              <a:t>Q</a:t>
            </a:r>
          </a:p>
        </p:txBody>
      </p:sp>
      <p:sp>
        <p:nvSpPr>
          <p:cNvPr id="23" name="TextBox 22"/>
          <p:cNvSpPr txBox="1"/>
          <p:nvPr/>
        </p:nvSpPr>
        <p:spPr>
          <a:xfrm>
            <a:off x="1051560" y="3675888"/>
            <a:ext cx="7589520" cy="384048"/>
          </a:xfrm>
          <a:prstGeom prst="rect">
            <a:avLst/>
          </a:prstGeom>
          <a:noFill/>
        </p:spPr>
        <p:txBody>
          <a:bodyPr wrap="square" lIns="45720" tIns="18288" rIns="45720" bIns="18288" anchor="ctr">
            <a:spAutoFit/>
          </a:bodyPr>
          <a:lstStyle/>
          <a:p>
            <a:pPr algn="l">
              <a:lnSpc>
                <a:spcPct val="130000"/>
              </a:lnSpc>
            </a:pPr>
            <a:r>
              <a:rPr sz="1100" b="1">
                <a:solidFill>
                  <a:srgbClr val="36454F"/>
                </a:solidFill>
                <a:latin typeface="Yu Gothic UI"/>
              </a:rPr>
              <a:t>人員マスタの単価を変更したのに、過去の集計金額が変わりません。</a:t>
            </a:r>
          </a:p>
        </p:txBody>
      </p:sp>
      <p:sp>
        <p:nvSpPr>
          <p:cNvPr id="24" name="Rounded Rectangle 23"/>
          <p:cNvSpPr/>
          <p:nvPr/>
        </p:nvSpPr>
        <p:spPr>
          <a:xfrm>
            <a:off x="621792" y="4078224"/>
            <a:ext cx="347472" cy="347472"/>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1792" y="4078224"/>
            <a:ext cx="347472" cy="347472"/>
          </a:xfrm>
          <a:prstGeom prst="rect">
            <a:avLst/>
          </a:prstGeom>
          <a:noFill/>
        </p:spPr>
        <p:txBody>
          <a:bodyPr wrap="square" lIns="45720" tIns="18288" rIns="45720" bIns="18288" anchor="ctr">
            <a:spAutoFit/>
          </a:bodyPr>
          <a:lstStyle/>
          <a:p>
            <a:pPr algn="ctr">
              <a:lnSpc>
                <a:spcPct val="115000"/>
              </a:lnSpc>
            </a:pPr>
            <a:r>
              <a:rPr sz="1300" b="1">
                <a:solidFill>
                  <a:srgbClr val="FFFFFF"/>
                </a:solidFill>
                <a:latin typeface="Yu Gothic UI"/>
              </a:rPr>
              <a:t>A</a:t>
            </a:r>
          </a:p>
        </p:txBody>
      </p:sp>
      <p:sp>
        <p:nvSpPr>
          <p:cNvPr id="26" name="TextBox 25"/>
          <p:cNvSpPr txBox="1"/>
          <p:nvPr/>
        </p:nvSpPr>
        <p:spPr>
          <a:xfrm>
            <a:off x="1051560" y="4059936"/>
            <a:ext cx="7589520" cy="612648"/>
          </a:xfrm>
          <a:prstGeom prst="rect">
            <a:avLst/>
          </a:prstGeom>
          <a:noFill/>
        </p:spPr>
        <p:txBody>
          <a:bodyPr wrap="square" lIns="45720" tIns="18288" rIns="45720" bIns="18288" anchor="t">
            <a:spAutoFit/>
          </a:bodyPr>
          <a:lstStyle/>
          <a:p>
            <a:pPr algn="l">
              <a:lnSpc>
                <a:spcPct val="135000"/>
              </a:lnSpc>
            </a:pPr>
            <a:r>
              <a:rPr sz="1000" b="0">
                <a:solidFill>
                  <a:srgbClr val="36454F"/>
                </a:solidFill>
                <a:latin typeface="Yu Gothic UI"/>
              </a:rPr>
              <a:t>金額設定や人員単価の変更は、変更後に新しく取込む日報データから反映される仕組みです。過去の登録済みデータには自動で反映されないため、必要な場合は仲に連絡してください。</a:t>
            </a:r>
          </a:p>
        </p:txBody>
      </p:sp>
      <p:sp>
        <p:nvSpPr>
          <p:cNvPr id="27" name="TextBox 26"/>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28" name="TextBox 27"/>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48 / 53</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11</a:t>
            </a:r>
            <a:r>
              <a:rPr sz="2000" b="0">
                <a:solidFill>
                  <a:srgbClr val="3457D5"/>
                </a:solidFill>
                <a:latin typeface="Yu Gothic UI"/>
              </a:rPr>
              <a:t>　</a:t>
            </a:r>
            <a:r>
              <a:rPr sz="2000" b="1">
                <a:solidFill>
                  <a:srgbClr val="36454F"/>
                </a:solidFill>
                <a:latin typeface="Yu Gothic UI"/>
              </a:rPr>
              <a:t>注意事項・よくある質問</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他の人が更新した内容が反映されない場合などのトラブル対応です。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8321040" cy="1115568"/>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1792" y="1371600"/>
            <a:ext cx="347472" cy="347472"/>
          </a:xfrm>
          <a:prstGeom prst="roundRect">
            <a:avLst>
              <a:gd name="adj" fmla="val 5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371600"/>
            <a:ext cx="347472" cy="347472"/>
          </a:xfrm>
          <a:prstGeom prst="rect">
            <a:avLst/>
          </a:prstGeom>
          <a:noFill/>
        </p:spPr>
        <p:txBody>
          <a:bodyPr wrap="square" lIns="45720" tIns="18288" rIns="45720" bIns="18288" anchor="ctr">
            <a:spAutoFit/>
          </a:bodyPr>
          <a:lstStyle/>
          <a:p>
            <a:pPr algn="ctr">
              <a:lnSpc>
                <a:spcPct val="115000"/>
              </a:lnSpc>
            </a:pPr>
            <a:r>
              <a:rPr sz="1300" b="1">
                <a:solidFill>
                  <a:srgbClr val="FFFFFF"/>
                </a:solidFill>
                <a:latin typeface="Yu Gothic UI"/>
              </a:rPr>
              <a:t>Q</a:t>
            </a:r>
          </a:p>
        </p:txBody>
      </p:sp>
      <p:sp>
        <p:nvSpPr>
          <p:cNvPr id="9" name="TextBox 8"/>
          <p:cNvSpPr txBox="1"/>
          <p:nvPr/>
        </p:nvSpPr>
        <p:spPr>
          <a:xfrm>
            <a:off x="1051560" y="1353312"/>
            <a:ext cx="7589520" cy="384048"/>
          </a:xfrm>
          <a:prstGeom prst="rect">
            <a:avLst/>
          </a:prstGeom>
          <a:noFill/>
        </p:spPr>
        <p:txBody>
          <a:bodyPr wrap="square" lIns="45720" tIns="18288" rIns="45720" bIns="18288" anchor="ctr">
            <a:spAutoFit/>
          </a:bodyPr>
          <a:lstStyle/>
          <a:p>
            <a:pPr algn="l">
              <a:lnSpc>
                <a:spcPct val="130000"/>
              </a:lnSpc>
            </a:pPr>
            <a:r>
              <a:rPr sz="1100" b="1">
                <a:solidFill>
                  <a:srgbClr val="36454F"/>
                </a:solidFill>
                <a:latin typeface="Yu Gothic UI"/>
              </a:rPr>
              <a:t>他の人が日報を取込んだのに、自分の画面に反映されません。</a:t>
            </a:r>
          </a:p>
        </p:txBody>
      </p:sp>
      <p:sp>
        <p:nvSpPr>
          <p:cNvPr id="10" name="Rounded Rectangle 9"/>
          <p:cNvSpPr/>
          <p:nvPr/>
        </p:nvSpPr>
        <p:spPr>
          <a:xfrm>
            <a:off x="621792" y="1755648"/>
            <a:ext cx="347472" cy="347472"/>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1792" y="1755648"/>
            <a:ext cx="347472" cy="347472"/>
          </a:xfrm>
          <a:prstGeom prst="rect">
            <a:avLst/>
          </a:prstGeom>
          <a:noFill/>
        </p:spPr>
        <p:txBody>
          <a:bodyPr wrap="square" lIns="45720" tIns="18288" rIns="45720" bIns="18288" anchor="ctr">
            <a:spAutoFit/>
          </a:bodyPr>
          <a:lstStyle/>
          <a:p>
            <a:pPr algn="ctr">
              <a:lnSpc>
                <a:spcPct val="115000"/>
              </a:lnSpc>
            </a:pPr>
            <a:r>
              <a:rPr sz="1300" b="1">
                <a:solidFill>
                  <a:srgbClr val="FFFFFF"/>
                </a:solidFill>
                <a:latin typeface="Yu Gothic UI"/>
              </a:rPr>
              <a:t>A</a:t>
            </a:r>
          </a:p>
        </p:txBody>
      </p:sp>
      <p:sp>
        <p:nvSpPr>
          <p:cNvPr id="12" name="TextBox 11"/>
          <p:cNvSpPr txBox="1"/>
          <p:nvPr/>
        </p:nvSpPr>
        <p:spPr>
          <a:xfrm>
            <a:off x="1051560" y="1737360"/>
            <a:ext cx="7589520" cy="612648"/>
          </a:xfrm>
          <a:prstGeom prst="rect">
            <a:avLst/>
          </a:prstGeom>
          <a:noFill/>
        </p:spPr>
        <p:txBody>
          <a:bodyPr wrap="square" lIns="45720" tIns="18288" rIns="45720" bIns="18288" anchor="t">
            <a:spAutoFit/>
          </a:bodyPr>
          <a:lstStyle/>
          <a:p>
            <a:pPr algn="l">
              <a:lnSpc>
                <a:spcPct val="135000"/>
              </a:lnSpc>
            </a:pPr>
            <a:r>
              <a:rPr sz="1000" b="0">
                <a:solidFill>
                  <a:srgbClr val="36454F"/>
                </a:solidFill>
                <a:latin typeface="Yu Gothic UI"/>
              </a:rPr>
              <a:t>ダッシュボード以外の画面を開いている間は自動更新されません。画面右上の「🔄 更新」ボタン、または Ctrl + R で手動更新してください。</a:t>
            </a:r>
          </a:p>
        </p:txBody>
      </p:sp>
      <p:sp>
        <p:nvSpPr>
          <p:cNvPr id="13" name="Rounded Rectangle 12"/>
          <p:cNvSpPr/>
          <p:nvPr/>
        </p:nvSpPr>
        <p:spPr>
          <a:xfrm>
            <a:off x="457200" y="2441448"/>
            <a:ext cx="8321040" cy="1115568"/>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21792" y="2532888"/>
            <a:ext cx="347472" cy="347472"/>
          </a:xfrm>
          <a:prstGeom prst="roundRect">
            <a:avLst>
              <a:gd name="adj" fmla="val 5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1792" y="2532888"/>
            <a:ext cx="347472" cy="347472"/>
          </a:xfrm>
          <a:prstGeom prst="rect">
            <a:avLst/>
          </a:prstGeom>
          <a:noFill/>
        </p:spPr>
        <p:txBody>
          <a:bodyPr wrap="square" lIns="45720" tIns="18288" rIns="45720" bIns="18288" anchor="ctr">
            <a:spAutoFit/>
          </a:bodyPr>
          <a:lstStyle/>
          <a:p>
            <a:pPr algn="ctr">
              <a:lnSpc>
                <a:spcPct val="115000"/>
              </a:lnSpc>
            </a:pPr>
            <a:r>
              <a:rPr sz="1300" b="1">
                <a:solidFill>
                  <a:srgbClr val="FFFFFF"/>
                </a:solidFill>
                <a:latin typeface="Yu Gothic UI"/>
              </a:rPr>
              <a:t>Q</a:t>
            </a:r>
          </a:p>
        </p:txBody>
      </p:sp>
      <p:sp>
        <p:nvSpPr>
          <p:cNvPr id="16" name="TextBox 15"/>
          <p:cNvSpPr txBox="1"/>
          <p:nvPr/>
        </p:nvSpPr>
        <p:spPr>
          <a:xfrm>
            <a:off x="1051560" y="2514600"/>
            <a:ext cx="7589520" cy="384048"/>
          </a:xfrm>
          <a:prstGeom prst="rect">
            <a:avLst/>
          </a:prstGeom>
          <a:noFill/>
        </p:spPr>
        <p:txBody>
          <a:bodyPr wrap="square" lIns="45720" tIns="18288" rIns="45720" bIns="18288" anchor="ctr">
            <a:spAutoFit/>
          </a:bodyPr>
          <a:lstStyle/>
          <a:p>
            <a:pPr algn="l">
              <a:lnSpc>
                <a:spcPct val="130000"/>
              </a:lnSpc>
            </a:pPr>
            <a:r>
              <a:rPr sz="1100" b="1">
                <a:solidFill>
                  <a:srgbClr val="36454F"/>
                </a:solidFill>
                <a:latin typeface="Yu Gothic UI"/>
              </a:rPr>
              <a:t>操作を間違えてしまいました。元に戻せますか？</a:t>
            </a:r>
          </a:p>
        </p:txBody>
      </p:sp>
      <p:sp>
        <p:nvSpPr>
          <p:cNvPr id="17" name="Rounded Rectangle 16"/>
          <p:cNvSpPr/>
          <p:nvPr/>
        </p:nvSpPr>
        <p:spPr>
          <a:xfrm>
            <a:off x="621792" y="2916936"/>
            <a:ext cx="347472" cy="347472"/>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1792" y="2916936"/>
            <a:ext cx="347472" cy="347472"/>
          </a:xfrm>
          <a:prstGeom prst="rect">
            <a:avLst/>
          </a:prstGeom>
          <a:noFill/>
        </p:spPr>
        <p:txBody>
          <a:bodyPr wrap="square" lIns="45720" tIns="18288" rIns="45720" bIns="18288" anchor="ctr">
            <a:spAutoFit/>
          </a:bodyPr>
          <a:lstStyle/>
          <a:p>
            <a:pPr algn="ctr">
              <a:lnSpc>
                <a:spcPct val="115000"/>
              </a:lnSpc>
            </a:pPr>
            <a:r>
              <a:rPr sz="1300" b="1">
                <a:solidFill>
                  <a:srgbClr val="FFFFFF"/>
                </a:solidFill>
                <a:latin typeface="Yu Gothic UI"/>
              </a:rPr>
              <a:t>A</a:t>
            </a:r>
          </a:p>
        </p:txBody>
      </p:sp>
      <p:sp>
        <p:nvSpPr>
          <p:cNvPr id="19" name="TextBox 18"/>
          <p:cNvSpPr txBox="1"/>
          <p:nvPr/>
        </p:nvSpPr>
        <p:spPr>
          <a:xfrm>
            <a:off x="1051560" y="2898648"/>
            <a:ext cx="7589520" cy="612648"/>
          </a:xfrm>
          <a:prstGeom prst="rect">
            <a:avLst/>
          </a:prstGeom>
          <a:noFill/>
        </p:spPr>
        <p:txBody>
          <a:bodyPr wrap="square" lIns="45720" tIns="18288" rIns="45720" bIns="18288" anchor="t">
            <a:spAutoFit/>
          </a:bodyPr>
          <a:lstStyle/>
          <a:p>
            <a:pPr algn="l">
              <a:lnSpc>
                <a:spcPct val="135000"/>
              </a:lnSpc>
            </a:pPr>
            <a:r>
              <a:rPr sz="1000" b="0" dirty="0" err="1">
                <a:solidFill>
                  <a:srgbClr val="36454F"/>
                </a:solidFill>
                <a:latin typeface="Yu Gothic UI"/>
              </a:rPr>
              <a:t>属性変更・区分コードの編集・現場名の編集などは、Ctrl</a:t>
            </a:r>
            <a:r>
              <a:rPr sz="1000" b="0" dirty="0">
                <a:solidFill>
                  <a:srgbClr val="36454F"/>
                </a:solidFill>
                <a:latin typeface="Yu Gothic UI"/>
              </a:rPr>
              <a:t> + Z で最大10回まで元に戻せます。やり直したい場合は Ctrl + Y </a:t>
            </a:r>
            <a:r>
              <a:rPr sz="1000" b="0" dirty="0" err="1">
                <a:solidFill>
                  <a:srgbClr val="36454F"/>
                </a:solidFill>
                <a:latin typeface="Yu Gothic UI"/>
              </a:rPr>
              <a:t>を押してください。日報の取込・アーカイブ操作は元に戻せないため、慎重に実行してください</a:t>
            </a:r>
            <a:r>
              <a:rPr sz="1000" b="0" dirty="0">
                <a:solidFill>
                  <a:srgbClr val="36454F"/>
                </a:solidFill>
                <a:latin typeface="Yu Gothic UI"/>
              </a:rPr>
              <a:t>。</a:t>
            </a:r>
          </a:p>
        </p:txBody>
      </p:sp>
      <p:sp>
        <p:nvSpPr>
          <p:cNvPr id="20" name="Rounded Rectangle 19"/>
          <p:cNvSpPr/>
          <p:nvPr/>
        </p:nvSpPr>
        <p:spPr>
          <a:xfrm>
            <a:off x="457200" y="3602736"/>
            <a:ext cx="8321040" cy="1115568"/>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21792" y="3694176"/>
            <a:ext cx="347472" cy="347472"/>
          </a:xfrm>
          <a:prstGeom prst="roundRect">
            <a:avLst>
              <a:gd name="adj" fmla="val 5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1792" y="3694176"/>
            <a:ext cx="347472" cy="347472"/>
          </a:xfrm>
          <a:prstGeom prst="rect">
            <a:avLst/>
          </a:prstGeom>
          <a:noFill/>
        </p:spPr>
        <p:txBody>
          <a:bodyPr wrap="square" lIns="45720" tIns="18288" rIns="45720" bIns="18288" anchor="ctr">
            <a:spAutoFit/>
          </a:bodyPr>
          <a:lstStyle/>
          <a:p>
            <a:pPr algn="ctr">
              <a:lnSpc>
                <a:spcPct val="115000"/>
              </a:lnSpc>
            </a:pPr>
            <a:r>
              <a:rPr sz="1300" b="1">
                <a:solidFill>
                  <a:srgbClr val="FFFFFF"/>
                </a:solidFill>
                <a:latin typeface="Yu Gothic UI"/>
              </a:rPr>
              <a:t>Q</a:t>
            </a:r>
          </a:p>
        </p:txBody>
      </p:sp>
      <p:sp>
        <p:nvSpPr>
          <p:cNvPr id="23" name="TextBox 22"/>
          <p:cNvSpPr txBox="1"/>
          <p:nvPr/>
        </p:nvSpPr>
        <p:spPr>
          <a:xfrm>
            <a:off x="1051560" y="3675888"/>
            <a:ext cx="7589520" cy="384048"/>
          </a:xfrm>
          <a:prstGeom prst="rect">
            <a:avLst/>
          </a:prstGeom>
          <a:noFill/>
        </p:spPr>
        <p:txBody>
          <a:bodyPr wrap="square" lIns="45720" tIns="18288" rIns="45720" bIns="18288" anchor="ctr">
            <a:spAutoFit/>
          </a:bodyPr>
          <a:lstStyle/>
          <a:p>
            <a:pPr algn="l">
              <a:lnSpc>
                <a:spcPct val="130000"/>
              </a:lnSpc>
            </a:pPr>
            <a:r>
              <a:rPr sz="1100" b="1">
                <a:solidFill>
                  <a:srgbClr val="36454F"/>
                </a:solidFill>
                <a:latin typeface="Yu Gothic UI"/>
              </a:rPr>
              <a:t>ソフトの動作が遅い気がします。</a:t>
            </a:r>
          </a:p>
        </p:txBody>
      </p:sp>
      <p:sp>
        <p:nvSpPr>
          <p:cNvPr id="24" name="Rounded Rectangle 23"/>
          <p:cNvSpPr/>
          <p:nvPr/>
        </p:nvSpPr>
        <p:spPr>
          <a:xfrm>
            <a:off x="621792" y="4078224"/>
            <a:ext cx="347472" cy="347472"/>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1792" y="4078224"/>
            <a:ext cx="347472" cy="347472"/>
          </a:xfrm>
          <a:prstGeom prst="rect">
            <a:avLst/>
          </a:prstGeom>
          <a:noFill/>
        </p:spPr>
        <p:txBody>
          <a:bodyPr wrap="square" lIns="45720" tIns="18288" rIns="45720" bIns="18288" anchor="ctr">
            <a:spAutoFit/>
          </a:bodyPr>
          <a:lstStyle/>
          <a:p>
            <a:pPr algn="ctr">
              <a:lnSpc>
                <a:spcPct val="115000"/>
              </a:lnSpc>
            </a:pPr>
            <a:r>
              <a:rPr sz="1300" b="1">
                <a:solidFill>
                  <a:srgbClr val="FFFFFF"/>
                </a:solidFill>
                <a:latin typeface="Yu Gothic UI"/>
              </a:rPr>
              <a:t>A</a:t>
            </a:r>
          </a:p>
        </p:txBody>
      </p:sp>
      <p:sp>
        <p:nvSpPr>
          <p:cNvPr id="26" name="TextBox 25"/>
          <p:cNvSpPr txBox="1"/>
          <p:nvPr/>
        </p:nvSpPr>
        <p:spPr>
          <a:xfrm>
            <a:off x="1051560" y="4059936"/>
            <a:ext cx="7589520" cy="612648"/>
          </a:xfrm>
          <a:prstGeom prst="rect">
            <a:avLst/>
          </a:prstGeom>
          <a:noFill/>
        </p:spPr>
        <p:txBody>
          <a:bodyPr wrap="square" lIns="45720" tIns="18288" rIns="45720" bIns="18288" anchor="t">
            <a:spAutoFit/>
          </a:bodyPr>
          <a:lstStyle/>
          <a:p>
            <a:pPr algn="l">
              <a:lnSpc>
                <a:spcPct val="135000"/>
              </a:lnSpc>
            </a:pPr>
            <a:r>
              <a:rPr sz="1000" b="0">
                <a:solidFill>
                  <a:srgbClr val="36454F"/>
                </a:solidFill>
                <a:latin typeface="Yu Gothic UI"/>
              </a:rPr>
              <a:t>DB内の登録現場が増えると、初回読込みに時間がかかることがあります。使わない現場をアーカイブしたり、不要なデータを完全削除することで改善する場合があります。改善しない場合は、仲に連絡してください。</a:t>
            </a:r>
          </a:p>
        </p:txBody>
      </p:sp>
      <p:sp>
        <p:nvSpPr>
          <p:cNvPr id="27" name="TextBox 26"/>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28" name="TextBox 27"/>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49 / 53</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12</a:t>
            </a:r>
            <a:r>
              <a:rPr sz="2000" b="0">
                <a:solidFill>
                  <a:srgbClr val="3457D5"/>
                </a:solidFill>
                <a:latin typeface="Yu Gothic UI"/>
              </a:rPr>
              <a:t>　</a:t>
            </a:r>
            <a:r>
              <a:rPr sz="2000" b="1">
                <a:solidFill>
                  <a:srgbClr val="36454F"/>
                </a:solidFill>
                <a:latin typeface="Yu Gothic UI"/>
              </a:rPr>
              <a:t>インストールとアップデート</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EA_CostManager のインストール手順を説明します。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1908810" cy="23317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190881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280160"/>
            <a:ext cx="190881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1</a:t>
            </a:r>
          </a:p>
        </p:txBody>
      </p:sp>
      <p:sp>
        <p:nvSpPr>
          <p:cNvPr id="9" name="TextBox 8"/>
          <p:cNvSpPr txBox="1"/>
          <p:nvPr/>
        </p:nvSpPr>
        <p:spPr>
          <a:xfrm>
            <a:off x="548640" y="1664208"/>
            <a:ext cx="172593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インストーラーを受け取る</a:t>
            </a:r>
          </a:p>
        </p:txBody>
      </p:sp>
      <p:sp>
        <p:nvSpPr>
          <p:cNvPr id="10" name="TextBox 9"/>
          <p:cNvSpPr txBox="1"/>
          <p:nvPr/>
        </p:nvSpPr>
        <p:spPr>
          <a:xfrm>
            <a:off x="548640" y="2057400"/>
            <a:ext cx="1725930" cy="146304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事務から配布された「EA_CostManager_Setup_v1.0.1.exe」を、デスクトップなどに保存します。</a:t>
            </a:r>
          </a:p>
        </p:txBody>
      </p:sp>
      <p:sp>
        <p:nvSpPr>
          <p:cNvPr id="11" name="Right Arrow 10"/>
          <p:cNvSpPr/>
          <p:nvPr/>
        </p:nvSpPr>
        <p:spPr>
          <a:xfrm>
            <a:off x="2384298" y="2336292"/>
            <a:ext cx="201168" cy="219456"/>
          </a:xfrm>
          <a:prstGeom prst="rightArrow">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594610" y="1280160"/>
            <a:ext cx="1908810" cy="23317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94610" y="1280160"/>
            <a:ext cx="190881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94610" y="1280160"/>
            <a:ext cx="190881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2</a:t>
            </a:r>
          </a:p>
        </p:txBody>
      </p:sp>
      <p:sp>
        <p:nvSpPr>
          <p:cNvPr id="15" name="TextBox 14"/>
          <p:cNvSpPr txBox="1"/>
          <p:nvPr/>
        </p:nvSpPr>
        <p:spPr>
          <a:xfrm>
            <a:off x="2686050" y="1664208"/>
            <a:ext cx="172593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インストーラーを実行</a:t>
            </a:r>
          </a:p>
        </p:txBody>
      </p:sp>
      <p:sp>
        <p:nvSpPr>
          <p:cNvPr id="16" name="TextBox 15"/>
          <p:cNvSpPr txBox="1"/>
          <p:nvPr/>
        </p:nvSpPr>
        <p:spPr>
          <a:xfrm>
            <a:off x="2686050" y="2057400"/>
            <a:ext cx="1725930" cy="146304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ファイルをダブルクリックして実行します。Windows のセキュリティ警告が出た場合は「実行」を選択してください。</a:t>
            </a:r>
          </a:p>
        </p:txBody>
      </p:sp>
      <p:sp>
        <p:nvSpPr>
          <p:cNvPr id="17" name="Right Arrow 16"/>
          <p:cNvSpPr/>
          <p:nvPr/>
        </p:nvSpPr>
        <p:spPr>
          <a:xfrm>
            <a:off x="4521708" y="2336292"/>
            <a:ext cx="201168" cy="219456"/>
          </a:xfrm>
          <a:prstGeom prst="rightArrow">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732020" y="1280160"/>
            <a:ext cx="1908810" cy="23317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732020" y="1280160"/>
            <a:ext cx="190881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732020" y="1280160"/>
            <a:ext cx="190881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3</a:t>
            </a:r>
          </a:p>
        </p:txBody>
      </p:sp>
      <p:sp>
        <p:nvSpPr>
          <p:cNvPr id="21" name="TextBox 20"/>
          <p:cNvSpPr txBox="1"/>
          <p:nvPr/>
        </p:nvSpPr>
        <p:spPr>
          <a:xfrm>
            <a:off x="4823460" y="1664208"/>
            <a:ext cx="172593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画面の指示に従う</a:t>
            </a:r>
          </a:p>
        </p:txBody>
      </p:sp>
      <p:sp>
        <p:nvSpPr>
          <p:cNvPr id="22" name="TextBox 21"/>
          <p:cNvSpPr txBox="1"/>
          <p:nvPr/>
        </p:nvSpPr>
        <p:spPr>
          <a:xfrm>
            <a:off x="4823460" y="2057400"/>
            <a:ext cx="1725930" cy="146304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インストール画面の指示に従って「次へ」を押していきます。インストール先はそのままでOKです。</a:t>
            </a:r>
          </a:p>
        </p:txBody>
      </p:sp>
      <p:sp>
        <p:nvSpPr>
          <p:cNvPr id="23" name="Right Arrow 22"/>
          <p:cNvSpPr/>
          <p:nvPr/>
        </p:nvSpPr>
        <p:spPr>
          <a:xfrm>
            <a:off x="6659118" y="2336292"/>
            <a:ext cx="201168" cy="219456"/>
          </a:xfrm>
          <a:prstGeom prst="rightArrow">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869430" y="1280160"/>
            <a:ext cx="1908810" cy="233172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869430" y="1280160"/>
            <a:ext cx="1908810" cy="292608"/>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69430" y="1280160"/>
            <a:ext cx="1908810" cy="292608"/>
          </a:xfrm>
          <a:prstGeom prst="rect">
            <a:avLst/>
          </a:prstGeom>
          <a:noFill/>
        </p:spPr>
        <p:txBody>
          <a:bodyPr wrap="square" lIns="45720" tIns="18288" rIns="45720" bIns="18288" anchor="ctr">
            <a:spAutoFit/>
          </a:bodyPr>
          <a:lstStyle/>
          <a:p>
            <a:pPr algn="ctr">
              <a:lnSpc>
                <a:spcPct val="115000"/>
              </a:lnSpc>
            </a:pPr>
            <a:r>
              <a:rPr sz="1050" b="1">
                <a:solidFill>
                  <a:srgbClr val="FFFFFF"/>
                </a:solidFill>
                <a:latin typeface="Yu Gothic UI"/>
              </a:rPr>
              <a:t>STEP 4</a:t>
            </a:r>
          </a:p>
        </p:txBody>
      </p:sp>
      <p:sp>
        <p:nvSpPr>
          <p:cNvPr id="27" name="TextBox 26"/>
          <p:cNvSpPr txBox="1"/>
          <p:nvPr/>
        </p:nvSpPr>
        <p:spPr>
          <a:xfrm>
            <a:off x="6960870" y="1664208"/>
            <a:ext cx="1725930" cy="365760"/>
          </a:xfrm>
          <a:prstGeom prst="rect">
            <a:avLst/>
          </a:prstGeom>
          <a:noFill/>
        </p:spPr>
        <p:txBody>
          <a:bodyPr wrap="square" lIns="45720" tIns="18288" rIns="45720" bIns="18288" anchor="t">
            <a:spAutoFit/>
          </a:bodyPr>
          <a:lstStyle/>
          <a:p>
            <a:pPr algn="ctr">
              <a:lnSpc>
                <a:spcPct val="120000"/>
              </a:lnSpc>
            </a:pPr>
            <a:r>
              <a:rPr sz="1150" b="1">
                <a:solidFill>
                  <a:srgbClr val="3457D5"/>
                </a:solidFill>
                <a:latin typeface="Yu Gothic UI"/>
              </a:rPr>
              <a:t>完了 → デスクトップから起動</a:t>
            </a:r>
          </a:p>
        </p:txBody>
      </p:sp>
      <p:sp>
        <p:nvSpPr>
          <p:cNvPr id="28" name="TextBox 27"/>
          <p:cNvSpPr txBox="1"/>
          <p:nvPr/>
        </p:nvSpPr>
        <p:spPr>
          <a:xfrm>
            <a:off x="6960870" y="2057400"/>
            <a:ext cx="1725930" cy="1463040"/>
          </a:xfrm>
          <a:prstGeom prst="rect">
            <a:avLst/>
          </a:prstGeom>
          <a:noFill/>
        </p:spPr>
        <p:txBody>
          <a:bodyPr wrap="square" lIns="45720" tIns="18288" rIns="45720" bIns="18288" anchor="t">
            <a:spAutoFit/>
          </a:bodyPr>
          <a:lstStyle/>
          <a:p>
            <a:pPr algn="l">
              <a:lnSpc>
                <a:spcPct val="130000"/>
              </a:lnSpc>
            </a:pPr>
            <a:r>
              <a:rPr sz="950" b="0">
                <a:solidFill>
                  <a:srgbClr val="36454F"/>
                </a:solidFill>
                <a:latin typeface="Yu Gothic UI"/>
              </a:rPr>
              <a:t>インストールが完了するとデスクトップにアイコンが作成されます。ダブルクリックして起動できます。</a:t>
            </a:r>
          </a:p>
        </p:txBody>
      </p:sp>
      <p:sp>
        <p:nvSpPr>
          <p:cNvPr id="29" name="Rounded Rectangle 28"/>
          <p:cNvSpPr/>
          <p:nvPr/>
        </p:nvSpPr>
        <p:spPr>
          <a:xfrm>
            <a:off x="457200" y="3749039"/>
            <a:ext cx="8321040" cy="86868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3840479"/>
            <a:ext cx="7955280" cy="685800"/>
          </a:xfrm>
          <a:prstGeom prst="rect">
            <a:avLst/>
          </a:prstGeom>
          <a:noFill/>
        </p:spPr>
        <p:txBody>
          <a:bodyPr wrap="square" lIns="45720" tIns="18288" rIns="45720" bIns="18288" anchor="ctr">
            <a:spAutoFit/>
          </a:bodyPr>
          <a:lstStyle/>
          <a:p>
            <a:pPr algn="l">
              <a:lnSpc>
                <a:spcPct val="135000"/>
              </a:lnSpc>
            </a:pPr>
            <a:r>
              <a:rPr sz="1300" b="0">
                <a:solidFill>
                  <a:srgbClr val="E88B3A"/>
                </a:solidFill>
                <a:latin typeface="Yu Gothic UI"/>
              </a:rPr>
              <a:t>💡  </a:t>
            </a:r>
            <a:r>
              <a:rPr sz="1100" b="1">
                <a:solidFill>
                  <a:srgbClr val="3457D5"/>
                </a:solidFill>
                <a:latin typeface="Yu Gothic UI"/>
              </a:rPr>
              <a:t>補足：</a:t>
            </a:r>
            <a:r>
              <a:rPr sz="1050" b="0">
                <a:solidFill>
                  <a:srgbClr val="36454F"/>
                </a:solidFill>
                <a:latin typeface="Yu Gothic UI"/>
              </a:rPr>
              <a:t>インストーラーは Inno Setup で作成されています。アンインストールはコントロールパネルの「プログラムのアンインストール」から行えます。</a:t>
            </a:r>
          </a:p>
          <a:p>
            <a:pPr algn="l">
              <a:lnSpc>
                <a:spcPct val="135000"/>
              </a:lnSpc>
            </a:pPr>
            <a:r>
              <a:rPr sz="1050" b="0">
                <a:solidFill>
                  <a:srgbClr val="36454F"/>
                </a:solidFill>
                <a:latin typeface="Yu Gothic UI"/>
              </a:rPr>
              <a:t>アンインストールしても、ユーザー設定（ウィンドウ位置・絞り込みタブの設定）は残るので、再インストール時にそのまま引き継がれます。</a:t>
            </a:r>
          </a:p>
        </p:txBody>
      </p:sp>
      <p:sp>
        <p:nvSpPr>
          <p:cNvPr id="31" name="TextBox 30"/>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32" name="TextBox 31"/>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50 / 53</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12</a:t>
            </a:r>
            <a:r>
              <a:rPr sz="2000" b="0">
                <a:solidFill>
                  <a:srgbClr val="3457D5"/>
                </a:solidFill>
                <a:latin typeface="Yu Gothic UI"/>
              </a:rPr>
              <a:t>　</a:t>
            </a:r>
            <a:r>
              <a:rPr sz="2000" b="1">
                <a:solidFill>
                  <a:srgbClr val="36454F"/>
                </a:solidFill>
                <a:latin typeface="Yu Gothic UI"/>
              </a:rPr>
              <a:t>インストールとアップデート</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新しいバージョンが公開されると、起動時にバナーで通知されます。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1280160"/>
            <a:ext cx="8321040"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280160"/>
            <a:ext cx="1828800" cy="502920"/>
          </a:xfrm>
          <a:prstGeom prst="rect">
            <a:avLst/>
          </a:prstGeom>
          <a:noFill/>
        </p:spPr>
        <p:txBody>
          <a:bodyPr wrap="square" lIns="45720" tIns="18288" rIns="45720" bIns="18288" anchor="ctr">
            <a:spAutoFit/>
          </a:bodyPr>
          <a:lstStyle/>
          <a:p>
            <a:pPr algn="l">
              <a:lnSpc>
                <a:spcPct val="115000"/>
              </a:lnSpc>
            </a:pPr>
            <a:r>
              <a:rPr sz="1200" b="1">
                <a:solidFill>
                  <a:srgbClr val="FFFFFF"/>
                </a:solidFill>
                <a:latin typeface="Yu Gothic UI"/>
              </a:rPr>
              <a:t>EA_CostManager</a:t>
            </a:r>
          </a:p>
        </p:txBody>
      </p:sp>
      <p:sp>
        <p:nvSpPr>
          <p:cNvPr id="8" name="Rounded Rectangle 7"/>
          <p:cNvSpPr/>
          <p:nvPr/>
        </p:nvSpPr>
        <p:spPr>
          <a:xfrm>
            <a:off x="2834640" y="1371600"/>
            <a:ext cx="4114800" cy="320040"/>
          </a:xfrm>
          <a:prstGeom prst="roundRect">
            <a:avLst>
              <a:gd name="adj" fmla="val 4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834640" y="1371600"/>
            <a:ext cx="4114800" cy="320040"/>
          </a:xfrm>
          <a:prstGeom prst="rect">
            <a:avLst/>
          </a:prstGeom>
          <a:noFill/>
        </p:spPr>
        <p:txBody>
          <a:bodyPr wrap="square" lIns="45720" tIns="18288" rIns="45720" bIns="18288" anchor="ctr">
            <a:spAutoFit/>
          </a:bodyPr>
          <a:lstStyle/>
          <a:p>
            <a:pPr algn="ctr">
              <a:lnSpc>
                <a:spcPct val="115000"/>
              </a:lnSpc>
            </a:pPr>
            <a:r>
              <a:rPr sz="1000" b="1">
                <a:solidFill>
                  <a:srgbClr val="FFFFFF"/>
                </a:solidFill>
                <a:latin typeface="Yu Gothic UI"/>
              </a:rPr>
              <a:t>🔔 新しいバージョンが利用可能です（クリックで更新）</a:t>
            </a:r>
          </a:p>
        </p:txBody>
      </p:sp>
      <p:sp>
        <p:nvSpPr>
          <p:cNvPr id="10" name="TextBox 9"/>
          <p:cNvSpPr txBox="1"/>
          <p:nvPr/>
        </p:nvSpPr>
        <p:spPr>
          <a:xfrm>
            <a:off x="7132320" y="1280160"/>
            <a:ext cx="1554480" cy="502920"/>
          </a:xfrm>
          <a:prstGeom prst="rect">
            <a:avLst/>
          </a:prstGeom>
          <a:noFill/>
        </p:spPr>
        <p:txBody>
          <a:bodyPr wrap="square" lIns="45720" tIns="18288" rIns="45720" bIns="18288" anchor="ctr">
            <a:spAutoFit/>
          </a:bodyPr>
          <a:lstStyle/>
          <a:p>
            <a:pPr algn="l">
              <a:lnSpc>
                <a:spcPct val="115000"/>
              </a:lnSpc>
            </a:pPr>
            <a:r>
              <a:rPr sz="1100" b="0">
                <a:solidFill>
                  <a:srgbClr val="CADCFC"/>
                </a:solidFill>
                <a:latin typeface="Yu Gothic UI"/>
              </a:rPr>
              <a:t>👤 仲 良智 さん</a:t>
            </a:r>
          </a:p>
        </p:txBody>
      </p:sp>
      <p:sp>
        <p:nvSpPr>
          <p:cNvPr id="11" name="TextBox 10"/>
          <p:cNvSpPr txBox="1"/>
          <p:nvPr/>
        </p:nvSpPr>
        <p:spPr>
          <a:xfrm>
            <a:off x="457200" y="2057400"/>
            <a:ext cx="8321040" cy="292608"/>
          </a:xfrm>
          <a:prstGeom prst="rect">
            <a:avLst/>
          </a:prstGeom>
          <a:noFill/>
        </p:spPr>
        <p:txBody>
          <a:bodyPr wrap="square" lIns="45720" tIns="18288" rIns="45720" bIns="18288" anchor="t">
            <a:spAutoFit/>
          </a:bodyPr>
          <a:lstStyle/>
          <a:p>
            <a:pPr algn="l">
              <a:lnSpc>
                <a:spcPct val="115000"/>
              </a:lnSpc>
            </a:pPr>
            <a:r>
              <a:rPr sz="1300" b="1">
                <a:solidFill>
                  <a:srgbClr val="3457D5"/>
                </a:solidFill>
                <a:latin typeface="Yu Gothic UI"/>
              </a:rPr>
              <a:t>アップデートの手順</a:t>
            </a:r>
          </a:p>
        </p:txBody>
      </p:sp>
      <p:sp>
        <p:nvSpPr>
          <p:cNvPr id="12" name="Rounded Rectangle 11"/>
          <p:cNvSpPr/>
          <p:nvPr/>
        </p:nvSpPr>
        <p:spPr>
          <a:xfrm>
            <a:off x="457200" y="2468880"/>
            <a:ext cx="8321040" cy="64008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94360" y="2587752"/>
            <a:ext cx="411480" cy="411480"/>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2587752"/>
            <a:ext cx="411480" cy="411480"/>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①</a:t>
            </a:r>
          </a:p>
        </p:txBody>
      </p:sp>
      <p:sp>
        <p:nvSpPr>
          <p:cNvPr id="15" name="TextBox 14"/>
          <p:cNvSpPr txBox="1"/>
          <p:nvPr/>
        </p:nvSpPr>
        <p:spPr>
          <a:xfrm>
            <a:off x="1143000" y="2532888"/>
            <a:ext cx="2286000" cy="292608"/>
          </a:xfrm>
          <a:prstGeom prst="rect">
            <a:avLst/>
          </a:prstGeom>
          <a:noFill/>
        </p:spPr>
        <p:txBody>
          <a:bodyPr wrap="square" lIns="45720" tIns="18288" rIns="45720" bIns="18288" anchor="t">
            <a:spAutoFit/>
          </a:bodyPr>
          <a:lstStyle/>
          <a:p>
            <a:pPr algn="l">
              <a:lnSpc>
                <a:spcPct val="115000"/>
              </a:lnSpc>
            </a:pPr>
            <a:r>
              <a:rPr sz="1100" b="1">
                <a:solidFill>
                  <a:srgbClr val="3457D5"/>
                </a:solidFill>
                <a:latin typeface="Yu Gothic UI"/>
              </a:rPr>
              <a:t>通知バナーをクリック</a:t>
            </a:r>
          </a:p>
        </p:txBody>
      </p:sp>
      <p:sp>
        <p:nvSpPr>
          <p:cNvPr id="16" name="TextBox 15"/>
          <p:cNvSpPr txBox="1"/>
          <p:nvPr/>
        </p:nvSpPr>
        <p:spPr>
          <a:xfrm>
            <a:off x="1143000" y="2798064"/>
            <a:ext cx="7498079" cy="292608"/>
          </a:xfrm>
          <a:prstGeom prst="rect">
            <a:avLst/>
          </a:prstGeom>
          <a:noFill/>
        </p:spPr>
        <p:txBody>
          <a:bodyPr wrap="square" lIns="45720" tIns="18288" rIns="45720" bIns="18288" anchor="t">
            <a:spAutoFit/>
          </a:bodyPr>
          <a:lstStyle/>
          <a:p>
            <a:pPr algn="l">
              <a:lnSpc>
                <a:spcPct val="115000"/>
              </a:lnSpc>
            </a:pPr>
            <a:r>
              <a:rPr sz="1000" b="0">
                <a:solidFill>
                  <a:srgbClr val="36454F"/>
                </a:solidFill>
                <a:latin typeface="Yu Gothic UI"/>
              </a:rPr>
              <a:t>ヘッダーバーに表示されている「🔔 新しいバージョンが利用可能です」のバナーをクリックします。</a:t>
            </a:r>
          </a:p>
        </p:txBody>
      </p:sp>
      <p:sp>
        <p:nvSpPr>
          <p:cNvPr id="17" name="Rounded Rectangle 16"/>
          <p:cNvSpPr/>
          <p:nvPr/>
        </p:nvSpPr>
        <p:spPr>
          <a:xfrm>
            <a:off x="457200" y="3182112"/>
            <a:ext cx="8321040" cy="64008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94360" y="3300984"/>
            <a:ext cx="411480" cy="411480"/>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3300984"/>
            <a:ext cx="411480" cy="411480"/>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②</a:t>
            </a:r>
          </a:p>
        </p:txBody>
      </p:sp>
      <p:sp>
        <p:nvSpPr>
          <p:cNvPr id="20" name="TextBox 19"/>
          <p:cNvSpPr txBox="1"/>
          <p:nvPr/>
        </p:nvSpPr>
        <p:spPr>
          <a:xfrm>
            <a:off x="1143000" y="3246120"/>
            <a:ext cx="2286000" cy="292608"/>
          </a:xfrm>
          <a:prstGeom prst="rect">
            <a:avLst/>
          </a:prstGeom>
          <a:noFill/>
        </p:spPr>
        <p:txBody>
          <a:bodyPr wrap="square" lIns="45720" tIns="18288" rIns="45720" bIns="18288" anchor="t">
            <a:spAutoFit/>
          </a:bodyPr>
          <a:lstStyle/>
          <a:p>
            <a:pPr algn="l">
              <a:lnSpc>
                <a:spcPct val="115000"/>
              </a:lnSpc>
            </a:pPr>
            <a:r>
              <a:rPr sz="1100" b="1">
                <a:solidFill>
                  <a:srgbClr val="3457D5"/>
                </a:solidFill>
                <a:latin typeface="Yu Gothic UI"/>
              </a:rPr>
              <a:t>更新内容を確認</a:t>
            </a:r>
          </a:p>
        </p:txBody>
      </p:sp>
      <p:sp>
        <p:nvSpPr>
          <p:cNvPr id="21" name="TextBox 20"/>
          <p:cNvSpPr txBox="1"/>
          <p:nvPr/>
        </p:nvSpPr>
        <p:spPr>
          <a:xfrm>
            <a:off x="1143000" y="3511296"/>
            <a:ext cx="7498079" cy="292608"/>
          </a:xfrm>
          <a:prstGeom prst="rect">
            <a:avLst/>
          </a:prstGeom>
          <a:noFill/>
        </p:spPr>
        <p:txBody>
          <a:bodyPr wrap="square" lIns="45720" tIns="18288" rIns="45720" bIns="18288" anchor="t">
            <a:spAutoFit/>
          </a:bodyPr>
          <a:lstStyle/>
          <a:p>
            <a:pPr algn="l">
              <a:lnSpc>
                <a:spcPct val="115000"/>
              </a:lnSpc>
            </a:pPr>
            <a:r>
              <a:rPr sz="1000" b="0">
                <a:solidFill>
                  <a:srgbClr val="36454F"/>
                </a:solidFill>
                <a:latin typeface="Yu Gothic UI"/>
              </a:rPr>
              <a:t>新しいバージョンの更新内容（追加機能・修正点）が表示されます。内容を確認して「更新を開始」を押します。</a:t>
            </a:r>
          </a:p>
        </p:txBody>
      </p:sp>
      <p:sp>
        <p:nvSpPr>
          <p:cNvPr id="22" name="Rounded Rectangle 21"/>
          <p:cNvSpPr/>
          <p:nvPr/>
        </p:nvSpPr>
        <p:spPr>
          <a:xfrm>
            <a:off x="457200" y="3895344"/>
            <a:ext cx="8321040" cy="64008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594360" y="4014216"/>
            <a:ext cx="411480" cy="411480"/>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94360" y="4014216"/>
            <a:ext cx="411480" cy="411480"/>
          </a:xfrm>
          <a:prstGeom prst="rect">
            <a:avLst/>
          </a:prstGeom>
          <a:noFill/>
        </p:spPr>
        <p:txBody>
          <a:bodyPr wrap="square" lIns="45720" tIns="18288" rIns="45720" bIns="18288" anchor="ctr">
            <a:spAutoFit/>
          </a:bodyPr>
          <a:lstStyle/>
          <a:p>
            <a:pPr algn="ctr">
              <a:lnSpc>
                <a:spcPct val="115000"/>
              </a:lnSpc>
            </a:pPr>
            <a:r>
              <a:rPr sz="1400" b="1">
                <a:solidFill>
                  <a:srgbClr val="FFFFFF"/>
                </a:solidFill>
                <a:latin typeface="Yu Gothic UI"/>
              </a:rPr>
              <a:t>③</a:t>
            </a:r>
          </a:p>
        </p:txBody>
      </p:sp>
      <p:sp>
        <p:nvSpPr>
          <p:cNvPr id="25" name="TextBox 24"/>
          <p:cNvSpPr txBox="1"/>
          <p:nvPr/>
        </p:nvSpPr>
        <p:spPr>
          <a:xfrm>
            <a:off x="1143000" y="3959352"/>
            <a:ext cx="2286000" cy="292608"/>
          </a:xfrm>
          <a:prstGeom prst="rect">
            <a:avLst/>
          </a:prstGeom>
          <a:noFill/>
        </p:spPr>
        <p:txBody>
          <a:bodyPr wrap="square" lIns="45720" tIns="18288" rIns="45720" bIns="18288" anchor="t">
            <a:spAutoFit/>
          </a:bodyPr>
          <a:lstStyle/>
          <a:p>
            <a:pPr algn="l">
              <a:lnSpc>
                <a:spcPct val="115000"/>
              </a:lnSpc>
            </a:pPr>
            <a:r>
              <a:rPr sz="1100" b="1">
                <a:solidFill>
                  <a:srgbClr val="3457D5"/>
                </a:solidFill>
                <a:latin typeface="Yu Gothic UI"/>
              </a:rPr>
              <a:t>自動でダウンロード・適用</a:t>
            </a:r>
          </a:p>
        </p:txBody>
      </p:sp>
      <p:sp>
        <p:nvSpPr>
          <p:cNvPr id="26" name="TextBox 25"/>
          <p:cNvSpPr txBox="1"/>
          <p:nvPr/>
        </p:nvSpPr>
        <p:spPr>
          <a:xfrm>
            <a:off x="1143000" y="4224528"/>
            <a:ext cx="7498079" cy="292608"/>
          </a:xfrm>
          <a:prstGeom prst="rect">
            <a:avLst/>
          </a:prstGeom>
          <a:noFill/>
        </p:spPr>
        <p:txBody>
          <a:bodyPr wrap="square" lIns="45720" tIns="18288" rIns="45720" bIns="18288" anchor="t">
            <a:spAutoFit/>
          </a:bodyPr>
          <a:lstStyle/>
          <a:p>
            <a:pPr algn="l">
              <a:lnSpc>
                <a:spcPct val="115000"/>
              </a:lnSpc>
            </a:pPr>
            <a:r>
              <a:rPr sz="1000" b="0">
                <a:solidFill>
                  <a:srgbClr val="36454F"/>
                </a:solidFill>
                <a:latin typeface="Yu Gothic UI"/>
              </a:rPr>
              <a:t>新しいバージョンが自動的にダウンロードされ、ソフトが再起動します。再起動後、新しいバージョンが使える状態になります。</a:t>
            </a:r>
          </a:p>
        </p:txBody>
      </p:sp>
      <p:sp>
        <p:nvSpPr>
          <p:cNvPr id="27" name="TextBox 26"/>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28" name="TextBox 27"/>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51 / 53</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12</a:t>
            </a:r>
            <a:r>
              <a:rPr sz="2000" b="0">
                <a:solidFill>
                  <a:srgbClr val="3457D5"/>
                </a:solidFill>
                <a:latin typeface="Yu Gothic UI"/>
              </a:rPr>
              <a:t>　</a:t>
            </a:r>
            <a:r>
              <a:rPr sz="2000" b="1">
                <a:solidFill>
                  <a:srgbClr val="36454F"/>
                </a:solidFill>
                <a:latin typeface="Yu Gothic UI"/>
              </a:rPr>
              <a:t>インストールとアップデート</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ユーザー設定とデータの保存場所について説明します。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4114800" cy="320040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4114800"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280160"/>
            <a:ext cx="457200" cy="502920"/>
          </a:xfrm>
          <a:prstGeom prst="rect">
            <a:avLst/>
          </a:prstGeom>
          <a:noFill/>
        </p:spPr>
        <p:txBody>
          <a:bodyPr wrap="square" lIns="45720" tIns="18288" rIns="45720" bIns="18288" anchor="ctr">
            <a:spAutoFit/>
          </a:bodyPr>
          <a:lstStyle/>
          <a:p>
            <a:pPr algn="ctr">
              <a:lnSpc>
                <a:spcPct val="115000"/>
              </a:lnSpc>
            </a:pPr>
            <a:r>
              <a:rPr sz="2000" b="0">
                <a:solidFill>
                  <a:srgbClr val="FFFFFF"/>
                </a:solidFill>
                <a:latin typeface="Yu Gothic UI"/>
              </a:rPr>
              <a:t>⚙️</a:t>
            </a:r>
          </a:p>
        </p:txBody>
      </p:sp>
      <p:sp>
        <p:nvSpPr>
          <p:cNvPr id="9" name="TextBox 8"/>
          <p:cNvSpPr txBox="1"/>
          <p:nvPr/>
        </p:nvSpPr>
        <p:spPr>
          <a:xfrm>
            <a:off x="1143000" y="1280160"/>
            <a:ext cx="3337560" cy="502920"/>
          </a:xfrm>
          <a:prstGeom prst="rect">
            <a:avLst/>
          </a:prstGeom>
          <a:noFill/>
        </p:spPr>
        <p:txBody>
          <a:bodyPr wrap="square" lIns="45720" tIns="18288" rIns="45720" bIns="18288" anchor="ctr">
            <a:spAutoFit/>
          </a:bodyPr>
          <a:lstStyle/>
          <a:p>
            <a:pPr algn="l">
              <a:lnSpc>
                <a:spcPct val="115000"/>
              </a:lnSpc>
            </a:pPr>
            <a:r>
              <a:rPr sz="1250" b="1">
                <a:solidFill>
                  <a:srgbClr val="FFFFFF"/>
                </a:solidFill>
                <a:latin typeface="Yu Gothic UI"/>
              </a:rPr>
              <a:t>ユーザー設定の保存場所</a:t>
            </a:r>
          </a:p>
        </p:txBody>
      </p:sp>
      <p:sp>
        <p:nvSpPr>
          <p:cNvPr id="10" name="Rounded Rectangle 9"/>
          <p:cNvSpPr/>
          <p:nvPr/>
        </p:nvSpPr>
        <p:spPr>
          <a:xfrm>
            <a:off x="685800" y="1920240"/>
            <a:ext cx="3657600" cy="457200"/>
          </a:xfrm>
          <a:prstGeom prst="roundRect">
            <a:avLst>
              <a:gd name="adj" fmla="val 4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1920240"/>
            <a:ext cx="3383280" cy="457200"/>
          </a:xfrm>
          <a:prstGeom prst="rect">
            <a:avLst/>
          </a:prstGeom>
          <a:noFill/>
        </p:spPr>
        <p:txBody>
          <a:bodyPr wrap="square" lIns="45720" tIns="18288" rIns="45720" bIns="18288" anchor="ctr">
            <a:spAutoFit/>
          </a:bodyPr>
          <a:lstStyle/>
          <a:p>
            <a:pPr algn="l">
              <a:lnSpc>
                <a:spcPct val="115000"/>
              </a:lnSpc>
            </a:pPr>
            <a:r>
              <a:rPr sz="1000" b="1">
                <a:solidFill>
                  <a:srgbClr val="CADCFC"/>
                </a:solidFill>
                <a:latin typeface="Yu Gothic UI"/>
              </a:rPr>
              <a:t>%LOCALAPPDATA%\01_EABASE Series\01_CostManager\</a:t>
            </a:r>
          </a:p>
        </p:txBody>
      </p:sp>
      <p:sp>
        <p:nvSpPr>
          <p:cNvPr id="12" name="TextBox 11"/>
          <p:cNvSpPr txBox="1"/>
          <p:nvPr/>
        </p:nvSpPr>
        <p:spPr>
          <a:xfrm>
            <a:off x="685800" y="2514600"/>
            <a:ext cx="3657600" cy="1828800"/>
          </a:xfrm>
          <a:prstGeom prst="rect">
            <a:avLst/>
          </a:prstGeom>
          <a:noFill/>
        </p:spPr>
        <p:txBody>
          <a:bodyPr wrap="square" lIns="45720" tIns="18288" rIns="45720" bIns="18288" anchor="t">
            <a:spAutoFit/>
          </a:bodyPr>
          <a:lstStyle/>
          <a:p>
            <a:pPr algn="l">
              <a:lnSpc>
                <a:spcPct val="140000"/>
              </a:lnSpc>
            </a:pPr>
            <a:r>
              <a:rPr sz="1050" b="0">
                <a:solidFill>
                  <a:srgbClr val="36454F"/>
                </a:solidFill>
                <a:latin typeface="Yu Gothic UI"/>
              </a:rPr>
              <a:t>ウィンドウのサイズ・位置、絞り込みタブの状態、最後に開いたタブなどがこの場所に保存されます。</a:t>
            </a:r>
          </a:p>
          <a:p>
            <a:pPr algn="l">
              <a:lnSpc>
                <a:spcPct val="140000"/>
              </a:lnSpc>
            </a:pPr>
            <a:endParaRPr sz="1050" b="0">
              <a:solidFill>
                <a:srgbClr val="36454F"/>
              </a:solidFill>
              <a:latin typeface="Yu Gothic UI"/>
            </a:endParaRPr>
          </a:p>
          <a:p>
            <a:pPr algn="l">
              <a:lnSpc>
                <a:spcPct val="140000"/>
              </a:lnSpc>
            </a:pPr>
            <a:r>
              <a:rPr sz="1050" b="0">
                <a:solidFill>
                  <a:srgbClr val="36454F"/>
                </a:solidFill>
                <a:latin typeface="Yu Gothic UI"/>
              </a:rPr>
              <a:t>パソコンごとに保存されるため、複数のパソコンで使う場合は設定がそれぞれ独立します。</a:t>
            </a:r>
          </a:p>
        </p:txBody>
      </p:sp>
      <p:sp>
        <p:nvSpPr>
          <p:cNvPr id="13" name="Rounded Rectangle 12"/>
          <p:cNvSpPr/>
          <p:nvPr/>
        </p:nvSpPr>
        <p:spPr>
          <a:xfrm>
            <a:off x="4690872" y="1280160"/>
            <a:ext cx="4114800" cy="320040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690872" y="1280160"/>
            <a:ext cx="4114800"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873752" y="1280160"/>
            <a:ext cx="457200" cy="502920"/>
          </a:xfrm>
          <a:prstGeom prst="rect">
            <a:avLst/>
          </a:prstGeom>
          <a:noFill/>
        </p:spPr>
        <p:txBody>
          <a:bodyPr wrap="square" lIns="45720" tIns="18288" rIns="45720" bIns="18288" anchor="ctr">
            <a:spAutoFit/>
          </a:bodyPr>
          <a:lstStyle/>
          <a:p>
            <a:pPr algn="ctr">
              <a:lnSpc>
                <a:spcPct val="115000"/>
              </a:lnSpc>
            </a:pPr>
            <a:r>
              <a:rPr sz="2000" b="0">
                <a:solidFill>
                  <a:srgbClr val="FFFFFF"/>
                </a:solidFill>
                <a:latin typeface="Yu Gothic UI"/>
              </a:rPr>
              <a:t>💾</a:t>
            </a:r>
          </a:p>
        </p:txBody>
      </p:sp>
      <p:sp>
        <p:nvSpPr>
          <p:cNvPr id="16" name="TextBox 15"/>
          <p:cNvSpPr txBox="1"/>
          <p:nvPr/>
        </p:nvSpPr>
        <p:spPr>
          <a:xfrm>
            <a:off x="5376672" y="1280160"/>
            <a:ext cx="3337560" cy="502920"/>
          </a:xfrm>
          <a:prstGeom prst="rect">
            <a:avLst/>
          </a:prstGeom>
          <a:noFill/>
        </p:spPr>
        <p:txBody>
          <a:bodyPr wrap="square" lIns="45720" tIns="18288" rIns="45720" bIns="18288" anchor="ctr">
            <a:spAutoFit/>
          </a:bodyPr>
          <a:lstStyle/>
          <a:p>
            <a:pPr algn="l">
              <a:lnSpc>
                <a:spcPct val="115000"/>
              </a:lnSpc>
            </a:pPr>
            <a:r>
              <a:rPr sz="1250" b="1">
                <a:solidFill>
                  <a:srgbClr val="FFFFFF"/>
                </a:solidFill>
                <a:latin typeface="Yu Gothic UI"/>
              </a:rPr>
              <a:t>原価データの保存場所</a:t>
            </a:r>
          </a:p>
        </p:txBody>
      </p:sp>
      <p:sp>
        <p:nvSpPr>
          <p:cNvPr id="17" name="Rounded Rectangle 16"/>
          <p:cNvSpPr/>
          <p:nvPr/>
        </p:nvSpPr>
        <p:spPr>
          <a:xfrm>
            <a:off x="4919472" y="1920240"/>
            <a:ext cx="3657600" cy="457200"/>
          </a:xfrm>
          <a:prstGeom prst="roundRect">
            <a:avLst>
              <a:gd name="adj" fmla="val 4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56632" y="1920240"/>
            <a:ext cx="3383280" cy="457200"/>
          </a:xfrm>
          <a:prstGeom prst="rect">
            <a:avLst/>
          </a:prstGeom>
          <a:noFill/>
        </p:spPr>
        <p:txBody>
          <a:bodyPr wrap="square" lIns="45720" tIns="18288" rIns="45720" bIns="18288" anchor="ctr">
            <a:spAutoFit/>
          </a:bodyPr>
          <a:lstStyle/>
          <a:p>
            <a:pPr algn="l">
              <a:lnSpc>
                <a:spcPct val="115000"/>
              </a:lnSpc>
            </a:pPr>
            <a:r>
              <a:rPr sz="1000" b="1">
                <a:solidFill>
                  <a:srgbClr val="CADCFC"/>
                </a:solidFill>
                <a:latin typeface="Yu Gothic UI"/>
              </a:rPr>
              <a:t>NASの共有DBファイル</a:t>
            </a:r>
          </a:p>
        </p:txBody>
      </p:sp>
      <p:sp>
        <p:nvSpPr>
          <p:cNvPr id="19" name="TextBox 18"/>
          <p:cNvSpPr txBox="1"/>
          <p:nvPr/>
        </p:nvSpPr>
        <p:spPr>
          <a:xfrm>
            <a:off x="4919472" y="2514600"/>
            <a:ext cx="3657600" cy="1828800"/>
          </a:xfrm>
          <a:prstGeom prst="rect">
            <a:avLst/>
          </a:prstGeom>
          <a:noFill/>
        </p:spPr>
        <p:txBody>
          <a:bodyPr wrap="square" lIns="45720" tIns="18288" rIns="45720" bIns="18288" anchor="t">
            <a:spAutoFit/>
          </a:bodyPr>
          <a:lstStyle/>
          <a:p>
            <a:pPr algn="l">
              <a:lnSpc>
                <a:spcPct val="140000"/>
              </a:lnSpc>
            </a:pPr>
            <a:r>
              <a:rPr sz="1050" b="0">
                <a:solidFill>
                  <a:srgbClr val="36454F"/>
                </a:solidFill>
                <a:latin typeface="Yu Gothic UI"/>
              </a:rPr>
              <a:t>原価データ・現場マスタ・人員マスタなどはNAS上のDBに保存されます。</a:t>
            </a:r>
          </a:p>
          <a:p>
            <a:pPr algn="l">
              <a:lnSpc>
                <a:spcPct val="140000"/>
              </a:lnSpc>
            </a:pPr>
            <a:endParaRPr sz="1050" b="0">
              <a:solidFill>
                <a:srgbClr val="36454F"/>
              </a:solidFill>
              <a:latin typeface="Yu Gothic UI"/>
            </a:endParaRPr>
          </a:p>
          <a:p>
            <a:pPr algn="l">
              <a:lnSpc>
                <a:spcPct val="140000"/>
              </a:lnSpc>
            </a:pPr>
            <a:r>
              <a:rPr sz="1050" b="0">
                <a:solidFill>
                  <a:srgbClr val="36454F"/>
                </a:solidFill>
                <a:latin typeface="Yu Gothic UI"/>
              </a:rPr>
              <a:t>全員で同じデータを共有しているため、誰かが日報を取込むと、他の人にも自動的に反映されます。</a:t>
            </a:r>
          </a:p>
        </p:txBody>
      </p:sp>
      <p:sp>
        <p:nvSpPr>
          <p:cNvPr id="20" name="TextBox 19"/>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21" name="TextBox 20"/>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52 / 53</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92608"/>
            <a:ext cx="73152" cy="502920"/>
          </a:xfrm>
          <a:prstGeom prst="rect">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046720" cy="594360"/>
          </a:xfrm>
          <a:prstGeom prst="rect">
            <a:avLst/>
          </a:prstGeom>
          <a:noFill/>
        </p:spPr>
        <p:txBody>
          <a:bodyPr wrap="square" lIns="45720" tIns="18288" rIns="45720" bIns="18288" anchor="ctr">
            <a:spAutoFit/>
          </a:bodyPr>
          <a:lstStyle/>
          <a:p>
            <a:pPr algn="l">
              <a:lnSpc>
                <a:spcPct val="115000"/>
              </a:lnSpc>
            </a:pPr>
            <a:r>
              <a:rPr sz="2000" b="1">
                <a:solidFill>
                  <a:srgbClr val="3457D5"/>
                </a:solidFill>
                <a:latin typeface="Yu Gothic UI"/>
              </a:rPr>
              <a:t>12</a:t>
            </a:r>
            <a:r>
              <a:rPr sz="2000" b="0">
                <a:solidFill>
                  <a:srgbClr val="3457D5"/>
                </a:solidFill>
                <a:latin typeface="Yu Gothic UI"/>
              </a:rPr>
              <a:t>　</a:t>
            </a:r>
            <a:r>
              <a:rPr sz="2000" b="1">
                <a:solidFill>
                  <a:srgbClr val="36454F"/>
                </a:solidFill>
                <a:latin typeface="Yu Gothic UI"/>
              </a:rPr>
              <a:t>インストールとアップデート</a:t>
            </a:r>
          </a:p>
        </p:txBody>
      </p:sp>
      <p:sp>
        <p:nvSpPr>
          <p:cNvPr id="4" name="TextBox 3"/>
          <p:cNvSpPr txBox="1"/>
          <p:nvPr/>
        </p:nvSpPr>
        <p:spPr>
          <a:xfrm>
            <a:off x="502920" y="777240"/>
            <a:ext cx="8229600" cy="256032"/>
          </a:xfrm>
          <a:prstGeom prst="rect">
            <a:avLst/>
          </a:prstGeom>
          <a:noFill/>
        </p:spPr>
        <p:txBody>
          <a:bodyPr wrap="square" lIns="45720" tIns="18288" rIns="45720" bIns="18288" anchor="t">
            <a:spAutoFit/>
          </a:bodyPr>
          <a:lstStyle/>
          <a:p>
            <a:pPr algn="l">
              <a:lnSpc>
                <a:spcPct val="115000"/>
              </a:lnSpc>
            </a:pPr>
            <a:r>
              <a:rPr sz="1100" b="0">
                <a:solidFill>
                  <a:srgbClr val="7A8899"/>
                </a:solidFill>
                <a:latin typeface="Yu Gothic UI"/>
              </a:rPr>
              <a:t>インストール・アップデート時のトラブル対応です。</a:t>
            </a:r>
          </a:p>
        </p:txBody>
      </p:sp>
      <p:cxnSp>
        <p:nvCxnSpPr>
          <p:cNvPr id="5" name="Connector 4"/>
          <p:cNvCxnSpPr/>
          <p:nvPr/>
        </p:nvCxnSpPr>
        <p:spPr>
          <a:xfrm>
            <a:off x="365760" y="1078992"/>
            <a:ext cx="8412480" cy="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280160"/>
            <a:ext cx="8321040" cy="132588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1792" y="1371600"/>
            <a:ext cx="347472" cy="347472"/>
          </a:xfrm>
          <a:prstGeom prst="roundRect">
            <a:avLst>
              <a:gd name="adj" fmla="val 5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371600"/>
            <a:ext cx="347472" cy="347472"/>
          </a:xfrm>
          <a:prstGeom prst="rect">
            <a:avLst/>
          </a:prstGeom>
          <a:noFill/>
        </p:spPr>
        <p:txBody>
          <a:bodyPr wrap="square" lIns="45720" tIns="18288" rIns="45720" bIns="18288" anchor="ctr">
            <a:spAutoFit/>
          </a:bodyPr>
          <a:lstStyle/>
          <a:p>
            <a:pPr algn="ctr">
              <a:lnSpc>
                <a:spcPct val="115000"/>
              </a:lnSpc>
            </a:pPr>
            <a:r>
              <a:rPr sz="1300" b="1">
                <a:solidFill>
                  <a:srgbClr val="FFFFFF"/>
                </a:solidFill>
                <a:latin typeface="Yu Gothic UI"/>
              </a:rPr>
              <a:t>Q</a:t>
            </a:r>
          </a:p>
        </p:txBody>
      </p:sp>
      <p:sp>
        <p:nvSpPr>
          <p:cNvPr id="9" name="TextBox 8"/>
          <p:cNvSpPr txBox="1"/>
          <p:nvPr/>
        </p:nvSpPr>
        <p:spPr>
          <a:xfrm>
            <a:off x="1051560" y="1353312"/>
            <a:ext cx="7589520" cy="384048"/>
          </a:xfrm>
          <a:prstGeom prst="rect">
            <a:avLst/>
          </a:prstGeom>
          <a:noFill/>
        </p:spPr>
        <p:txBody>
          <a:bodyPr wrap="square" lIns="45720" tIns="18288" rIns="45720" bIns="18288" anchor="ctr">
            <a:spAutoFit/>
          </a:bodyPr>
          <a:lstStyle/>
          <a:p>
            <a:pPr algn="l">
              <a:lnSpc>
                <a:spcPct val="130000"/>
              </a:lnSpc>
            </a:pPr>
            <a:r>
              <a:rPr sz="1100" b="1">
                <a:solidFill>
                  <a:srgbClr val="36454F"/>
                </a:solidFill>
                <a:latin typeface="Yu Gothic UI"/>
              </a:rPr>
              <a:t>インストール時に「Windowsによってデバイスが保護されました」と表示されました。</a:t>
            </a:r>
          </a:p>
        </p:txBody>
      </p:sp>
      <p:sp>
        <p:nvSpPr>
          <p:cNvPr id="10" name="Rounded Rectangle 9"/>
          <p:cNvSpPr/>
          <p:nvPr/>
        </p:nvSpPr>
        <p:spPr>
          <a:xfrm>
            <a:off x="621792" y="1755648"/>
            <a:ext cx="347472" cy="347472"/>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1792" y="1755648"/>
            <a:ext cx="347472" cy="347472"/>
          </a:xfrm>
          <a:prstGeom prst="rect">
            <a:avLst/>
          </a:prstGeom>
          <a:noFill/>
        </p:spPr>
        <p:txBody>
          <a:bodyPr wrap="square" lIns="45720" tIns="18288" rIns="45720" bIns="18288" anchor="ctr">
            <a:spAutoFit/>
          </a:bodyPr>
          <a:lstStyle/>
          <a:p>
            <a:pPr algn="ctr">
              <a:lnSpc>
                <a:spcPct val="115000"/>
              </a:lnSpc>
            </a:pPr>
            <a:r>
              <a:rPr sz="1300" b="1">
                <a:solidFill>
                  <a:srgbClr val="FFFFFF"/>
                </a:solidFill>
                <a:latin typeface="Yu Gothic UI"/>
              </a:rPr>
              <a:t>A</a:t>
            </a:r>
          </a:p>
        </p:txBody>
      </p:sp>
      <p:sp>
        <p:nvSpPr>
          <p:cNvPr id="12" name="TextBox 11"/>
          <p:cNvSpPr txBox="1"/>
          <p:nvPr/>
        </p:nvSpPr>
        <p:spPr>
          <a:xfrm>
            <a:off x="1051560" y="1737360"/>
            <a:ext cx="7589520" cy="822960"/>
          </a:xfrm>
          <a:prstGeom prst="rect">
            <a:avLst/>
          </a:prstGeom>
          <a:noFill/>
        </p:spPr>
        <p:txBody>
          <a:bodyPr wrap="square" lIns="45720" tIns="18288" rIns="45720" bIns="18288" anchor="t">
            <a:spAutoFit/>
          </a:bodyPr>
          <a:lstStyle/>
          <a:p>
            <a:pPr algn="l">
              <a:lnSpc>
                <a:spcPct val="135000"/>
              </a:lnSpc>
            </a:pPr>
            <a:r>
              <a:rPr sz="1000" b="0">
                <a:solidFill>
                  <a:srgbClr val="36454F"/>
                </a:solidFill>
                <a:latin typeface="Yu Gothic UI"/>
              </a:rPr>
              <a:t>Windows のセキュリティ機能によって警告が出ることがあります。「詳細情報」をクリックしてから「実行」を押すと、インストールを続行できます。社内で配布されたインストーラーであれば安全です。</a:t>
            </a:r>
          </a:p>
        </p:txBody>
      </p:sp>
      <p:sp>
        <p:nvSpPr>
          <p:cNvPr id="13" name="Rounded Rectangle 12"/>
          <p:cNvSpPr/>
          <p:nvPr/>
        </p:nvSpPr>
        <p:spPr>
          <a:xfrm>
            <a:off x="457200" y="2724912"/>
            <a:ext cx="8321040" cy="132588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21792" y="2816352"/>
            <a:ext cx="347472" cy="347472"/>
          </a:xfrm>
          <a:prstGeom prst="roundRect">
            <a:avLst>
              <a:gd name="adj" fmla="val 50000"/>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1792" y="2816352"/>
            <a:ext cx="347472" cy="347472"/>
          </a:xfrm>
          <a:prstGeom prst="rect">
            <a:avLst/>
          </a:prstGeom>
          <a:noFill/>
        </p:spPr>
        <p:txBody>
          <a:bodyPr wrap="square" lIns="45720" tIns="18288" rIns="45720" bIns="18288" anchor="ctr">
            <a:spAutoFit/>
          </a:bodyPr>
          <a:lstStyle/>
          <a:p>
            <a:pPr algn="ctr">
              <a:lnSpc>
                <a:spcPct val="115000"/>
              </a:lnSpc>
            </a:pPr>
            <a:r>
              <a:rPr sz="1300" b="1">
                <a:solidFill>
                  <a:srgbClr val="FFFFFF"/>
                </a:solidFill>
                <a:latin typeface="Yu Gothic UI"/>
              </a:rPr>
              <a:t>Q</a:t>
            </a:r>
          </a:p>
        </p:txBody>
      </p:sp>
      <p:sp>
        <p:nvSpPr>
          <p:cNvPr id="16" name="TextBox 15"/>
          <p:cNvSpPr txBox="1"/>
          <p:nvPr/>
        </p:nvSpPr>
        <p:spPr>
          <a:xfrm>
            <a:off x="1051560" y="2798064"/>
            <a:ext cx="7589520" cy="384048"/>
          </a:xfrm>
          <a:prstGeom prst="rect">
            <a:avLst/>
          </a:prstGeom>
          <a:noFill/>
        </p:spPr>
        <p:txBody>
          <a:bodyPr wrap="square" lIns="45720" tIns="18288" rIns="45720" bIns="18288" anchor="ctr">
            <a:spAutoFit/>
          </a:bodyPr>
          <a:lstStyle/>
          <a:p>
            <a:pPr algn="l">
              <a:lnSpc>
                <a:spcPct val="130000"/>
              </a:lnSpc>
            </a:pPr>
            <a:r>
              <a:rPr sz="1100" b="1">
                <a:solidFill>
                  <a:srgbClr val="36454F"/>
                </a:solidFill>
                <a:latin typeface="Yu Gothic UI"/>
              </a:rPr>
              <a:t>アップデートが失敗してソフトが起動しなくなりました。</a:t>
            </a:r>
          </a:p>
        </p:txBody>
      </p:sp>
      <p:sp>
        <p:nvSpPr>
          <p:cNvPr id="17" name="Rounded Rectangle 16"/>
          <p:cNvSpPr/>
          <p:nvPr/>
        </p:nvSpPr>
        <p:spPr>
          <a:xfrm>
            <a:off x="621792" y="3200400"/>
            <a:ext cx="347472" cy="347472"/>
          </a:xfrm>
          <a:prstGeom prst="roundRect">
            <a:avLst>
              <a:gd name="adj" fmla="val 50000"/>
            </a:avLst>
          </a:prstGeom>
          <a:solidFill>
            <a:srgbClr val="345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1792" y="3200400"/>
            <a:ext cx="347472" cy="347472"/>
          </a:xfrm>
          <a:prstGeom prst="rect">
            <a:avLst/>
          </a:prstGeom>
          <a:noFill/>
        </p:spPr>
        <p:txBody>
          <a:bodyPr wrap="square" lIns="45720" tIns="18288" rIns="45720" bIns="18288" anchor="ctr">
            <a:spAutoFit/>
          </a:bodyPr>
          <a:lstStyle/>
          <a:p>
            <a:pPr algn="ctr">
              <a:lnSpc>
                <a:spcPct val="115000"/>
              </a:lnSpc>
            </a:pPr>
            <a:r>
              <a:rPr sz="1300" b="1">
                <a:solidFill>
                  <a:srgbClr val="FFFFFF"/>
                </a:solidFill>
                <a:latin typeface="Yu Gothic UI"/>
              </a:rPr>
              <a:t>A</a:t>
            </a:r>
          </a:p>
        </p:txBody>
      </p:sp>
      <p:sp>
        <p:nvSpPr>
          <p:cNvPr id="19" name="TextBox 18"/>
          <p:cNvSpPr txBox="1"/>
          <p:nvPr/>
        </p:nvSpPr>
        <p:spPr>
          <a:xfrm>
            <a:off x="1051560" y="3182112"/>
            <a:ext cx="7589520" cy="822960"/>
          </a:xfrm>
          <a:prstGeom prst="rect">
            <a:avLst/>
          </a:prstGeom>
          <a:noFill/>
        </p:spPr>
        <p:txBody>
          <a:bodyPr wrap="square" lIns="45720" tIns="18288" rIns="45720" bIns="18288" anchor="t">
            <a:spAutoFit/>
          </a:bodyPr>
          <a:lstStyle/>
          <a:p>
            <a:pPr algn="l">
              <a:lnSpc>
                <a:spcPct val="135000"/>
              </a:lnSpc>
            </a:pPr>
            <a:r>
              <a:rPr sz="1000" b="0">
                <a:solidFill>
                  <a:srgbClr val="36454F"/>
                </a:solidFill>
                <a:latin typeface="Yu Gothic UI"/>
              </a:rPr>
              <a:t>デスクトップアイコンを右クリックして「管理者として実行」を選択し、再度起動してみてください。</a:t>
            </a:r>
          </a:p>
          <a:p>
            <a:pPr algn="l">
              <a:lnSpc>
                <a:spcPct val="135000"/>
              </a:lnSpc>
            </a:pPr>
            <a:r>
              <a:rPr sz="1000" b="0">
                <a:solidFill>
                  <a:srgbClr val="36454F"/>
                </a:solidFill>
                <a:latin typeface="Yu Gothic UI"/>
              </a:rPr>
              <a:t>それでも起動しない場合は、コントロールパネルから一度アンインストールしてから、最新版を再インストールしてください。</a:t>
            </a:r>
          </a:p>
          <a:p>
            <a:pPr algn="l">
              <a:lnSpc>
                <a:spcPct val="135000"/>
              </a:lnSpc>
            </a:pPr>
            <a:r>
              <a:rPr sz="1000" b="0">
                <a:solidFill>
                  <a:srgbClr val="36454F"/>
                </a:solidFill>
                <a:latin typeface="Yu Gothic UI"/>
              </a:rPr>
              <a:t>ユーザー設定は残るので、再インストール後もそのまま使えます。</a:t>
            </a:r>
          </a:p>
        </p:txBody>
      </p:sp>
      <p:sp>
        <p:nvSpPr>
          <p:cNvPr id="20" name="Rounded Rectangle 19"/>
          <p:cNvSpPr/>
          <p:nvPr/>
        </p:nvSpPr>
        <p:spPr>
          <a:xfrm>
            <a:off x="457200" y="4160520"/>
            <a:ext cx="8321040" cy="640080"/>
          </a:xfrm>
          <a:prstGeom prst="roundRect">
            <a:avLst>
              <a:gd name="adj" fmla="val 4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4251960"/>
            <a:ext cx="7955280" cy="457200"/>
          </a:xfrm>
          <a:prstGeom prst="rect">
            <a:avLst/>
          </a:prstGeom>
          <a:noFill/>
        </p:spPr>
        <p:txBody>
          <a:bodyPr wrap="square" lIns="45720" tIns="18288" rIns="45720" bIns="18288" anchor="ctr">
            <a:spAutoFit/>
          </a:bodyPr>
          <a:lstStyle/>
          <a:p>
            <a:pPr algn="l">
              <a:lnSpc>
                <a:spcPct val="135000"/>
              </a:lnSpc>
            </a:pPr>
            <a:r>
              <a:rPr sz="1300" b="0">
                <a:solidFill>
                  <a:srgbClr val="E88B3A"/>
                </a:solidFill>
                <a:latin typeface="Yu Gothic UI"/>
              </a:rPr>
              <a:t>💡  </a:t>
            </a:r>
            <a:r>
              <a:rPr sz="1100" b="1">
                <a:solidFill>
                  <a:srgbClr val="3457D5"/>
                </a:solidFill>
                <a:latin typeface="Yu Gothic UI"/>
              </a:rPr>
              <a:t>解決しない場合：</a:t>
            </a:r>
            <a:r>
              <a:rPr sz="1050" b="0">
                <a:solidFill>
                  <a:srgbClr val="36454F"/>
                </a:solidFill>
                <a:latin typeface="Yu Gothic UI"/>
              </a:rPr>
              <a:t>上記で解決しない場合は、エラーメッセージのスクリーンショットを添えて仲に連絡してください。</a:t>
            </a:r>
          </a:p>
        </p:txBody>
      </p:sp>
      <p:sp>
        <p:nvSpPr>
          <p:cNvPr id="22" name="TextBox 21"/>
          <p:cNvSpPr txBox="1"/>
          <p:nvPr/>
        </p:nvSpPr>
        <p:spPr>
          <a:xfrm>
            <a:off x="365760" y="4864608"/>
            <a:ext cx="3657600" cy="228600"/>
          </a:xfrm>
          <a:prstGeom prst="rect">
            <a:avLst/>
          </a:prstGeom>
          <a:noFill/>
        </p:spPr>
        <p:txBody>
          <a:bodyPr wrap="square" lIns="45720" tIns="18288" rIns="45720" bIns="18288" anchor="t">
            <a:spAutoFit/>
          </a:bodyPr>
          <a:lstStyle/>
          <a:p>
            <a:pPr algn="l">
              <a:lnSpc>
                <a:spcPct val="115000"/>
              </a:lnSpc>
            </a:pPr>
            <a:r>
              <a:rPr sz="900" b="0">
                <a:solidFill>
                  <a:srgbClr val="7A8899"/>
                </a:solidFill>
                <a:latin typeface="Yu Gothic UI"/>
              </a:rPr>
              <a:t>EA_CostManager 操作マニュアル　v1.0.1</a:t>
            </a:r>
          </a:p>
        </p:txBody>
      </p:sp>
      <p:sp>
        <p:nvSpPr>
          <p:cNvPr id="23" name="TextBox 22"/>
          <p:cNvSpPr txBox="1"/>
          <p:nvPr/>
        </p:nvSpPr>
        <p:spPr>
          <a:xfrm>
            <a:off x="7315200" y="4864608"/>
            <a:ext cx="1463040" cy="228600"/>
          </a:xfrm>
          <a:prstGeom prst="rect">
            <a:avLst/>
          </a:prstGeom>
          <a:noFill/>
        </p:spPr>
        <p:txBody>
          <a:bodyPr wrap="square" lIns="45720" tIns="18288" rIns="45720" bIns="18288" anchor="t">
            <a:spAutoFit/>
          </a:bodyPr>
          <a:lstStyle/>
          <a:p>
            <a:pPr algn="r">
              <a:lnSpc>
                <a:spcPct val="115000"/>
              </a:lnSpc>
            </a:pPr>
            <a:r>
              <a:rPr sz="900" b="0">
                <a:solidFill>
                  <a:srgbClr val="7A8899"/>
                </a:solidFill>
                <a:latin typeface="Yu Gothic UI"/>
              </a:rPr>
              <a:t>53 / 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698</TotalTime>
  <Words>3407</Words>
  <Application>Microsoft Office PowerPoint</Application>
  <PresentationFormat>画面に合わせる (16:9)</PresentationFormat>
  <Paragraphs>995</Paragraphs>
  <Slides>52</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52</vt:i4>
      </vt:variant>
    </vt:vector>
  </HeadingPairs>
  <TitlesOfParts>
    <vt:vector size="56" baseType="lpstr">
      <vt:lpstr>Yu Gothic UI</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アース・アナライザー 株式会社</cp:lastModifiedBy>
  <cp:revision>4</cp:revision>
  <dcterms:created xsi:type="dcterms:W3CDTF">2013-01-27T09:14:16Z</dcterms:created>
  <dcterms:modified xsi:type="dcterms:W3CDTF">2026-05-06T23:27:24Z</dcterms:modified>
  <cp:category/>
</cp:coreProperties>
</file>